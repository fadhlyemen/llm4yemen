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870448" y="868680"/>
            <a:ext cx="457200" cy="457200"/>
          </a:xfrm>
          <a:prstGeom prst="diamond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5400" b="1" i="0">
                <a:solidFill>
                  <a:srgbClr val="C9A84C"/>
                </a:solidFill>
                <a:latin typeface="Amiri"/>
              </a:rPr>
              <a:t>الأتمتة بدون كود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0" i="0">
                <a:solidFill>
                  <a:srgbClr val="FFFFFF"/>
                </a:solidFill>
                <a:latin typeface="Amiri"/>
              </a:rPr>
              <a:t>دليل بناء سير عمل ذكي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9A84C"/>
                </a:solidFill>
                <a:latin typeface="Cambria"/>
              </a:rPr>
              <a:t>No-Code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Cambria"/>
              </a:rPr>
              <a:t>A Guide to Building Intelligent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Cambria"/>
              </a:rPr>
              <a:t>Week 5 Lecture  ·  LLM4Yemen Program  ·  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عربي  ·  English   |   LLM4Yemen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55664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بِسْمِ اللَّهِ الرَّحْمَٰنِ الرَّحِيمِ</a:t>
            </a:r>
          </a:p>
        </p:txBody>
      </p:sp>
      <p:sp>
        <p:nvSpPr>
          <p:cNvPr id="6" name="Oval 5"/>
          <p:cNvSpPr/>
          <p:nvPr/>
        </p:nvSpPr>
        <p:spPr>
          <a:xfrm>
            <a:off x="6040983" y="2596896"/>
            <a:ext cx="109728" cy="1097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Amiri"/>
              </a:rPr>
              <a:t>﴿وَأَن لَّيْسَ لِلْإِنسَانِ إِلَّا مَا سَعَىٰ﴾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Amiri"/>
              </a:rPr>
              <a:t>— سورة النجم: ٣٩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B3A5C"/>
                </a:solidFill>
                <a:latin typeface="Cambria"/>
              </a:rPr>
              <a:t>"And that man shall have nothing but what he strives for."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— Surat An-Najm, 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أهداف المحاضرة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Lecture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By the end of this week, you will be able to:    ·    بنهاية الأسبوع، ستكون قادراً على: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1691640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91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Choose between Zapier, Make, and n8n for any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الاختيار بين Zapier و Make و n8n لأي مشروع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350008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5216" y="2532888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53288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871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automations that connect Claude or ChatGPT to real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16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بناء أتمتات تربط Claude أو ChatGPT بسير عمل حقيقي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191256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5216" y="3374136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3741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2841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Save 40–60 hours per month on repetitive freelancer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توفير ٤٠-٦٠ ساعة شهرياً من المهام المتكررة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4032504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85216" y="4215384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2153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696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Sell automations as a service to Yemeni and Gulf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98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بيع الأتمتة كخدمة لعملاء يمنيين وخليجيين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487375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85216" y="5056632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505663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0109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Maintain automations so they don't break in 3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400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C1C1C"/>
                </a:solidFill>
                <a:latin typeface="Amiri"/>
              </a:rPr>
              <a:t>صيانة الأتمتات لتبقى تعمل لأشهر دون انكسار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خارطة الطريق — أحد عشر فصلاً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Roadmap — Eleven Chapters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7220" y="12115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Why Automation Is Your Real Leverage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630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لماذا الأتمتة هي رافعتك الحقيقية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" y="21442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75688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The Big Three: Zapier, Make,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957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المنصات الثلاث الكبرى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16936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7220" y="3076956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81528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08376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Core Automation 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2841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مفاهيم الأتمتة الأساسية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9624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7220" y="4009644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14216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41064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Connecting AI to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261104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ربط الذكاء الاصطناعي بالأتمتة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82312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7220" y="4942332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46904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87375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Email &amp; Messaging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19379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أتمتة البريد والرسائل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7220" y="58750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79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80644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Content &amp; Publishing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612648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أتمتة المحتوى والنشر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1051560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87668" y="12115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121615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114300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Research &amp; Monitoring Automation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14630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أتمتة الأبحاث والمراقبة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1984248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87668" y="21442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1488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2075688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Freelance Work Automation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8" y="23957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أتمتة العمل الحرّ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7648" y="2916936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87668" y="3076956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3081528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6328" y="3008376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Claude Projects &amp; Custom GPTs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8" y="332841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Claude Projects وGPTs المخصّصة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3849624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87668" y="4009644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014216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6328" y="3941064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Pricing &amp; Selling: Automation as a 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6328" y="4261104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التسعير والبيع — أتمتة كخدمة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4782312"/>
            <a:ext cx="5486400" cy="822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87668" y="4942332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946904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96328" y="487375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Challenges, Maintenance &amp; Capstone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96328" y="519379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التحدّيات والصيانة والمشروع الختامي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لماذا الأتمتة هي رافعتك المالية الحقيقية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Why Automation Is Your Real Financial Leverage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﴿وَالْعَصْرِ ۝ إِنَّ الْإِنسَانَ لَفِي خُسْرٍ﴾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العصر: ١-٢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"By Time, indeed mankind is in loss."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Al-'Asr,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ثلاثة مستقلّين يَمنيّين — يوم واحد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Yemeni Freelancers — One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75" y="1097280"/>
            <a:ext cx="3703320" cy="48920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6275" y="1097280"/>
            <a:ext cx="370332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275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No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275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Amiri"/>
              </a:rPr>
              <a:t>بدون أتمتة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155" y="237744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6B6B6B"/>
                </a:solidFill>
                <a:latin typeface="Cambria"/>
              </a:rPr>
              <a:t>$20/hr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155" y="3108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Effective rate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3475" y="3611880"/>
            <a:ext cx="278892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4875" y="37947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Manually browses 50 jobs, writes 20 proposals by hand. 5 hours/day on outreach.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875" y="47091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يتصفّح يدوياً، يكتب ٢٠ عرضاً. ٥ ساعات يومياً على العروض.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155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6B6B"/>
                </a:solidFill>
                <a:latin typeface="Cambria"/>
              </a:rPr>
              <a:t>$20K/yr ceiling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187" y="1097280"/>
            <a:ext cx="3703320" cy="48920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Simple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أتمتة بسيطة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067" y="237744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E75B6"/>
                </a:solidFill>
                <a:latin typeface="Cambria"/>
              </a:rPr>
              <a:t>$100/hr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3108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Effective rate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1387" y="361188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72787" y="37947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Make filters jobs overnight. Claude Project drafts custom proposals. 4 polished proposals in 30 min.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47091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Make يفلتر ليلاً، Claude يكتب العروض. ٤ عروض في ٣٠ دقيقة.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$70K/yr ceiling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2099" y="1097280"/>
            <a:ext cx="3703320" cy="48920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2099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2099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Full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2099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نظام متكامل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4979" y="237744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Cambria"/>
              </a:rPr>
              <a:t>$300/hr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4979" y="3108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Effective rate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69299" y="361188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40699" y="37947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Hasn't even opened Upwork. System scouts, qualifies, messages, books meetings — while he sleeps.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0699" y="47091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لم يفتح Upwork أصلاً. النظام يصطاد ويصنّف ويراسل ويحجز.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4979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$120K+/yr ceiling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Same skill. Same country. Same hours. The only difference: who built a system.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الرياضيات الصارمة للرافعة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Hard Math of Leverage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Five common freelance tasks — manual time vs automated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Task  ·  المهمّة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508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Automated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508760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Time saved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5740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440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Write an Upwork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57400"/>
            <a:ext cx="14173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057400"/>
            <a:ext cx="13716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4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57400"/>
            <a:ext cx="2542032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5440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Sort 200 daily emails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24328"/>
            <a:ext cx="14173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40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624328"/>
            <a:ext cx="13716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24328"/>
            <a:ext cx="2542032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9125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91256"/>
            <a:ext cx="5440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Distribute one article to 7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91256"/>
            <a:ext cx="14173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90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191256"/>
            <a:ext cx="13716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8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91256"/>
            <a:ext cx="2542032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58184"/>
            <a:ext cx="5440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Write a project 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758184"/>
            <a:ext cx="14173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20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758184"/>
            <a:ext cx="13716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758184"/>
            <a:ext cx="2542032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2511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25112"/>
            <a:ext cx="5440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Follow up after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325112"/>
            <a:ext cx="14173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325112"/>
            <a:ext cx="13716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0 (auto)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325112"/>
            <a:ext cx="2542032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3892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Total monthly waste without automation: ~ 40 hours = a full work 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miri"/>
              </a:rPr>
              <a:t>أربعون ساعة شهرياً = أسبوع عمل كامل مهدور، شهرياً، إلى الأبد.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أين يَتسرّب وقت المستقلّ — خمسة أماكن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Where a Freelancer's Time Leaks — Five Places</a:t>
            </a:r>
          </a:p>
        </p:txBody>
      </p:sp>
      <p:sp>
        <p:nvSpPr>
          <p:cNvPr id="6" name="Oval 5"/>
          <p:cNvSpPr/>
          <p:nvPr/>
        </p:nvSpPr>
        <p:spPr>
          <a:xfrm>
            <a:off x="480060" y="12573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" y="12573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188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البحث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54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Two hours per project on competitors and audience.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280160"/>
            <a:ext cx="2377440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2984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276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automatable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05740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0060" y="22631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" y="22631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File 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94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تنظيم الملفات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560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Naming, foldering, uploading, downloading.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286000"/>
            <a:ext cx="2377440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3042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automatable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17320" y="306324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80060" y="32689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" y="32689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Client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استقبال العميل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566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Welcome → questionnaire → contract → deposit.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91840"/>
            <a:ext cx="2377440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310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39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automatable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17320" y="406908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0060" y="42748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" y="42748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التوزيع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Cross-posting one article to seven platforms.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297680"/>
            <a:ext cx="2377440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43159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85%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645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automatable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17320" y="5074920"/>
            <a:ext cx="1031443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80060" y="52806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" y="52806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212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Follow-ups &amp; invoicing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المتابعة والفواتير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577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Reminders, invoices, recovering past clients.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5303520"/>
            <a:ext cx="2377440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53218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650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automatable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تدقيق الأتمتة في أسبوع — ابدأ من هنا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1-Week Automation Audit — Start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2801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miri"/>
              </a:rPr>
              <a:t>اليوم الأول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88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Track every repetitive task you do — even 30-second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08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سجّل كل مهمّة متكرّرة، حتى لو ٣٠ ثانية.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828800"/>
            <a:ext cx="972007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1965960"/>
            <a:ext cx="12801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585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miri"/>
              </a:rPr>
              <a:t>اليوم الثاني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Group them by category: communication, files, invoicing, posting.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286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صنّفها: تواصل، ملفّات، فواتير، نشر.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2606040"/>
            <a:ext cx="972007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2743200"/>
            <a:ext cx="12801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Day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358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miri"/>
              </a:rPr>
              <a:t>اليوم الثالث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743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Score each by frequency × pain × difficulty.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063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صنّف كلّاً منها بالتكرار × الألم × الصعوبة.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3383280"/>
            <a:ext cx="972007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02920" y="3520440"/>
            <a:ext cx="12801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204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Day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130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miri"/>
              </a:rPr>
              <a:t>اليوم الرابع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520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Pick the top 3 candidates with highest impact.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8404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اختر أعلى ٣ مرشّحين بأكبر تأثير.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11680" y="4160520"/>
            <a:ext cx="972007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4297680"/>
            <a:ext cx="12801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Day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902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miri"/>
              </a:rPr>
              <a:t>اليوم الخامس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297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Build the first one — keep it minimal, get it working.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617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ابنِ الأولى — بسيطة، شغّالة.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11680" y="4937760"/>
            <a:ext cx="972007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02920" y="5074920"/>
            <a:ext cx="12801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749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Day 6–7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367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miri"/>
              </a:rPr>
              <a:t>اليوم ٦-٧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074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Test, fix, document. Move to the next.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394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اختبر، أصلح، وثّق. ثم انتقل.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المنصّات الثلاث الكبرى — Zapier و Make و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The Big Three Platforms — Zapier, Make, n8n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﴿يَسْأَلُونَكَ مَاذَا أُحِلَّ لَهُمْ ۖ قُلْ أُحِلَّ لَكُمُ الطَّيِّبَاتُ﴾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المائدة: 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"They ask you what is permitted for them. Say: lawful for you are the good things."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Al-Ma'idah,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ثلاث منصّات فقط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Only Three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1">
                <a:solidFill>
                  <a:srgbClr val="1B3A5C"/>
                </a:solidFill>
                <a:latin typeface="Cambria"/>
              </a:rPr>
              <a:t>The market has dozens. We focus on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السوق فيه عشرات. نحن نركّز على ثلاثة فقط.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697480"/>
            <a:ext cx="7616952" cy="1828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834640"/>
            <a:ext cx="76169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0" b="1" i="0">
                <a:solidFill>
                  <a:srgbClr val="C9A84C"/>
                </a:solidFill>
                <a:latin typeface="Cambria"/>
              </a:rP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93192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1B3A5C"/>
                </a:solidFill>
                <a:latin typeface="Cambria"/>
              </a:rPr>
              <a:t>of freelancer use cases covered by the Big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5196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تغطّي ٩٥٪ من حالات استخدام المستقلّ في ٢٠٢٦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1087" y="4983480"/>
            <a:ext cx="228600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1087" y="49834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Zapier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2847" y="4983480"/>
            <a:ext cx="228600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2847" y="49834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Make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4607" y="4983480"/>
            <a:ext cx="22860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607" y="49834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Clients know these names. Tutorials and help are abundant.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مقارنة المنصّات الثلاث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Zapier vs. Make vs. n8n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097280"/>
            <a:ext cx="3703320" cy="4983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Zapier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زابيير</a:t>
            </a:r>
          </a:p>
        </p:txBody>
      </p:sp>
      <p:sp>
        <p:nvSpPr>
          <p:cNvPr id="10" name="Oval 9"/>
          <p:cNvSpPr/>
          <p:nvPr/>
        </p:nvSpPr>
        <p:spPr>
          <a:xfrm>
            <a:off x="1821027" y="2400300"/>
            <a:ext cx="777240" cy="7772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987" y="24231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429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Easiest to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37673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2E75B6"/>
                </a:solidFill>
                <a:latin typeface="Amiri"/>
              </a:rPr>
              <a:t>الأسهل للتعلّم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4251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E75B6"/>
                </a:solidFill>
                <a:latin typeface="Cambria"/>
              </a:rPr>
              <a:t>$20–79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" y="46177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7,000+ apps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5187" y="502920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6587" y="516636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1C1C1C"/>
                </a:solidFill>
                <a:latin typeface="Cambria"/>
              </a:rPr>
              <a:t>Best when client demands a tool that's only on Zapier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587" y="56235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حين يطلب العميل تطبيقاً على Zapier فقط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4187" y="1097280"/>
            <a:ext cx="3703320" cy="4983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mbria"/>
              </a:rPr>
              <a:t>Make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ميك</a:t>
            </a:r>
          </a:p>
        </p:txBody>
      </p:sp>
      <p:sp>
        <p:nvSpPr>
          <p:cNvPr id="23" name="Oval 22"/>
          <p:cNvSpPr/>
          <p:nvPr/>
        </p:nvSpPr>
        <p:spPr>
          <a:xfrm>
            <a:off x="5707227" y="2400300"/>
            <a:ext cx="777240" cy="7772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4187" y="24231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3429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Best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7067" y="37673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التوازن المثالي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7067" y="4251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$9–29 /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7067" y="46177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1,500+ apps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01387" y="502920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72787" y="516636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1C1C1C"/>
                </a:solidFill>
                <a:latin typeface="Cambria"/>
              </a:rPr>
              <a:t>The default choice — visual canvas, powerful, affordable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2787" y="56235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الخيار الافتراضي — لوحة بصرية، قويّة، اقتصادية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0387" y="1097280"/>
            <a:ext cx="3703320" cy="4983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0387" y="109728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03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n8n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03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n8n</a:t>
            </a:r>
          </a:p>
        </p:txBody>
      </p:sp>
      <p:sp>
        <p:nvSpPr>
          <p:cNvPr id="36" name="Oval 35"/>
          <p:cNvSpPr/>
          <p:nvPr/>
        </p:nvSpPr>
        <p:spPr>
          <a:xfrm>
            <a:off x="9593427" y="2400300"/>
            <a:ext cx="777240" cy="7772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0387" y="24231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267" y="3429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Most powerful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3267" y="37673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الأقوى تقنياً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3267" y="4251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$0 self-hosted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3267" y="46177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400+ apps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587587" y="5029200"/>
            <a:ext cx="278892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58987" y="516636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1C1C1C"/>
                </a:solidFill>
                <a:latin typeface="Cambria"/>
              </a:rPr>
              <a:t>Open-source, self-hosted, technical learning curve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8987" y="56235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مفتوحة المصدر، تستضيفها بنفسك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خطط التسعير — متى تنتقل من خطّة لأخرى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Pricing Tiers — When to Step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Use the free tier for learning. Upgrade only when you have a paying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41732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Zapier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173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n8n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9659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100 tasks/mo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96596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1,000 ops/mo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Self-host: unlimited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060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60604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$20  ·  750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60604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$9  ·  10K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0604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Cloud: $20  ·  10K execs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24612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$49  ·  2K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4612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$16  ·  10K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4612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Cloud: $50  ·  unlimited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88620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$79  ·  5K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88620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$29  ·  40K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8620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Self-host: free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6636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8523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Pro tip: Make's $9 plan covers most freelance work in your first year.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5099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نصيحة: خطة Make بـ ٩ دولارات تكفي معظم العمل الحرّ في سنتك الأولى.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أيّ منصّة تختار — مصفوفة قرار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Which Platform — A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Scenario  ·  السيناريو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1887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Pick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188720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Color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64792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Just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أتعلّم لتوّي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947672"/>
            <a:ext cx="1828800" cy="3840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476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1518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Client demands a specific app on Zapier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077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العميل يطلب تطبيقاً على Zapier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706624"/>
            <a:ext cx="18288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066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Zapier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82696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7413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You want to host it yourself, no 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66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تريد استضافة ذاتية، بلا رسوم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465576"/>
            <a:ext cx="182880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4655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n8n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33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Building 10+ scenarios for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2569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تبني ١٠+ سيناريوهات للعملاء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224528"/>
            <a:ext cx="1828800" cy="38404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42245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Make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00600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Selling to enterprise / large agency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8464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تبيع لشركات كبيرة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983480"/>
            <a:ext cx="18288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9834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Zapier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509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You need full control + custom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436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تحتاج تحكّماً كاملاً + كود مخصّص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742432"/>
            <a:ext cx="182880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574243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n8n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مفاهيم الأتمتة الأساسية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Core Automation Concepts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﴿وَخَلَقْنَاكُمْ أَزْوَاجًا ۝ وَجَعَلْنَا نَوْمَكُمْ سُبَاتًا﴾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النبأ: ٨-٩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We created you in pairs, and made your sleep a means of rest."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An-Naba', 8–9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النموذج الذهني — وصفة طبخ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Mental Model — A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Every successful automation has these five ingredients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Ingredients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المكوّنات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91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2E75B6"/>
                </a:solidFill>
                <a:latin typeface="Cambria"/>
              </a:rPr>
              <a:t>=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6916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Email · row · WhatsApp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11183112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2316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الخطوات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060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C9A84C"/>
                </a:solidFill>
                <a:latin typeface="Cambria"/>
              </a:rPr>
              <a:t>=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060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Read mail → call AI → send reply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11183112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37560"/>
            <a:ext cx="9144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النتيجة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204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= Real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5204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New row · sent message · saved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11183112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251960"/>
            <a:ext cx="914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Heat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الحرارة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348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2E75B6"/>
                </a:solidFill>
                <a:latin typeface="Cambria"/>
              </a:rPr>
              <a:t>=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4348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When does the recipe start?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11183112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الأدوات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3492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C9A84C"/>
                </a:solidFill>
                <a:latin typeface="Cambria"/>
              </a:rPr>
              <a:t>= Connections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3492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Accounts and platforms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أنواع المحفّزات الأربعة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Four Trigger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Instant /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612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Amiri"/>
              </a:rPr>
              <a:t>محفّز فوري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Fires the moment an event happens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Real-time · costs zero · needs webhook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40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612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Polling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1612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miri"/>
              </a:rPr>
              <a:t>محفّز دوري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Checks every 15 min / 1 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Easiest · works anywhere · uses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80"/>
            <a:ext cx="54406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Scheduled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758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miri"/>
              </a:rPr>
              <a:t>مجدول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Runs at a set time of day or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"Every day at 7 AM" · perfect for reports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118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61188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6758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7588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miri"/>
              </a:rPr>
              <a:t>يدوي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891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You press a button to start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377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Best for big runs you don't want auto-firing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760720"/>
            <a:ext cx="11183112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79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Tip: Always start with manual or scheduled while testing. Switch to instant once stable.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الأدوات الثلاث الأساسية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Building Blocks You'll Use Every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286000" cy="1508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84C"/>
                </a:solidFill>
                <a:latin typeface="Cambria"/>
              </a:rPr>
              <a:t>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miri"/>
              </a:rPr>
              <a:t>الموديولات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32588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Each step in the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9164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E75B6"/>
                </a:solidFill>
                <a:latin typeface="Cambria"/>
              </a:rPr>
              <a:t>Read email · call AI · post to Sheet · send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4884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كلّ خطوة في السيناريو — قراءة، نداء، نشر، إرسال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11183112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2286000" cy="1508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84C"/>
                </a:solidFill>
                <a:latin typeface="Cambria"/>
              </a:rPr>
              <a:t>Mappings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miri"/>
              </a:rPr>
              <a:t>الربطات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1752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Wire output of step A → input of step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8328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E75B6"/>
                </a:solidFill>
                <a:latin typeface="Cambria"/>
              </a:rPr>
              <a:t>Subject from Gmail → "Title" field in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4048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اربط مخرجات خطوة بمدخلات الخطوة التالية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11183112" cy="1508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2286000" cy="1508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84C"/>
                </a:solidFill>
                <a:latin typeface="Cambria"/>
              </a:rPr>
              <a:t>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miri"/>
              </a:rPr>
              <a:t>المرشّحات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70916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Conditions that stop the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07492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E75B6"/>
                </a:solidFill>
                <a:latin typeface="Cambria"/>
              </a:rPr>
              <a:t>"Only continue if priority = high"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53212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شروط توقف السيناريو إن لم تتحقّق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ربط الذكاء الاصطناعي بالأتمتة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Connecting AI to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﴿وَعَلَّمَ آدَمَ الْأَسْمَاءَ كُلَّهَا﴾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البقرة: ٣١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He taught Adam the names of all things."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Al-Baqarah,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النمط الذي يفتح كلّ شيء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Pattern That Opens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Cambria"/>
              </a:rPr>
              <a:t>Automation without AI = mechanical data transfer.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Automation with AI = a smart 24/7 employee.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أتمتة بلا ذكاء = نقل ميكانيكي. أتمتة مع ذكاء = موظّف ذكي ٢٤/٧.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8087" y="2606040"/>
            <a:ext cx="3017520" cy="2011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8087" y="2606040"/>
            <a:ext cx="30175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8087" y="26791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087" y="32918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C9A84C"/>
                </a:solidFill>
                <a:latin typeface="Amiri"/>
              </a:rPr>
              <a:t>محفّز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0967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1">
                <a:solidFill>
                  <a:srgbClr val="1C1C1C"/>
                </a:solidFill>
                <a:latin typeface="Cambria"/>
              </a:rPr>
              <a:t>Event happens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759" y="3383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7087" y="2606040"/>
            <a:ext cx="3017520" cy="2011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7087" y="2606040"/>
            <a:ext cx="30175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7087" y="26791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AI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087" y="32918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1B3A5C"/>
                </a:solidFill>
                <a:latin typeface="Amiri"/>
              </a:rPr>
              <a:t>خطوة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9967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1">
                <a:solidFill>
                  <a:srgbClr val="1C1C1C"/>
                </a:solidFill>
                <a:latin typeface="Cambria"/>
              </a:rPr>
              <a:t>Understands ·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7759" y="3383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6087" y="2606040"/>
            <a:ext cx="3017520" cy="2011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6087" y="2606040"/>
            <a:ext cx="30175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087" y="26791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087" y="32918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2E75B6"/>
                </a:solidFill>
                <a:latin typeface="Amiri"/>
              </a:rPr>
              <a:t>إجراء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8967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1">
                <a:solidFill>
                  <a:srgbClr val="1C1C1C"/>
                </a:solidFill>
                <a:latin typeface="Cambria"/>
              </a:rPr>
              <a:t>Real-world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Examples:  classify · summarize · translate · extract · rewrite · 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Amiri"/>
              </a:rPr>
              <a:t>أمثلة: تصنيف، تلخيص، ترجمة، استخراج، إعادة كتابة، مقارنة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نماذج الذكاء الاصطناعي في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AI Models in 2026 — Which to Pick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75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6275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275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mbria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275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كلود  · 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75" y="23317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Best Arabic · best at following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875" y="31089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الأفضل عربياً · يتبع التعليمات بدقّة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3475" y="402336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9155" y="4206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Available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155" y="4526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Opus  ·  Sonnet  ·  Haiku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035" y="5349240"/>
            <a:ext cx="297180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035" y="534924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Recommended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2E75B6"/>
                </a:solidFill>
                <a:latin typeface="Amiri"/>
              </a:rPr>
              <a:t>تشات GPT  ·  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787" y="23317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Largest plugin library · slightly weaker on Arabic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2787" y="31089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أكبر مكتبة plugins · أداء عربي أضعف قليلاً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01387" y="402336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27067" y="4206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Available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4526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GPT-4o  ·  GPT-4 Turbo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9947" y="5349240"/>
            <a:ext cx="2971800" cy="594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9947" y="534924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Available everywhere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2099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2099" y="109728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2099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Gemini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2099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جيميناي  ·  Google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699" y="23317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Free tier generous · integrates with Google Workspace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0699" y="31089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خطة مجّانية كريمة · مدمج مع Google Workspace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9299" y="4023360"/>
            <a:ext cx="278892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94979" y="4206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Available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4979" y="4526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Gemini 1.5 Pro  ·  Flash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7859" y="5349240"/>
            <a:ext cx="297180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7859" y="534924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Best free option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بنية الـ Prompt في الأتمتة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Prompt Structure Inside Automations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Inside Make / Zapier, every AI module takes two inputs: system +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8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406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SYSTEM  ·  النظام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What's fixed across every run: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ما يبقى ثابتاً في كلّ تشغيل: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09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The role  ("You are an Arabic email assistant")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The tone  ("Formal, concise, max 3 sentences")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The constraints  ("Never invent prices")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The output format  ("Reply only in JSON")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1">
                <a:solidFill>
                  <a:srgbClr val="1B3A5C"/>
                </a:solidFill>
                <a:latin typeface="Cambria"/>
              </a:rPr>
              <a:t>Set this once. It runs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44068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813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USER  ·  المستخدم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What changes each run — mapped from the trigger: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231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ما يتغيّر في كلّ تشغيل — مربوط من المحفّز: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709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The actual email body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Today's data row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The current customer's name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Today's metric value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1">
                <a:solidFill>
                  <a:srgbClr val="1B3A5C"/>
                </a:solidFill>
                <a:latin typeface="Cambria"/>
              </a:rPr>
              <a:t>Pulled live from Trigger or earlier modules.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أتمتة البريد الإلكتروني والرسائل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Email &amp; Messaging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﴿وَإِذَا حُيِّيتُم بِتَحِيَّةٍ فَحَيُّوا بِأَحْسَنَ مِنْهَا﴾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النساء: ٨٦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"When greeted with a greeting, respond with one better."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An-Nisa, 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البريد والرسائل أوّلاً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Email &amp; Messaging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0" b="1" i="0">
                <a:solidFill>
                  <a:srgbClr val="C9A84C"/>
                </a:solidFill>
                <a:latin typeface="Cambria"/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1B3A5C"/>
                </a:solidFill>
                <a:latin typeface="Cambria"/>
              </a:rPr>
              <a:t>of a client's impression of you comes from your communication.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٧٠٪ من انطباع العميل عنك يأتي من تجربته في التواصل معك.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147" y="4160520"/>
            <a:ext cx="36118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147" y="4160520"/>
            <a:ext cx="36118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44348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Reply in &lt; 1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4937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ردّ في أقل من دقيقة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" y="53492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Even while you sleep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9907" y="4160520"/>
            <a:ext cx="36118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9907" y="4160520"/>
            <a:ext cx="36118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2787" y="44348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Consistent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787" y="4937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نبرة ثابتة مهنيّة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53492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Polished, error-free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4667" y="4160520"/>
            <a:ext cx="36118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4667" y="4160520"/>
            <a:ext cx="36118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7547" y="44348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Nothing forgotten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547" y="4937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لا متابعة تُنسى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547" y="53492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Every message tracked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A 1-minute reply makes a freelance solo feel like an enterprise. Premium prices follow.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توفير الوقت — البريد والرسائل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Time Savings — Email &amp; Messaging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Real numbers from active freelancers, monthly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Task  ·  المهمّة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4173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Saved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Sort 200 emails /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20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65960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45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965960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32888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Form-confirmation replies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32888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6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532888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0 (auto)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532888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9981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99816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Client follow-up after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99816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4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099816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099816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66744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Repeated WhatsApp replies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66744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12 hrs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666744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 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666744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3367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33672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Weekly newsletter send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33672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8 hrs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233672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233672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3892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Total potential savings: 40–50 hours /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إجمالي التوفير المحتمل: ٤٠-٥٠ ساعة شهرياً.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أتمتة المحتوى والنشر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Content &amp; Publishing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﴿اقْرَأْ بِاسْمِ رَبِّكَ الَّذِي خَلَقَ﴾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العلق: 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"Read in the name of your Lord who created."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Al-'Alaq,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مقال واحد ← عشر قطع محتوى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1 Article → 10 Pieces of Content</a:t>
            </a:r>
          </a:p>
        </p:txBody>
      </p:sp>
      <p:sp>
        <p:nvSpPr>
          <p:cNvPr id="6" name="Oval 5"/>
          <p:cNvSpPr/>
          <p:nvPr/>
        </p:nvSpPr>
        <p:spPr>
          <a:xfrm>
            <a:off x="5181447" y="2788920"/>
            <a:ext cx="1828800" cy="182880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3246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 Pillar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447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محتوى أساسي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447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(2,000-word article)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8872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Tweet 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002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ثريد تويتر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577340"/>
            <a:ext cx="2849727" cy="21259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228600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LinkedIn 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بوست LinkedIn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674620"/>
            <a:ext cx="2849727" cy="102870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38328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8328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Email newsletter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نشرة بريدية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331720" y="3703320"/>
            <a:ext cx="2849727" cy="685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2920" y="448056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Quote graphics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92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اقتباسات بصريّة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331720" y="3703320"/>
            <a:ext cx="2849727" cy="116586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557784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57784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69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Pinterest pins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89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بنترست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331720" y="3703320"/>
            <a:ext cx="2849727" cy="226314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058400" y="118872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0" y="118872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1280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TikTok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6002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سكربت تيكتوك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010247" y="1577340"/>
            <a:ext cx="3048153" cy="21259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58400" y="228600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400" y="228600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YouTube short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يوتيوب شورت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010247" y="2674620"/>
            <a:ext cx="3048153" cy="102870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058400" y="338328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8400" y="338328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3474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Podcast clip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كليب بودكاست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7010247" y="3703320"/>
            <a:ext cx="3048153" cy="6858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0058400" y="448056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0" y="448056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0" y="45720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Carousel 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892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كاروسيل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7010247" y="3703320"/>
            <a:ext cx="3048153" cy="116586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0058400" y="5577840"/>
            <a:ext cx="18288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8400" y="5577840"/>
            <a:ext cx="914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1280" y="5669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Translated post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5989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Amiri"/>
              </a:rPr>
              <a:t>ترجمة إنجليزية</a:t>
            </a:r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7010247" y="3703320"/>
            <a:ext cx="3048153" cy="2263140"/>
          </a:xfrm>
          <a:prstGeom prst="line">
            <a:avLst/>
          </a:prstGeom>
          <a:ln w="9525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One automation does this. You write once.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توفير الوقت — المحتوى والنشر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Time Savings — Content &amp;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Task  ·  المهمّة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Article → 7 social 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965960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32888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Generate post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8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8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532888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532888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9981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99816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Schedule across 5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99816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6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99816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099816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66744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Translate article to 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66744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10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66744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666744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3367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33672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Write podcast show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33672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4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233672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233672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3892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One article → ten platforms in 30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مقال واحد ← عشر منصّات في نصف ساعة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أتمتة الأبحاث والمراقبة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Research &amp; Monitoring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﴿قُلْ سِيرُوا فِي الْأَرْضِ فَانظُرُوا كَيْفَ بَدَأَ الْخَلْقَ﴾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العنكبوت: ٢٠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"Travel through the earth and observe how He began creation."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Al-'Ankabut,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ذهب خفيّ — لماذا المراقبة الآلية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Hidden Gold — Why Automated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Cambria"/>
              </a:rPr>
              <a:t>Without automation, you can track 5–10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With automation, you track 100–1,000.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بلا أتمتة: ٥-١٠ مصادر. مع أتمتة: ١٠٠-١,٠٠٠ مصدر.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999" y="3108960"/>
            <a:ext cx="269748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999" y="310896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879" y="33832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Competitor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" y="38862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مراقبة المنافسين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" y="443484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Track their posts, prices, hires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6071" y="3108960"/>
            <a:ext cx="269748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6071" y="310896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8951" y="33832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Job feed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8951" y="38862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تصفية الوظائف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8951" y="443484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Score Upwork posts by your fit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108960"/>
            <a:ext cx="269748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8143" y="3108960"/>
            <a:ext cx="26974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1023" y="33832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Research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1023" y="38862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متابعة الأبحاث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443484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Auto-alert on new papers in your 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0215" y="3108960"/>
            <a:ext cx="2697480" cy="2194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0215" y="3108960"/>
            <a:ext cx="2697480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3095" y="33832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Price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095" y="38862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6B6B6B"/>
                </a:solidFill>
                <a:latin typeface="Amiri"/>
              </a:rPr>
              <a:t>ذكاء الأسعار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3095" y="443484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Daily price changes for products you 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Sell this: "Daily report on what changed in your market" → $2,000/mo retainer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توفير الوقت — المراقبة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Time Savings —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Task  ·  المهمّة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Track 5 competitors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20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965960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32888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Filter Upwork 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8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15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532888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532888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9981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99816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Track new research papers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99816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30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99816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099816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66744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Government tender 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66744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12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66744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20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666744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98%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3367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33672"/>
            <a:ext cx="5577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Track market prices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33672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6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233672"/>
            <a:ext cx="1645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0 (auto)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233672"/>
            <a:ext cx="1874519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Cambria"/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3892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Monitoring is high-ROI: "What changed?" reports sell at premium prices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2356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تقارير «ما تغيّر؟» تُباع بأسعار مميّزة — العميل لا يستطيع عملها بدون نظام.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أتمتة العمل الحرّ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Freelance Work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﴿وَأَن لَّيْسَ لِلْإِنسَانِ إِلَّا مَا سَعَىٰ ۝ وَأَنَّ سَعْيَهُ سَوْفَ يُرَىٰ﴾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النجم: ٣٩-٤٠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"Man shall have nothing but what he strives for, and his striving will be seen."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An-Najm, 39–40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ستّة أنظمة لكلّ مستقلّ ناجح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Six Systems of Every Successful Freelancer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You're not "a writer." You're a one-person company. A company needs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703320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Lead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التقاط العملاء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Where leads come from, where they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508760"/>
            <a:ext cx="3703320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50876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1645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قاعدة بيانات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423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Client status, last contact,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508760"/>
            <a:ext cx="3703320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50876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4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645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Project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استقبال المشروع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2423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What happens when they say 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44952"/>
            <a:ext cx="3703320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044952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1363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18211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Time &amp; Invoicing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54787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الوقت والفواتير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9593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Track hours, send invoices, get paid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0832" y="3044952"/>
            <a:ext cx="3703320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3044952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31363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318211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2" y="354787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المتابعة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9593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Post-delivery, win-back old clients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8744" y="3044952"/>
            <a:ext cx="3703320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38744" y="3044952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4" y="31363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318211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Knowledge 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7424" y="354787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قاعدة المعرفة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3064" y="39593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Archive of what you learned per client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By the end of this chapter, you'll have built systems 1, 3, 4, and 5.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بنهاية هذا الفصل، ستكون قد بنيتَ الأنظمة ١ و ٣ و ٤ و ٥.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Systems 2 (CRM) and 6 (Knowledge Base) deserve their own builds.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Claude Projects و GPTs المخصّصة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Claude Projects &amp; Custom GPTs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﴿وَفَوْقَ كُلِّ ذِي عِلْمٍ عَلِيمٌ﴾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يوسف: ٧٦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"And above every possessor of knowledge is one more knowing."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Yusuf, 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Claude Project مقابل سيناريو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Claude Project vs. Make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Not every workflow needs a full automation. Some need a "middle layer."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8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Use Claude Project when…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Task is repeated, but not fully automatic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Context is fixed (same tone, same kind of files)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A human needs to touch the output before use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Cost matters (within Claude Pro, no API)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1">
                <a:solidFill>
                  <a:srgbClr val="1B3A5C"/>
                </a:solidFill>
                <a:latin typeface="Cambria"/>
              </a:rPr>
              <a:t>Examples: writing proposals, drafting emails, reviewing client briefs</a:t>
            </a:r>
          </a:p>
          <a:p>
            <a:pPr algn="l" rtl="1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C9A84C"/>
                </a:solidFill>
                <a:latin typeface="Amiri"/>
              </a:rPr>
              <a:t>أمثلة: كتابة العروض، صياغة الرسائل، مراجعة ملخّصات العملاء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4068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4406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813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Use a Make Scenario when…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It must run with no human touch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It connects 3+ apps (Sheet + Email + Slack)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Triggered by an external event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Runs daily or more frequently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1">
                <a:solidFill>
                  <a:srgbClr val="1B3A5C"/>
                </a:solidFill>
                <a:latin typeface="Cambria"/>
              </a:rPr>
              <a:t>Examples: lead intake, daily reports, content distribution</a:t>
            </a:r>
          </a:p>
          <a:p>
            <a:pPr algn="l" rtl="1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C9A84C"/>
                </a:solidFill>
                <a:latin typeface="Amiri"/>
              </a:rPr>
              <a:t>أمثلة: استقبال العملاء، التقارير اليومية، توزيع المحتوى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 هو Claude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Is a Claude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1">
                <a:solidFill>
                  <a:srgbClr val="1B3A5C"/>
                </a:solidFill>
                <a:latin typeface="Cambria"/>
              </a:rPr>
              <a:t>= A Claude conversation, but specialized.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محادثة Claude، لكن متخصّصة.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11183112" cy="1051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" y="26517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" y="2651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System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514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تعليمات النظام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803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Fixed role and rules — set once, used in every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546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دور وقواعد ثابتة — تُحدّد مرّة، تُستخدم في كل محادثة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11183112" cy="1051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" y="38404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" y="38404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قاعدة معرفة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690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Files you upload once — Claude reads them in every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434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ملفّات ترفعها مرّة — Claude يقرأها في كلّ محادثة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11183112" cy="10515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" y="50292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" y="50292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92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Conversation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2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سجلّ المحادثات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257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Open it again, continue where you left 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5321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افتحه مرّة أخرى، أكمل من حيث توقّفتَ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التسعير والبيع — أتمتة كخدمة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Pricing &amp; Selling — Automation as a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﴿وَأَوْفُوا الْكَيْلَ إِذَا كِلْتُمْ وَزِنُوا بِالْقِسْطَاسِ الْمُسْتَقِيمِ﴾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٣٥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"Give full measure when you measure, and weigh with a balanced scale."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موقعك في سوق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Your Place in the 2026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6B6B6B"/>
                </a:solidFill>
                <a:latin typeface="Cambria"/>
              </a:rPr>
              <a:t>Small businesses know ChatGPT writes for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1">
                <a:solidFill>
                  <a:srgbClr val="1B3A5C"/>
                </a:solidFill>
                <a:latin typeface="Cambria"/>
              </a:rPr>
              <a:t>They have no idea Make can run their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الفجوة بين الوعي بالذكاء الاصطناعي والوعي بالأتمتة هي فرصتك.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200400"/>
            <a:ext cx="7616952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3200400"/>
            <a:ext cx="7616952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24612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The Pitch  ·  العرض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7616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"I solve this for $2,000.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251960"/>
            <a:ext cx="7616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You get back 20 hours / month."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846320"/>
            <a:ext cx="7616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«أحلّها لك بـ ٢,٠٠٠ درهم — تستردّ ٢٠ ساعة شهرياً.»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Against this offer, you have almost no competition.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عشرة أسئلة لاكتشاف ألم العميل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Questions for Client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Use these in every 30-min discovery call. Question 10 is the key.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401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63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Walk me through your typical workday, hour by hour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18973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20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Which tasks do you hate most? Why?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3545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77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77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Where are you copy-pasting between two apps?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8117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34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834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How many emails come in daily? How many do you reply to?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2689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91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291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What does your team do repeatedly the same way?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37261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49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749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When a new client comes in, what are the steps?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605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1833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062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206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What's your current response time to a new lead?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" y="46405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663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663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How do you follow up with clients post-delivery?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749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5097780"/>
            <a:ext cx="365760" cy="3657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120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120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Which apps do you use daily?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5554980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577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577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★ "If I gave you 20 free hours / month, what would you do?"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Their answer to Q10 isn't your scope — it's your sales pitch.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ثلاثة نماذج للتسعير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Pricing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Project-based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بالمشروع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23774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75B6"/>
                </a:solidFill>
                <a:latin typeface="Cambria"/>
              </a:rPr>
              <a:t>$500–5,000 per build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187" y="320040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6587" y="3383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Predictable scope, one-time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" y="40233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نطاق واضح، رسم لمرّة واحدة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747" y="4937760"/>
            <a:ext cx="297180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747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Best for first 5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747" y="55321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2E75B6"/>
                </a:solidFill>
                <a:latin typeface="Amiri"/>
              </a:rPr>
              <a:t>الأنسب لأوّل ٥ عملاء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Retainer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دفعة شهرية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23774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$300–3,000 / month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1387" y="320040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72787" y="3383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Recurring income, long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40233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دخل متكرّر، علاقات طويلة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9947" y="4937760"/>
            <a:ext cx="297180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9947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Best after 5 happy clients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9947" y="55321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الأنسب بعد ٥ عملاء راضين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0387" y="1097280"/>
            <a:ext cx="3703320" cy="5074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0387" y="109728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03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Performance-based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03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حسب الأداء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23774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mbria"/>
              </a:rPr>
              <a:t>25–40% of saved value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87587" y="3200400"/>
            <a:ext cx="278892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358987" y="3383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Client pays from ROI, not pocket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8987" y="40233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العميل يدفع من العائد، لا من جيبه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96147" y="4937760"/>
            <a:ext cx="29718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96147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Wait until year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6147" y="55321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انتظر حتى السنة الثانية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 شرائح عملاء — استهدف من؟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Client Segments — Who to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Arabic e-commerce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متاجر إلكترونية عربية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Shopify / Salla, 50–200 orders/mo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$400–1,200 / mo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"I save you 2 days/week of order chaos"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406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43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Yemeni diaspora businesses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143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مشاريع المهجر اليمني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Restaurants / shops abroad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ambria"/>
              </a:rPr>
              <a:t>$500–2,000 / mo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0604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"You can run it remotely without losing control"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544068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490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Gulf marketing agencies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وكالات تسويق خليجية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5–20 employees, growing fast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$1,500–5,000 / mo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"I double your team's capacity without hiring"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440680" cy="2423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03320"/>
            <a:ext cx="5440680" cy="4114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7490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International NGOs in Yemen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490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منظّمات دوليّة في اليمن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97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UNDP, MSF, Oxfam,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09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6B6B"/>
                </a:solidFill>
                <a:latin typeface="Cambria"/>
              </a:rPr>
              <a:t>$3,000–15,000 per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2120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"Auto-generate donor reports in their format"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miri"/>
              </a:rPr>
              <a:t>التحدّيات والصيانة والمشروع الختامي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C9A84C"/>
                </a:solidFill>
                <a:latin typeface="Cambria"/>
              </a:rPr>
              <a:t>Challenges, Maintenance &amp; Capstone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i="0">
                <a:solidFill>
                  <a:srgbClr val="F5F0E8"/>
                </a:solidFill>
                <a:latin typeface="Amiri"/>
              </a:rPr>
              <a:t>﴿وَمَا تَوْفِيقِي إِلَّا بِاللَّهِ ۚ عَلَيْهِ تَوَكَّلْتُ وَإِلَيْهِ أُنِيبُ﴾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هود: ٨٨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Cambria"/>
              </a:rPr>
              <a:t>"My success comes only through Allah. In Him I trust, and to Him I turn."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Hud, 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تَنكسر الأتمتات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Automations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Automation is alive. Most break in 6 weeks to 6 months. Plan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Reason  ·  السبب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41732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How often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751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API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تغييرات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920240"/>
            <a:ext cx="3657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Field renamed → scenario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2377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Rebuild affected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920240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Every 3–6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883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Auth expiration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99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انتهاء المصادقة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633472"/>
            <a:ext cx="3657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OAuth tokens expire after 3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33472"/>
            <a:ext cx="2377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Refresh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633472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Every 3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46704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015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Rate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1246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حدود السعر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346704"/>
            <a:ext cx="3657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App says "too many requests"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346704"/>
            <a:ext cx="2377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Slow scenario, batch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346704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At peak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148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Bad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2569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بيانات سيّئة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059936"/>
            <a:ext cx="3657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Field 200 chars instead of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59936"/>
            <a:ext cx="2377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Add validation + error handler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059936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Random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73168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8280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Cost spike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389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ارتفاع التكلفة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773168"/>
            <a:ext cx="3657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100 emails/day → 1,000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73168"/>
            <a:ext cx="2377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Re-price client, simplify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773168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Client 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4126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Client app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8521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تغيير من العميل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5486400"/>
            <a:ext cx="3657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Client switches to new tool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486400"/>
            <a:ext cx="23774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Quick discovery + adapt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5486400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Every 6 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انضباط المراقبة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Monitoring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Build a strict routine. Don't rely on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82880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يوميّاً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91640"/>
            <a:ext cx="90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Cambria"/>
              </a:rPr>
              <a:t>Auto-alert on any scenario error → Telegram /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Weekly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أسبوعيّاً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60320"/>
            <a:ext cx="90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Cambria"/>
              </a:rPr>
              <a:t>Review run history. Spot anything slowing or failing.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182880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شهريّاً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429000"/>
            <a:ext cx="90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Cambria"/>
              </a:rPr>
              <a:t>Cost check. Ops vs. last month. Re-price if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182880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Quarterly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262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ربع سنويّاً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297680"/>
            <a:ext cx="90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Cambria"/>
              </a:rPr>
              <a:t>Test connections. Refresh OAuth. Re-document.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83480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749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Yearly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94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سنويّاً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66360"/>
            <a:ext cx="90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Cambria"/>
              </a:rPr>
              <a:t>Full audit per client. Consolidate, retire dead flows.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المشروع الختامي للأسبوع الخامس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Week 5 Capstone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725912" cy="4114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5912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WEEK 5 CAPSTONE  ·  مشروع الأسبوع الخامس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1B3A5C"/>
                </a:solidFill>
                <a:latin typeface="Cambria"/>
              </a:rPr>
              <a:t>Build a complete "Freelance Command Center":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lead-capture form → Sheet → Telegram alert in your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onboarding scenario: welcome email + intake form +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content distribution scenario: article → LinkedIn + Twitter +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invoice automation: project ends → PDF generated → emailed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9476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follow-up scenario: 30 days post-delivery → check-in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C9A84C"/>
                </a:solidFill>
                <a:latin typeface="Cambria"/>
              </a:rPr>
              <a:t>Submit a screen recording (3 min max) showing one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1772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أرسل تسجيل شاشة (٣ دقائق) يُظهر واحدة منها وهي تَعمل.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What's next: Week 6 — Building Apps &amp; Bots with No-Code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الأسبوع القادم: بناء التطبيقات والبوتات بدون كود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A chapter you read but don't try — you didn't actually learn.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عشر باقات للبدء بها — Fiverr / Upwork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Starter Gigs — Fiverr / Upwork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07442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44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43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Email auto-responder for an Arabic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1430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$50–150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158191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48640" y="15773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773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6459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Lead-intake form + CRM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$80–200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208483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" y="208026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802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48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Daily competitor watch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$200–500/mo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" y="258775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8640" y="258318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831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6517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Article → 7 social posts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$50–120 / article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309067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154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Auto-invoice + payment reminder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154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$100–250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80160" y="359359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8640" y="358902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890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6576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WhatsApp auto-reply with Claude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657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$150–400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80160" y="409651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48640" y="40919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919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1605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Upwork job filter + Claude proposal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$200–500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280160" y="459943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48640" y="459486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5948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663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Audio file → Arabic transcript +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663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$30–80 / hour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80160" y="510235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48640" y="509778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0977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166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Customer review aggregator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166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$150–350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80160" y="5605272"/>
            <a:ext cx="1045159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48640" y="560070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6007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6692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Tender / RFP monitor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669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$300–800/mo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Each one of these can be built in under 4 hours once you've done your first 5.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خلاصة الأسابيع الخمسة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Your 5-Week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0" cy="96012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3060"/>
            <a:ext cx="182880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الأسبوع الأول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26187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6459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Talk to AI clearly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82880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4884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74620"/>
            <a:ext cx="182880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الأسبوع الثاني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31343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NotebookLM &amp;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6974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Knowledge work with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00400"/>
            <a:ext cx="1828800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26180"/>
            <a:ext cx="182880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الأسبوع الثالث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36499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Voice &amp; 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7490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Arabic podcast + article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51960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1828800" cy="9601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5196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77740"/>
            <a:ext cx="182880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الأسبوع الرابع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41655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Content Creation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8006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Images, video, monetization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03520"/>
            <a:ext cx="11183112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303520"/>
            <a:ext cx="1828800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0352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Week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29300"/>
            <a:ext cx="182880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الأسبوع الخامس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46811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No-Code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8521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AI working without 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عشر خلاصات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54406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Manual work is your real ceiling.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العمل اليدوي هو سقفك الحقيقي.</a:t>
            </a:r>
          </a:p>
        </p:txBody>
      </p:sp>
      <p:sp>
        <p:nvSpPr>
          <p:cNvPr id="10" name="Oval 9"/>
          <p:cNvSpPr/>
          <p:nvPr/>
        </p:nvSpPr>
        <p:spPr>
          <a:xfrm>
            <a:off x="54406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Pick one platform. Make is the default.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اختر واحدة. Make هي الافتراضية.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Always: trigger → AI →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دائماً: محفّز ← ذكاء ← إجراء.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System prompt is fixed. User is live.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النظام ثابت، المستخدم متغيّر.</a:t>
            </a:r>
          </a:p>
        </p:txBody>
      </p:sp>
      <p:sp>
        <p:nvSpPr>
          <p:cNvPr id="22" name="Oval 21"/>
          <p:cNvSpPr/>
          <p:nvPr/>
        </p:nvSpPr>
        <p:spPr>
          <a:xfrm>
            <a:off x="54406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Email + messaging = first wins.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البريد والرسائل = أوّل المكاسب.</a:t>
            </a:r>
          </a:p>
        </p:txBody>
      </p:sp>
      <p:sp>
        <p:nvSpPr>
          <p:cNvPr id="26" name="Oval 25"/>
          <p:cNvSpPr/>
          <p:nvPr/>
        </p:nvSpPr>
        <p:spPr>
          <a:xfrm>
            <a:off x="644194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One pillar → ten leaves.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محتوى أساسي ← عشرة فروع.</a:t>
            </a:r>
          </a:p>
        </p:txBody>
      </p:sp>
      <p:sp>
        <p:nvSpPr>
          <p:cNvPr id="30" name="Oval 29"/>
          <p:cNvSpPr/>
          <p:nvPr/>
        </p:nvSpPr>
        <p:spPr>
          <a:xfrm>
            <a:off x="644194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194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Monitoring is the highest-paid niche.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المراقبة = أعلى الأسعار.</a:t>
            </a:r>
          </a:p>
        </p:txBody>
      </p:sp>
      <p:sp>
        <p:nvSpPr>
          <p:cNvPr id="34" name="Oval 33"/>
          <p:cNvSpPr/>
          <p:nvPr/>
        </p:nvSpPr>
        <p:spPr>
          <a:xfrm>
            <a:off x="644194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194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You're a company, not a person.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أنت شركة، لا شخص.</a:t>
            </a:r>
          </a:p>
        </p:txBody>
      </p:sp>
      <p:sp>
        <p:nvSpPr>
          <p:cNvPr id="38" name="Oval 37"/>
          <p:cNvSpPr/>
          <p:nvPr/>
        </p:nvSpPr>
        <p:spPr>
          <a:xfrm>
            <a:off x="644194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Project Q10 is the sales pitch.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السؤال العاشر هو العرض.</a:t>
            </a:r>
          </a:p>
        </p:txBody>
      </p:sp>
      <p:sp>
        <p:nvSpPr>
          <p:cNvPr id="42" name="Oval 41"/>
          <p:cNvSpPr/>
          <p:nvPr/>
        </p:nvSpPr>
        <p:spPr>
          <a:xfrm>
            <a:off x="644194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194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Automations break. Plan for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الأتمتات تَنكسر. خطّط لذلك.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ماذا بعد — الأسبوع السادس وما بعده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You're done with Track A. The Power-User Track.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أتممتَ المسار أ — مسار «المستخدم القوي».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23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Track B opens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231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المسار ب يفتح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2608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API programming, RAG, MCP, autonomous agents — when you outgrow no-code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118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Daily practice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11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الممارسة اليومية تَنتصر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1480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Build one automation per week. Sell it. Iterate. Repeat for 12 months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892040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006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Your client portfolio is the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8006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700" b="0" i="0">
                <a:solidFill>
                  <a:srgbClr val="C9A84C"/>
                </a:solidFill>
                <a:latin typeface="Amiri"/>
              </a:rPr>
              <a:t>محفظة العملاء هي الهدف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0352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Five happy clients = $5K-10K/month and a life that compounds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The work begins now. Allah grants reward to the one who strives.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No-Code AI Automation  ·  الأتمتة بدون كود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7200" b="1" i="0">
                <a:solidFill>
                  <a:srgbClr val="C9A84C"/>
                </a:solidFill>
                <a:latin typeface="Amiri"/>
              </a:rPr>
              <a:t>والله أعلم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mbria"/>
              </a:rPr>
              <a:t>And Allah knows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3375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C9A84C"/>
                </a:solidFill>
                <a:latin typeface="Cambria"/>
              </a:rPr>
              <a:t>Thank you  ·  شكراً لكم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LLM4Yemen Program  ·  Track A  ·  Week 5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"Man shall have nothing but what he strives for."   ·   "وأن ليس للإنسان إلا ما سعى"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