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65760"/>
            <a:ext cx="2926080" cy="2926080"/>
          </a:xfrm>
          <a:prstGeom prst="ellipse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754880"/>
            <a:ext cx="2651760" cy="2651760"/>
          </a:xfrm>
          <a:prstGeom prst="ellipse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02920"/>
            <a:ext cx="292608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29260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1B3A5C"/>
                </a:solidFill>
                <a:latin typeface="Cambria"/>
              </a:rPr>
              <a:t>WEEK 3 · TRACK A  —  الأسبوع الثالث · المسار 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11274552" cy="841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4000" b="1" i="0">
                <a:solidFill>
                  <a:srgbClr val="FFFFFF"/>
                </a:solidFill>
                <a:latin typeface="Amiri"/>
              </a:rPr>
              <a:t>أدوات الذكاء الاصطناعي لعامل المعرفة العربي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1127455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0" i="0">
                <a:solidFill>
                  <a:srgbClr val="C9A84C"/>
                </a:solidFill>
                <a:latin typeface="Cambria"/>
              </a:rPr>
              <a:t>AI Tools for the Arabic Knowledge Worker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633472"/>
            <a:ext cx="6702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2788920"/>
            <a:ext cx="1127455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0" i="0">
                <a:solidFill>
                  <a:srgbClr val="F5F0E8"/>
                </a:solidFill>
                <a:latin typeface="Amiri"/>
              </a:rPr>
              <a:t>NotebookLM  ·  Claude  ·  Perplexity  ·  PKM  ·  التقارير  ·  البودكاست  ·  العمل الحر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CCCCC"/>
                </a:solidFill>
                <a:latin typeface="Cambria"/>
              </a:rPr>
              <a:t>LLM4Yemen Program  ·  برنامج LLM4Yemen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 / 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727448" y="822960"/>
            <a:ext cx="2743200" cy="2743200"/>
          </a:xfrm>
          <a:prstGeom prst="ellipse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800" b="1" i="0">
                <a:solidFill>
                  <a:srgbClr val="C9A84C"/>
                </a:solidFill>
                <a:latin typeface="Amiri"/>
              </a:rPr>
              <a:t>بِسْمِ اللَّهِ الرَّحْمَنِ الرَّحِيمِ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0" y="868680"/>
            <a:ext cx="57881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097280"/>
            <a:ext cx="1127455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3400" b="1" i="0">
                <a:solidFill>
                  <a:srgbClr val="FFFFFF"/>
                </a:solidFill>
                <a:latin typeface="Amiri"/>
              </a:rPr>
              <a:t>﴿اقْرَأْ بِاسْمِ رَبِّكَ الَّذِي خَلَقَ﴾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0" i="0">
                <a:solidFill>
                  <a:srgbClr val="CCCCCC"/>
                </a:solidFill>
                <a:latin typeface="Amiri"/>
              </a:rPr>
              <a:t>سورة العلق، ٩٦:١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7455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1">
                <a:solidFill>
                  <a:srgbClr val="F5F0E8"/>
                </a:solidFill>
                <a:latin typeface="Cambria"/>
              </a:rPr>
              <a:t>"Read, in the name of your Lord who created."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888888"/>
                </a:solidFill>
                <a:latin typeface="Cambria"/>
              </a:rPr>
              <a:t>Al-Alaq, 96:1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3127248"/>
            <a:ext cx="57881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3310128"/>
            <a:ext cx="1127455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0" i="0">
                <a:solidFill>
                  <a:srgbClr val="F5F0E8"/>
                </a:solidFill>
                <a:latin typeface="Amiri"/>
              </a:rPr>
              <a:t>أول كلمة نزلت من السماء كانت أمراً بالقراءة — هذا الكتاب لكل يمني يريد أن يتحول
من مستهلك للمعرفة إلى صانعها وبائعها في الاقتصاد الرقمي.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96512"/>
            <a:ext cx="1127455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CCCCCC"/>
                </a:solidFill>
                <a:latin typeface="Cambria"/>
              </a:rPr>
              <a:t>The first word from heaven was a command to read — this book is for every Yemeni
who wants to transform from a consumer of knowledge into its creator and seller.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أهداف المحاضرة — ١٠ فصول متكاملة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Lecture Objectives — 10 Integrated Chapters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57200" y="12984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2070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التحول من مستخدم أدوات إلى مُنتج معرفة محترف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5179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Shift from tool user to professional knowledge producer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8653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57200" y="22128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128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214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إتقان NotebookLM على مستوى بناء قواعد معرفة كاملة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4323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Master NotebookLM to the level of building complete knowledge bases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27797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0358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استخدام Claude وPerplexity كشريكَي بحث متكاملَين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3467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Use Claude and Perplexity as two complementary research partners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36941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57200" y="40416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416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9502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بناء نظام PKM شخصي يخدمك لسنوات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2611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Build a personal knowledge management system that serves you for years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46085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57200" y="49560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9560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8646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تحويل كل وثيقة إلى ٦ منتجات قابلة للبيع على منصات متعددة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51755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Convert every document into 6 sellable products across multiple platforms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55229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57200" y="587044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87044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57790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كتابة تقارير احترافية وإنتاج بودكاست عربي وبيع الخدمات عالمياً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60899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Write professional reports, produce Arabic podcasts, and sell services globally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64373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خريطة الكتاب — ١٠ فصول في ٣ مراحل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Book Roadmap — 10 Chapters in 3 Phases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3840480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38404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المرحلة الأولى: الأساس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1B3A5C"/>
                </a:solidFill>
                <a:latin typeface="Cambria"/>
              </a:rPr>
              <a:t>Phase 1: 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48840"/>
            <a:ext cx="36576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148840"/>
            <a:ext cx="320040" cy="6583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58568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١ — عامل المعرفة في عصر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53512"/>
            <a:ext cx="36576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953512"/>
            <a:ext cx="320040" cy="6583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٢ — NotebookLM المتقدّم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58184"/>
            <a:ext cx="36576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758184"/>
            <a:ext cx="320040" cy="6583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67912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٣ — فن السؤال الذكي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1261872"/>
            <a:ext cx="384048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1261872"/>
            <a:ext cx="38404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المرحلة الثانية: التكامل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1737360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2E75B6"/>
                </a:solidFill>
                <a:latin typeface="Cambria"/>
              </a:rPr>
              <a:t>Phase 2: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8" y="2148840"/>
            <a:ext cx="36576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8" y="2148840"/>
            <a:ext cx="320040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2258568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٤ — Claude كشريك بحثي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2953512"/>
            <a:ext cx="36576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2953512"/>
            <a:ext cx="320040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3063240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٥ — Perplexity والبحث الحي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8" y="3758184"/>
            <a:ext cx="36576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07408" y="3758184"/>
            <a:ext cx="320040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3867912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٦ — نظام PKM الشخصي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02752" y="1261872"/>
            <a:ext cx="384048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1261872"/>
            <a:ext cx="38404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المرحلة الثالثة: التحويل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1737360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028090"/>
                </a:solidFill>
                <a:latin typeface="Cambria"/>
              </a:rPr>
              <a:t>Phase 3: Conversion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94192" y="2148840"/>
            <a:ext cx="36576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94192" y="2148840"/>
            <a:ext cx="32004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05672" y="2258568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٧ — إعادة توظيف المحتوى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94192" y="2953512"/>
            <a:ext cx="36576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94192" y="2953512"/>
            <a:ext cx="32004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05672" y="3063240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٨ — التقارير المهنية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94192" y="3758184"/>
            <a:ext cx="36576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94192" y="3758184"/>
            <a:ext cx="32004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05672" y="3867912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٩ — البودكاست العربي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94192" y="4562856"/>
            <a:ext cx="36576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94192" y="4562856"/>
            <a:ext cx="32004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05672" y="4672584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١٠ — المستقل المعرفي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989320"/>
            <a:ext cx="11548872" cy="4754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5989320"/>
            <a:ext cx="1154887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1B3A5C"/>
                </a:solidFill>
                <a:latin typeface="Amiri"/>
              </a:rPr>
              <a:t>كل فصل يبني على السابق — اقرأ بالترتيب  ·  Each chapter builds on the previous — read in order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miri"/>
              </a:rPr>
              <a:t>عامل المعرفة في عصر الذكاء الاصطناعي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8988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A84C"/>
                </a:solidFill>
                <a:latin typeface="Cambria"/>
              </a:rPr>
              <a:t>The Knowledge Worker in the AI 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084831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﴿اقْرَأْ بِاسْمِ رَبِّكَ الَّذِي خَلَقَ﴾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العلق، ٩٦:١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"Read, in the name of your Lord who created."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Al-Alaq, 96:1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من هو عامل المعرفة؟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Who Is the Knowledge Worker?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61872"/>
            <a:ext cx="1127455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عامل المعرفة ليس مسمى وظيفياً — بل فئة واسعة من المحترفين مُنتَجهم الأساسي هو المعلومة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01952"/>
            <a:ext cx="3749039" cy="1783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01952"/>
            <a:ext cx="3749039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901952"/>
            <a:ext cx="36027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الباحث / Researcher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04872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0" i="0">
                <a:solidFill>
                  <a:srgbClr val="1B3A5C"/>
                </a:solidFill>
                <a:latin typeface="Amiri"/>
              </a:rPr>
              <a:t>يحلّل البيانات ويستخرج المعنى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901952"/>
            <a:ext cx="3749039" cy="1783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901952"/>
            <a:ext cx="3749039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901952"/>
            <a:ext cx="36027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الكاتب / Writer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404872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0" i="0">
                <a:solidFill>
                  <a:srgbClr val="1B3A5C"/>
                </a:solidFill>
                <a:latin typeface="Amiri"/>
              </a:rPr>
              <a:t>يحوّل التقارير التقنية إلى محتوى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901952"/>
            <a:ext cx="3749039" cy="1783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901952"/>
            <a:ext cx="3749039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901952"/>
            <a:ext cx="36027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المستشار / Consultant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404872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0" i="0">
                <a:solidFill>
                  <a:srgbClr val="1B3A5C"/>
                </a:solidFill>
                <a:latin typeface="Amiri"/>
              </a:rPr>
              <a:t>يصمم استراتيجيات للشركات الناشئة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95344"/>
            <a:ext cx="3749039" cy="1783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895344"/>
            <a:ext cx="3749039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3895344"/>
            <a:ext cx="36027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المحلّل / 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398264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0" i="0">
                <a:solidFill>
                  <a:srgbClr val="1B3A5C"/>
                </a:solidFill>
                <a:latin typeface="Amiri"/>
              </a:rPr>
              <a:t>يقرأ مئات الصفحات ليُقطّر توصية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895344"/>
            <a:ext cx="3749039" cy="1783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3895344"/>
            <a:ext cx="3749039" cy="41148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895344"/>
            <a:ext cx="36027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صانع المحتوى / Content Creator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398264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0" i="0">
                <a:solidFill>
                  <a:srgbClr val="1B3A5C"/>
                </a:solidFill>
                <a:latin typeface="Amiri"/>
              </a:rPr>
              <a:t>يُنتج محتوى متعدد المنصات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3895344"/>
            <a:ext cx="3749039" cy="17830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0456" y="3895344"/>
            <a:ext cx="3749039" cy="411480"/>
          </a:xfrm>
          <a:prstGeom prst="rect">
            <a:avLst/>
          </a:prstGeom>
          <a:solidFill>
            <a:srgbClr val="6C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3895344"/>
            <a:ext cx="36027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المستقل المعرفي / Freelancer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4398264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0" i="0">
                <a:solidFill>
                  <a:srgbClr val="1B3A5C"/>
                </a:solidFill>
                <a:latin typeface="Amiri"/>
              </a:rPr>
              <a:t>يبيع خدمات المعرفة للعملاء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989320"/>
            <a:ext cx="11548872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5989320"/>
            <a:ext cx="1154887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ما يوحّدهم ليس التخصص — بل القدرة على تحويل المعلومات الخام إلى قيمة قابلة للبيع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لماذا لم يحل الذكاء الاصطناعي محل عامل المعرفة؟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Why AI Hasn't Replaced the Knowledge Worker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30352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029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1B3A5C"/>
                </a:solidFill>
                <a:latin typeface="Amiri"/>
              </a:rPr>
              <a:t>AI يُضخّم القدرات — لا يستبدلها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2E75B6"/>
                </a:solidFill>
                <a:latin typeface="Cambria"/>
              </a:rPr>
              <a:t>AI Amplifies — Doesn't Replace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67712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6771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فهم احتياج العميل الحقيقي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Understanding what the client truly needs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72384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7238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80944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السياق الثقافي والمحلي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00984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Cultural and local context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877056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7705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85616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تحديد الأولويات والحكم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05656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Setting priorities and exercising judgment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68172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817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9028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تمييز المصادر الموثوقة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10328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Distinguishing reliable sources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5486400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الإبداع والرؤية الاستراتيجية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Creativity and strategic vision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25312" y="1261872"/>
            <a:ext cx="594360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62472" y="1389888"/>
            <a:ext cx="5669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C9A84C"/>
                </a:solidFill>
                <a:latin typeface="Amiri"/>
              </a:rPr>
              <a:t>الفرق بين المستخدمَين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2472" y="1938528"/>
            <a:ext cx="5486400" cy="19933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1993392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✗ المستخدم السطحي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331720"/>
            <a:ext cx="5303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FFFFFF"/>
                </a:solidFill>
                <a:latin typeface="Amiri"/>
              </a:rPr>
              <a:t>يسأل ChatGPT: «اكتب تقريراً عن السوق العربي»
→ نص مبهم لا قيمة حقيقية له
→ العميل لا يدفع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2472" y="4096512"/>
            <a:ext cx="5486400" cy="19933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16052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✓ المحترف المعرفي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498848"/>
            <a:ext cx="5303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FFFFFF"/>
                </a:solidFill>
                <a:latin typeface="Amiri"/>
              </a:rPr>
              <a:t>يبني قاعدة NotebookLM محكمة
+ Perplexity لإحصاءات حديثة
+ Claude لكتابة تقرير محترف
→ مستند يُساوي مئات الدولارات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miri"/>
              </a:rPr>
              <a:t>NotebookLM المتقدّم — قاعدة معرفة لا تنسى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8988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A84C"/>
                </a:solidFill>
                <a:latin typeface="Cambria"/>
              </a:rPr>
              <a:t>Advanced NotebookLM — A Knowledge Base That Never Forgets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084831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﴿وَمَا أُوتِيتُم مِّنَ الْعِلْمِ إِلَّا قَلِيلًا﴾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الإسراء، ١٧:٨٥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you have been given but little knowledge."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Al-Isra, 17:85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نظام تنظيم الدفاتر الاحترافي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Professional Notebook Organization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✗ الخطأ الأكبر: تكديس جميع المصادر في دفتر واحد → NotebookLM يضيع بين السياقات المتناقضة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5715000" cy="19659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57150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920240"/>
            <a:ext cx="556869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دفاتر المشاريع النشطة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23160"/>
            <a:ext cx="5532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«تقرير تحليل سوق الخليج»
«مقترح منظمة X»
مؤقتة — تنتهي بانتهاء المشروع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64992"/>
            <a:ext cx="5532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Temporary — end with the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20240"/>
            <a:ext cx="5715000" cy="19659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7150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920240"/>
            <a:ext cx="556869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دفاتر التخصص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423160"/>
            <a:ext cx="5532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«الذكاء الاصطناعي في التعليم»
«الاقتصاد المعرفي»
دائمة — تنمو مع الوقت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364992"/>
            <a:ext cx="5532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Permanent — grow over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96512"/>
            <a:ext cx="5715000" cy="19659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096512"/>
            <a:ext cx="57150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4096512"/>
            <a:ext cx="556869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دفاتر العملاء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99432"/>
            <a:ext cx="5532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لكل عميل دفتر يحوي كل وثائق التواصل والمعرفة الخاصة به
احترافية — تُبنى الثقة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541264"/>
            <a:ext cx="5532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Professional — builds client trust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096512"/>
            <a:ext cx="5715000" cy="19659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096512"/>
            <a:ext cx="5715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096512"/>
            <a:ext cx="556869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دفتر «أفضل ما قرأت»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599432"/>
            <a:ext cx="5532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أعلى جودة من المقالات والأوراق — ترجع إليه للإلهام والاستشهاد
استراتيجي — مرجعك الشخصي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541264"/>
            <a:ext cx="5532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Strategic — your personal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أسئلة تستخرج المدفون — الأسئلة القوية الفعلية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Questions That Surface the Buried — Real Power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الأسئلة السطحية تحصد إجابات سطحية — الأسئلة العميقة تحصد تحليلات عميقة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5715000" cy="12344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5715000" cy="2926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874519"/>
            <a:ext cx="55686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100" b="1" i="0">
                <a:solidFill>
                  <a:srgbClr val="FFFFFF"/>
                </a:solidFill>
                <a:latin typeface="Amiri"/>
              </a:rPr>
              <a:t>كشف الإجماع والفرادة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21991"/>
            <a:ext cx="5532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«ما المعلومات المتكررة في أكثر من مصدر، وما المذكور في مصدر واحد فقط؟»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43199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Reveals consensus vs. unique insights across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5715000" cy="12344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57150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874519"/>
            <a:ext cx="55686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100" b="1" i="0">
                <a:solidFill>
                  <a:srgbClr val="FFFFFF"/>
                </a:solidFill>
                <a:latin typeface="Amiri"/>
              </a:rPr>
              <a:t>اكتشاف الثغرات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21991"/>
            <a:ext cx="5532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«ما الثغرات المعرفية في هذه المصادر مجتمعة؟»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43199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Identifies what's missing — fuels new research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91839"/>
            <a:ext cx="5715000" cy="12344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91839"/>
            <a:ext cx="5715000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3291839"/>
            <a:ext cx="55686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100" b="1" i="0">
                <a:solidFill>
                  <a:srgbClr val="FFFFFF"/>
                </a:solidFill>
                <a:latin typeface="Amiri"/>
              </a:rPr>
              <a:t>التحليل المقارن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639311"/>
            <a:ext cx="5532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«قارن موقف المصدر الأول مع الثاني في مسألة X»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160519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Comparative analysis — the client pays for this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291839"/>
            <a:ext cx="5715000" cy="12344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291839"/>
            <a:ext cx="571500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3291839"/>
            <a:ext cx="55686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100" b="1" i="0">
                <a:solidFill>
                  <a:srgbClr val="FFFFFF"/>
                </a:solidFill>
                <a:latin typeface="Amiri"/>
              </a:rPr>
              <a:t>التفكير النقدي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639311"/>
            <a:ext cx="5532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«ما الافتراضات الضمنية في حجة المؤلف الرئيسية؟»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160519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Critical thinking — separates amateur from expert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5715000" cy="12344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5715000" cy="292608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4709159"/>
            <a:ext cx="55686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100" b="1" i="0">
                <a:solidFill>
                  <a:srgbClr val="FFFFFF"/>
                </a:solidFill>
                <a:latin typeface="Amiri"/>
              </a:rPr>
              <a:t>التطبيق السياقي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056631"/>
            <a:ext cx="5532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«ما النتائج العملية الأهم بالنسبة لسياق يمني/عربي؟»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577839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Contextual application — highest value for local clients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709159"/>
            <a:ext cx="5715000" cy="12344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709159"/>
            <a:ext cx="5715000" cy="292608"/>
          </a:xfrm>
          <a:prstGeom prst="rect">
            <a:avLst/>
          </a:prstGeom>
          <a:solidFill>
            <a:srgbClr val="6C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4709159"/>
            <a:ext cx="55686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100" b="1" i="0">
                <a:solidFill>
                  <a:srgbClr val="FFFFFF"/>
                </a:solidFill>
                <a:latin typeface="Amiri"/>
              </a:rPr>
              <a:t>اختبار التحدي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056631"/>
            <a:ext cx="5532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«لو كان هذا التقرير أمام لجنة متشككة، ما أضعف نقاطه؟»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577839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Adversarial testing — quality control before delivery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miri"/>
              </a:rPr>
              <a:t>فن السؤال الذكي — أسئلة تفتح الأبواب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8988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A84C"/>
                </a:solidFill>
                <a:latin typeface="Cambria"/>
              </a:rPr>
              <a:t>The Art of Smart Querying — Questions That Open Doors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084831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﴿فَاسْأَلُوا أَهْلَ الذِّكْرِ إِن كُنتُمْ لَا تَعْلَمُونَ﴾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النحل، ١٦:٤٣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"Ask the people of knowledge if you do not know."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An-Nahl, 16:43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تقنية الاستفسار التدريجي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The Technique of Progressive Inquiry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المحترفون لا يطرحون السؤال النهائي مباشرة — يبدؤون عاماً ويضيّقون تدريجياً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112745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2E75B6"/>
                </a:solidFill>
                <a:latin typeface="Amiri"/>
              </a:rPr>
              <a:t>مثال: تحليل سوق التعلّم الإلكتروني في السعودية  /  Example: Saudi e-learning market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9152"/>
            <a:ext cx="11548872" cy="685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4048" y="2523744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52374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04872"/>
            <a:ext cx="7132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ما المكوّنات الرئيسية لسوق التعلّم الإلكتروني في السعودية؟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7132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What are the main components of the Saudi e-learning market?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468880"/>
            <a:ext cx="3474720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34747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miri"/>
              </a:rPr>
              <a:t>الرسم الكامل للسوق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63824"/>
            <a:ext cx="11548872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" y="3328416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3284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09544"/>
            <a:ext cx="7132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من أبرز اللاعبين في كل مكوّن؟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47872"/>
            <a:ext cx="7132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Who are the biggest players in each component?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273552"/>
            <a:ext cx="347472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273552"/>
            <a:ext cx="34747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miri"/>
              </a:rPr>
              <a:t>تحديد المشهد التنافسي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68496"/>
            <a:ext cx="11548872" cy="685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" y="4133088"/>
            <a:ext cx="347472" cy="3474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13308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014216"/>
            <a:ext cx="7132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ما الإحصاءات المتاحة عن نمو السوق خلال ٣ سنوات؟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352544"/>
            <a:ext cx="7132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What growth statistics are available from the past 3 years?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078224"/>
            <a:ext cx="347472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078224"/>
            <a:ext cx="34747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miri"/>
              </a:rPr>
              <a:t>الأدلة الكمّية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773168"/>
            <a:ext cx="11548872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84048" y="4937760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9377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818888"/>
            <a:ext cx="7132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ما عوامل النمو وعوامل التعثّر؟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157216"/>
            <a:ext cx="7132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What drives growth and what restrains it?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882896"/>
            <a:ext cx="347472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882896"/>
            <a:ext cx="34747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miri"/>
              </a:rPr>
              <a:t>فهم الديناميكيات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577840"/>
            <a:ext cx="11548872" cy="685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84048" y="5742432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7424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623560"/>
            <a:ext cx="7132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بناءً على ما سبق، ما توقّعات السنوات الخمس القادمة؟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961888"/>
            <a:ext cx="7132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Based on the above, what is the 5-year forecast?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5687568"/>
            <a:ext cx="3474720" cy="4754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5687568"/>
            <a:ext cx="34747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miri"/>
              </a:rPr>
              <a:t>الاستنتاج النهائي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الأسئلة التحليلية مقابل الوصفية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Analytical vs. Descriptive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العملاء يدفعون ثمن التحليل لا الوصف — درّب نفسك على الانتقال من الوصف إلى التحليل دائماً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5577840" cy="425196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557784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74519"/>
            <a:ext cx="55778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✗ أسئلة وصفية / Descriptive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52120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0" i="0">
                <a:solidFill>
                  <a:srgbClr val="1C1C1C"/>
                </a:solidFill>
                <a:latin typeface="Amiri"/>
              </a:rPr>
              <a:t>«ماذا يقول المؤلف؟»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27832"/>
            <a:ext cx="52120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0" i="0">
                <a:solidFill>
                  <a:srgbClr val="1C1C1C"/>
                </a:solidFill>
                <a:latin typeface="Amiri"/>
              </a:rPr>
              <a:t>«ما موضوع التقرير؟»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32504"/>
            <a:ext cx="52120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0" i="0">
                <a:solidFill>
                  <a:srgbClr val="1C1C1C"/>
                </a:solidFill>
                <a:latin typeface="Amiri"/>
              </a:rPr>
              <a:t>«اذكر النقاط الرئيسية»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37176"/>
            <a:ext cx="52120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0" i="0">
                <a:solidFill>
                  <a:srgbClr val="1C1C1C"/>
                </a:solidFill>
                <a:latin typeface="Amiri"/>
              </a:rPr>
              <a:t>«لخّص هذا الفصل»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874519"/>
            <a:ext cx="5577840" cy="4251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874519"/>
            <a:ext cx="55778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874519"/>
            <a:ext cx="55778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✓ أسئلة تحليلية / Analytical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423160"/>
            <a:ext cx="52120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«كيف يتعلق هذا بالنظرية X؟ ما نقاط الضعف؟»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227832"/>
            <a:ext cx="52120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«ما الافتراضات الضمنية في هذه الحجة؟»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32504"/>
            <a:ext cx="52120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«أين يتعارض هذا المصدر مع المصدر الثاني؟»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837176"/>
            <a:ext cx="52120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«ما الدروس القابلة للتطبيق على السياق اليمني؟»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miri"/>
              </a:rPr>
              <a:t>Claude كشريك بحثي — ما وراء الأسئلة البسيطة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8988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A84C"/>
                </a:solidFill>
                <a:latin typeface="Cambria"/>
              </a:rPr>
              <a:t>Claude as a Research Partner — Beyond Simple Questions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084831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﴿وَشَاوِرْهُمْ فِي الْأَمْرِ﴾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آل عمران، ٣:١٥٩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consult them in the matter."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Aal-Imran, 3:159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Claude مقابل NotebookLM + المحادثة متعددة الأدوار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Claude vs NotebookLM + Building Multi-Turn Research Conversations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303520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30352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53035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NotebookLM  ·  متخصّص في المصادر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10512"/>
            <a:ext cx="5029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← يجيب فقط من مصادرك المرفوعة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5029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← مثالي للتحليل داخل مصادر محددة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07792"/>
            <a:ext cx="5029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← لكل إجابة رقم مصدر دقيق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192" y="1261872"/>
            <a:ext cx="5303520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08192" y="1261872"/>
            <a:ext cx="53035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261872"/>
            <a:ext cx="53035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Claude  ·  نموذج عام متعدد الأغراض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810512"/>
            <a:ext cx="5029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← تحليل عميق للحجج والأفكار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59152"/>
            <a:ext cx="5029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← كتابة، إعادة صياغة، توليد أفكار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907792"/>
            <a:ext cx="5029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← يحتفظ بكل السياق طوال المحادثة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547872"/>
            <a:ext cx="11548872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547872"/>
            <a:ext cx="1154887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1B3A5C"/>
                </a:solidFill>
                <a:latin typeface="Amiri"/>
              </a:rPr>
              <a:t>القاعدة العملية: NotebookLM للبحث في المصادر ← Claude للتحليل والكتابة بناءً عليها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69080"/>
            <a:ext cx="11548872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069080"/>
            <a:ext cx="1154887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بناء محادثة بحثية متعددة الأدوار  /  Building Multi-Turn Research Conversations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90288"/>
            <a:ext cx="11274552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ابدأ بتأطير الموضوع والهدف والجمهور:
«أنا أُعدّ تقريراً لمنظمة تنمية تعمل في اليمن. الجمهور: جهات مانحة أوروبية تهتم بالأرقام والأثر.
سأطرح أسئلة تدريجية لبناء محتوى التقرير. ابدأ بسؤالي عن المعلومات التأسيسية التي تحتاجها.»
هذا التأطير يُحوّل Claude من مجيب إلى شريك تخطيط.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تقنية «اطلب التحقق» — الحماية من الهلوسة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The 'Ask for Verification' Technique — Protection from Hallucinations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⚠  نماذج اللغة قد تُخطئ (هلوسة) — المحترف يستخدم الأداة لكنه لا يستسلم لها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01952"/>
            <a:ext cx="11548872" cy="239572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29968"/>
            <a:ext cx="1127455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500" b="1" i="0">
                <a:solidFill>
                  <a:srgbClr val="1B3A5C"/>
                </a:solidFill>
                <a:latin typeface="Amiri"/>
              </a:rPr>
              <a:t>الصيغة القياسية للتحقق — Add to every important question: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11274552" cy="15727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11000232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FFFFFF"/>
                </a:solidFill>
                <a:latin typeface="Amiri"/>
              </a:rPr>
              <a:t>«في نهاية إجابتك، صنّف كل نقطة رئيسية ضمن: (أ) أنت واثق منها، (ب) قد تكون غير دقيقة، (ج) يجب التحقق منها من مصادر خارجية»
"At the end of your answer, classify each main point as: (a) confident, (b) possibly inaccurate, (c) must verify externally."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462272"/>
            <a:ext cx="3749039" cy="171907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462272"/>
            <a:ext cx="3749039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4462272"/>
            <a:ext cx="3602735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طبقة الأمان الأولى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937760"/>
            <a:ext cx="3566159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Claude يُصنّف ثقته بنفسه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468112"/>
            <a:ext cx="3566159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888888"/>
                </a:solidFill>
                <a:latin typeface="Cambria"/>
              </a:rPr>
              <a:t>Self-classification by Claude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4462272"/>
            <a:ext cx="3749039" cy="171907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0248" y="4462272"/>
            <a:ext cx="3749039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462272"/>
            <a:ext cx="3602735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طبقة الأمان الثانية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4937760"/>
            <a:ext cx="3566159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تحقق من النقاط (ج) في Perplexity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5468112"/>
            <a:ext cx="3566159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888888"/>
                </a:solidFill>
                <a:latin typeface="Cambria"/>
              </a:rPr>
              <a:t>Verify (c) items in Perplexity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4462272"/>
            <a:ext cx="3749039" cy="171907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4462272"/>
            <a:ext cx="3749039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4462272"/>
            <a:ext cx="3602735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طبقة الأمان الثالثة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4937760"/>
            <a:ext cx="3566159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راجع الإحصاءات في المصادر الأصلية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5468112"/>
            <a:ext cx="3566159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888888"/>
                </a:solidFill>
                <a:latin typeface="Cambria"/>
              </a:rPr>
              <a:t>Check statistics in primary 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miri"/>
              </a:rPr>
              <a:t>Perplexity والبحث العميق على الويب الحي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8988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A84C"/>
                </a:solidFill>
                <a:latin typeface="Cambria"/>
              </a:rPr>
              <a:t>Perplexity and Deep Research on the Live Web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084831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﴿وَقُل رَّبِّ زِدْنِي عِلْمًا﴾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طه، ٢٠:١١٤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say: My Lord, increase me in knowledge."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Taha, 20:114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ما هو Perplexity وكيف يختلف؟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What Is Perplexity and How Does It Differ?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3749039" cy="4754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3749039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700" b="1" i="0">
                <a:solidFill>
                  <a:srgbClr val="FFFFFF"/>
                </a:solidFill>
                <a:latin typeface="Amiri"/>
              </a:rPr>
              <a:t>Google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3749039" cy="3977639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74519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· قائمة روابط لتقرأها أنت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15767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· لا يُجيب — يُوجّه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57015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· بحث تقليدي سريع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398263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· أنت تُلخّص وتُحلّل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760720"/>
            <a:ext cx="3749039" cy="38404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5760720"/>
            <a:ext cx="3749039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You read, you summarize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261872"/>
            <a:ext cx="3749039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261872"/>
            <a:ext cx="3749039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700" b="1" i="0">
                <a:solidFill>
                  <a:srgbClr val="FFFFFF"/>
                </a:solidFill>
                <a:latin typeface="Amiri"/>
              </a:rPr>
              <a:t>Perplexity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737360"/>
            <a:ext cx="3749039" cy="3977639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874519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27AE60"/>
                </a:solidFill>
                <a:latin typeface="Amiri"/>
              </a:rPr>
              <a:t>✓ يقرأ الروابط نيابةً عنك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715767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27AE60"/>
                </a:solidFill>
                <a:latin typeface="Amiri"/>
              </a:rPr>
              <a:t>✓ يُلخّص ويُجيب مع توثيق المصادر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557015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27AE60"/>
                </a:solidFill>
                <a:latin typeface="Amiri"/>
              </a:rPr>
              <a:t>✓ بحث حي + نموذج لغوي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4398263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27AE60"/>
                </a:solidFill>
                <a:latin typeface="Amiri"/>
              </a:rPr>
              <a:t>✓ شريك بحثي يُنجز في ثوانٍ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5760720"/>
            <a:ext cx="3749039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5760720"/>
            <a:ext cx="3749039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Reads and answers with citations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261872"/>
            <a:ext cx="3749039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261872"/>
            <a:ext cx="3749039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700" b="1" i="0">
                <a:solidFill>
                  <a:srgbClr val="FFFFFF"/>
                </a:solidFill>
                <a:latin typeface="Amiri"/>
              </a:rPr>
              <a:t>Claude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1737360"/>
            <a:ext cx="3749039" cy="3977639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1874519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→ لا يصل للإنترنت افتراضياً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715767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→ معرفة واسعة حتى تاريخ التدريب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557015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→ تحليل وكتابة عميقة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4398263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→ ذاكرة سياق طويلة جداً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0456" y="5760720"/>
            <a:ext cx="3749039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0456" y="5760720"/>
            <a:ext cx="3749039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Analysis and writing partner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Spaces و البحث الموثّق — الاستخدام الاحترافي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Spaces &amp; Citation-First Research — Professional Use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6072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1B3A5C"/>
                </a:solidFill>
                <a:latin typeface="Amiri"/>
              </a:rPr>
              <a:t>البحث الموثّق أولاً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E75B6"/>
                </a:solidFill>
                <a:latin typeface="Cambria"/>
              </a:rPr>
              <a:t>Citation-First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1"/>
            <a:ext cx="5486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كل جملة في إجابة Perplexity مُرفقة باستشهاد يُشير إلى المصدر الأصلي —
هذا جوهري للتقارير المهنية. لكن تحذير: تحقّق من المصادر بنفسك.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108960"/>
            <a:ext cx="347472" cy="3474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miri"/>
              </a:rPr>
              <a:t>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992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اطرح سؤالك في Perplexity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10128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Get answer with numbered citations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94760"/>
            <a:ext cx="347472" cy="3474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947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miri"/>
              </a:rPr>
              <a:t>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850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راجع كل مصدر [1] [2]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995928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Click each citation — verify credibility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480560"/>
            <a:ext cx="347472" cy="3474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miri"/>
              </a:rPr>
              <a:t>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3708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احفظ المصادر القوية في NotebookLM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681728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Save strong sources to your notebook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5166360"/>
            <a:ext cx="347472" cy="3474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663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miri"/>
              </a:rPr>
              <a:t>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056632"/>
            <a:ext cx="4754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استخدم Claude لتحليل وكتابة التقرير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67528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Use Claude to analyze and write the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1261872"/>
            <a:ext cx="548640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389888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C9A84C"/>
                </a:solidFill>
                <a:latin typeface="Amiri"/>
              </a:rPr>
              <a:t>Perplexity Spaces — للمشاريع الطويلة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719072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For Long-Term Research Projects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2258568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25856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148840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مساحة بحثية مخصصة لموضوع واحد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532888"/>
            <a:ext cx="4754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Dedicated research space for one topic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324612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2461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136392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تعليمات مخصصة دائمة: «ركّز على المصادر العربية»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520440"/>
            <a:ext cx="4754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Persistent custom instructions per space</a:t>
            </a:r>
          </a:p>
        </p:txBody>
      </p:sp>
      <p:sp>
        <p:nvSpPr>
          <p:cNvPr id="37" name="Oval 36"/>
          <p:cNvSpPr/>
          <p:nvPr/>
        </p:nvSpPr>
        <p:spPr>
          <a:xfrm>
            <a:off x="6492240" y="4233672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23367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123944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احفظ كل عمليات البحث المرتبطة داخلها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507992"/>
            <a:ext cx="4754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Save all related searches inside the space</a:t>
            </a:r>
          </a:p>
        </p:txBody>
      </p:sp>
      <p:sp>
        <p:nvSpPr>
          <p:cNvPr id="41" name="Oval 40"/>
          <p:cNvSpPr/>
          <p:nvPr/>
        </p:nvSpPr>
        <p:spPr>
          <a:xfrm>
            <a:off x="6492240" y="5221224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22122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111496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مثالية للمشاريع طويلة المدى والعملاء المتكررين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95544"/>
            <a:ext cx="4754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Ideal for long-term projects and repeat clients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miri"/>
              </a:rPr>
              <a:t>إدارة المعرفة الشخصية — دماغك الرقمي الثاني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8988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A84C"/>
                </a:solidFill>
                <a:latin typeface="Cambria"/>
              </a:rPr>
              <a:t>Personal Knowledge Management — Your Second Digital Brain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084831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﴿الَّذِينَ يَسْتَمِعُونَ الْقَوْلَ فَيَتَّبِعُونَ أَحْسَنَهُ﴾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الزمر، ٣٩:١٨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"Those who listen to speech and follow the best of it."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Az-Zumar, 39:18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نظام PKM الرباعي — الدماغ الرقمي الثاني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The 4-Pillar PKM System — Your Second Digital Brain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61872"/>
            <a:ext cx="1127455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PKM (Personal Knowledge Management) — الفرق بين المستقل الذي يبدأ كل اجتماع من الصفر والذي يُدهش عميله بعمق معرفته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901952"/>
            <a:ext cx="2834640" cy="45262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901952"/>
            <a:ext cx="2834640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190195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1901952"/>
            <a:ext cx="475488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2487168"/>
            <a:ext cx="268833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600" b="1" i="0">
                <a:solidFill>
                  <a:srgbClr val="1B3A5C"/>
                </a:solidFill>
                <a:latin typeface="Amiri"/>
              </a:rPr>
              <a:t>الالتقاط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2880360"/>
            <a:ext cx="2688336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احفظ المعلومة فور مواجهتها — مقال، فيديو، فكرة عابرة، نص مثير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913632"/>
            <a:ext cx="268833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Save information the moment you encounter it — article, video, fleeting idea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892040"/>
            <a:ext cx="265176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892040"/>
            <a:ext cx="26517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050" b="1" i="0">
                <a:solidFill>
                  <a:srgbClr val="FFFFFF"/>
                </a:solidFill>
                <a:latin typeface="Amiri"/>
              </a:rPr>
              <a:t>ابدأ فوراً — لا يستغرق ثوانٍ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82112" y="1901952"/>
            <a:ext cx="2834640" cy="45262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82112" y="1901952"/>
            <a:ext cx="2834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52544" y="190195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1901952"/>
            <a:ext cx="475488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E75B6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55264" y="2487168"/>
            <a:ext cx="268833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600" b="1" i="0">
                <a:solidFill>
                  <a:srgbClr val="1B3A5C"/>
                </a:solidFill>
                <a:latin typeface="Amiri"/>
              </a:rPr>
              <a:t>التنظيم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5264" y="2880360"/>
            <a:ext cx="2688336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ضعها في مكانها الصحيح — بالموضوع أو المشروع — نظام الدفاتر الأربعة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5264" y="3913632"/>
            <a:ext cx="268833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Place it correctly by topic or project — use the 4-notebook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3552" y="4892040"/>
            <a:ext cx="26517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4892040"/>
            <a:ext cx="26517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050" b="1" i="0">
                <a:solidFill>
                  <a:srgbClr val="FFFFFF"/>
                </a:solidFill>
                <a:latin typeface="Amiri"/>
              </a:rPr>
              <a:t>الفوضى تُحوّل الالتقاط إلى عبء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1344" y="1901952"/>
            <a:ext cx="2834640" cy="45262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1901952"/>
            <a:ext cx="283464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51776" y="190195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51776" y="1901952"/>
            <a:ext cx="475488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028090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2487168"/>
            <a:ext cx="268833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600" b="1" i="0">
                <a:solidFill>
                  <a:srgbClr val="1B3A5C"/>
                </a:solidFill>
                <a:latin typeface="Amiri"/>
              </a:rPr>
              <a:t>الاسترجاع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2880360"/>
            <a:ext cx="2688336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تجدها في ثوانٍ عند الحاجة — بحث نصي + تسميات دفاتر واضحة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3913632"/>
            <a:ext cx="268833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Find it in seconds when needed — text search + clear notebook names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2784" y="4892040"/>
            <a:ext cx="265176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4892040"/>
            <a:ext cx="26517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050" b="1" i="0">
                <a:solidFill>
                  <a:srgbClr val="FFFFFF"/>
                </a:solidFill>
                <a:latin typeface="Amiri"/>
              </a:rPr>
              <a:t>المعرفة غير القابلة للإيجاد = غير موجودة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0576" y="1901952"/>
            <a:ext cx="2834640" cy="45262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0576" y="1901952"/>
            <a:ext cx="283464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51008" y="190195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51008" y="1901952"/>
            <a:ext cx="475488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7AE60"/>
                </a:solidFill>
                <a:latin typeface="Cambr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2487168"/>
            <a:ext cx="268833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600" b="1" i="0">
                <a:solidFill>
                  <a:srgbClr val="1B3A5C"/>
                </a:solidFill>
                <a:latin typeface="Amiri"/>
              </a:rPr>
              <a:t>الاستخدام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2880360"/>
            <a:ext cx="2688336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حوّل المُختزن إلى منتجات: تقارير، مقالات، خدمات، عروض للعملاء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3913632"/>
            <a:ext cx="268833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Turn stored knowledge into products: reports, articles, services, pitches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72016" y="4892040"/>
            <a:ext cx="265176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72016" y="4892040"/>
            <a:ext cx="26517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050" b="1" i="0">
                <a:solidFill>
                  <a:srgbClr val="FFFFFF"/>
                </a:solidFill>
                <a:latin typeface="Amiri"/>
              </a:rPr>
              <a:t>معظم الناس يلتقطون ولا يستخدمون — الفجوة هنا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تصميم نظام NotebookLM الشخصي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Designing Your Personal NotebookLM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1B3A5C"/>
                </a:solidFill>
                <a:latin typeface="Amiri"/>
              </a:rPr>
              <a:t>نظام عملي مُختبَر: أربعة أنواع من الدفاتر تُغطي كل احتياجاتك المهنية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47088"/>
            <a:ext cx="11548872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47088"/>
            <a:ext cx="5303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47088"/>
            <a:ext cx="530352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mbria"/>
              </a:rPr>
              <a:t>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01952"/>
            <a:ext cx="10515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دفاتر المشاريع النشطة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10515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«تقرير تحليل سوق الخليج» · «مقترح منظمة X» · «بحث مؤتمر اليمن»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96896"/>
            <a:ext cx="10515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Temporary — created with project, deleted at completion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90088"/>
            <a:ext cx="1154887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990088"/>
            <a:ext cx="53035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990088"/>
            <a:ext cx="530352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mbria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044952"/>
            <a:ext cx="10515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دفاتر التخصص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29000"/>
            <a:ext cx="10515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«الذكاء الاصطناعي في التعليم» · «الاقتصاد المعرفي» · «ريادة الأعمال العربية»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39896"/>
            <a:ext cx="10515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Permanent — grow over time as you add quality sources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33088"/>
            <a:ext cx="11548872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133088"/>
            <a:ext cx="5303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133088"/>
            <a:ext cx="530352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mbria"/>
              </a:rPr>
              <a:t>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187952"/>
            <a:ext cx="10515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دفاتر العملاء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572000"/>
            <a:ext cx="10515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لكل عميل متكرر دفتر مخصص: كل التواصل والمعرفة والسياق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882896"/>
            <a:ext cx="10515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Client-specific — context always ready when you start a new project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276088"/>
            <a:ext cx="1154887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276088"/>
            <a:ext cx="530352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276088"/>
            <a:ext cx="530352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mbria"/>
              </a:rPr>
              <a:t>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330952"/>
            <a:ext cx="10515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دفتر «أفضل ما قرأت»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715000"/>
            <a:ext cx="10515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أعلى جودة من المقالات والأوراق والمقاطع الملهِمة — ترجع إليه للاستشهاد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6025896"/>
            <a:ext cx="10515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High-quality permanent reference — your personal anthology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miri"/>
              </a:rPr>
              <a:t>إعادة توظيف المحتوى — من وثيقة واحدة إلى منتجات لا محدودة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8988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A84C"/>
                </a:solidFill>
                <a:latin typeface="Cambria"/>
              </a:rPr>
              <a:t>Content Repurposing — From One Document to Unlimited Products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084831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﴿وَأَعِدُّوا لَهُم مَّا اسْتَطَعْتُم مِّن قُوَّةٍ﴾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الأنفال، ٨:٦٠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prepare against them whatever you are able of power."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Al-Anfal, 8:60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من وثيقة واحدة إلى ٦ منتجات — الحد الأقصى من الجهد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From One Document to 6 Products — Maximum Return on Effort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مثال: تقرير ١٥ صفحة عن «الاقتصاد الحر في اليمن»  /  Example: 15-page freelance economy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901952"/>
            <a:ext cx="3767328" cy="20116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901952"/>
            <a:ext cx="376732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901952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01952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الملخص التنفيذي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04872"/>
            <a:ext cx="3584448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صفحة واحدة بأهم النتائج — تيزر لاستقطاب العملاء الجدد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255264"/>
            <a:ext cx="358444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One-page key findings — teaser for pitching to new clients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19" y="1901952"/>
            <a:ext cx="3767328" cy="20116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19" y="1901952"/>
            <a:ext cx="3767328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1901952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1" y="1901952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منشور LinkedIn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404872"/>
            <a:ext cx="3584448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٤٠٠ كلمة بأبرز ٣ إحصاءات — ينتهي بدعوة للنقاش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3255264"/>
            <a:ext cx="358444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400 words with top 3 stats — ends with discussion 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1901952"/>
            <a:ext cx="3767328" cy="20116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8" y="1901952"/>
            <a:ext cx="3767328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8" y="1901952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0" y="1901952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خيط X (تويتر)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8" y="2404872"/>
            <a:ext cx="3584448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٧-١٠ تغريدات تسحب النقاط الرئيسية بأسلوب ترقيمي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8" y="3255264"/>
            <a:ext cx="358444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7-10 tweets pulling main points with numbered style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4114800"/>
            <a:ext cx="3767328" cy="20116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4114800"/>
            <a:ext cx="3767328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4114800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114800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نشرة بريدية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617720"/>
            <a:ext cx="3584448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٨٠٠ كلمة بتأطير أعمق للمشتركين الدائمين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468112"/>
            <a:ext cx="358444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800 words with deeper framing for regular subscribers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19" y="4114800"/>
            <a:ext cx="3767328" cy="20116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60519" y="4114800"/>
            <a:ext cx="3767328" cy="41148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39" y="4114800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0871" y="4114800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سكريبت فيديو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59" y="4617720"/>
            <a:ext cx="3584448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٩٠ ثانية حول أبرز رقم في التقرير — للنشر على Reels/Shorts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59" y="5468112"/>
            <a:ext cx="358444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90 seconds around the most striking statistic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58" y="4114800"/>
            <a:ext cx="3767328" cy="201168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58" y="4114800"/>
            <a:ext cx="3767328" cy="411480"/>
          </a:xfrm>
          <a:prstGeom prst="rect">
            <a:avLst/>
          </a:prstGeom>
          <a:solidFill>
            <a:srgbClr val="6C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8" y="4114800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8510" y="4114800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حلقة بودكاست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8" y="4617720"/>
            <a:ext cx="3584448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١٥ دقيقة بصوتك تشرح جوهر البحث — تبني جمهوراً مخلصاً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8" y="5468112"/>
            <a:ext cx="358444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15 minutes in your voice explaining the research substance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استخدام Claude لإعادة التوظيف — أوامر احترافية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Using Claude for Repurposing — Professional Prompts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كل منصة لها قواعد — وجّه Claude بدقة نحو اصطلاحات المنصة المستهدفة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11548872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117043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74519"/>
            <a:ext cx="1170432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LinkedIn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29383"/>
            <a:ext cx="9921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«حوّل هذا التقرير التقني إلى منشور LinkedIn بأسلوب قصصي، ٤٠٠ كلمة، يبدأ بسؤال جاذب وينتهي بدعوة للنقاش»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68879"/>
            <a:ext cx="9921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888888"/>
                </a:solidFill>
                <a:latin typeface="Cambria"/>
              </a:rPr>
              <a:t>LinkedIn rewards professional storytelling — NOT corporate speak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44951"/>
            <a:ext cx="1154887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044951"/>
            <a:ext cx="117043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044951"/>
            <a:ext cx="1170432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X (Twitter)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099815"/>
            <a:ext cx="9921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«حوّل النتائج الرئيسية إلى خيط X مكوّن من ٨ تغريدات، التغريدة الأولى مُثيرة للفضول، الأخيرة بالرابط»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639311"/>
            <a:ext cx="9921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888888"/>
                </a:solidFill>
                <a:latin typeface="Cambria"/>
              </a:rPr>
              <a:t>X demands extreme brevity — every word earns its place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15383"/>
            <a:ext cx="11548872" cy="1005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215383"/>
            <a:ext cx="117043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215383"/>
            <a:ext cx="1170432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نشرة بريدية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70247"/>
            <a:ext cx="9921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«اكتب مقدمة ١٥٠ كلمة لهذا التقرير تُخاطب قراء مشتركين في مجال الاقتصاد، أسلوب محادثاتي وعميق»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809743"/>
            <a:ext cx="9921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888888"/>
                </a:solidFill>
                <a:latin typeface="Cambria"/>
              </a:rPr>
              <a:t>Newsletters reward depth and personal voice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385815"/>
            <a:ext cx="1154887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385815"/>
            <a:ext cx="1170432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385815"/>
            <a:ext cx="1170432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Instagram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440679"/>
            <a:ext cx="9921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«استخرج من التقرير ٥ نقاط بصرية يمكن تحويلها لبطاقات، كل نقطة جملة واحدة مؤثرة»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980175"/>
            <a:ext cx="9921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888888"/>
                </a:solidFill>
                <a:latin typeface="Cambria"/>
              </a:rPr>
              <a:t>Instagram needs visual phrasing — punchy, shareable sentences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miri"/>
              </a:rPr>
              <a:t>التقارير المهنية بالذكاء الاصطناعي — من الفكرة إلى التسليم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8988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A84C"/>
                </a:solidFill>
                <a:latin typeface="Cambria"/>
              </a:rPr>
              <a:t>Professional AI Reports — From Idea to Delivery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084831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﴿إِنَّ اللَّهَ يَأْمُرُ بِالْعَدْلِ وَالْإِحْسَانِ﴾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النحل، ١٦:٩٠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"Indeed, Allah orders justice and excellence."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An-Nahl, 16:90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٥ أنواع تقارير يطلبها العملاء دائماً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5 Report Types Clients Always Request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كل نوع له هيكل مختلف — لكن المبادئ المشتركة: الدقة، التوثيق، الإحسان في التقديم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11548872" cy="7772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4048" y="2075687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75687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29383"/>
            <a:ext cx="6858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تحليل السوق — حجم السوق، اللاعبون الرئيسيون، الاتجاهات، الفرص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95143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Market size, players, trends, opportunities — for startups and investors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2039111"/>
            <a:ext cx="2926080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039111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💰 $200–$800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88919"/>
            <a:ext cx="1154887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4048" y="2990087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990087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843783"/>
            <a:ext cx="6858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مراجعة الأدبيات — جمع وتلخيص الأبحاث المنشورة في موضوع محدد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209543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Gathering research on a specific topic — for academics and grad students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953511"/>
            <a:ext cx="292608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953511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💰 $150–$500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03319"/>
            <a:ext cx="11548872" cy="7772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4048" y="3904487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904487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758183"/>
            <a:ext cx="6858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تحليل المنافسين — مقارنة شركات في نفس القطاع: نقاط القوة والضعف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123943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Comparing companies in a sector — for marketing teams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3867911"/>
            <a:ext cx="292608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3867911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💰 $300–$700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17719"/>
            <a:ext cx="1154887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4818887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818887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672583"/>
            <a:ext cx="6858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تقرير القطاع — نظرة شاملة على صناعة كاملة في كل أبعادها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038343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Comprehensive industry overview — for consultancies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4782311"/>
            <a:ext cx="292608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4782311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💰 $500–$1,500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532119"/>
            <a:ext cx="11548872" cy="7772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4048" y="5733287"/>
            <a:ext cx="384048" cy="384048"/>
          </a:xfrm>
          <a:prstGeom prst="ellipse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5733287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586983"/>
            <a:ext cx="6858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تقرير الأثر — تقييم نتائج مشروع أو برنامج — للمنظمات غير الربحية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952743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Assessing project results — for NGOs and donors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0" y="5696711"/>
            <a:ext cx="2926080" cy="438912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5696711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💰 $200–$600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هيكل التقرير الاحترافي + سير العمل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Professional Report Structure +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6072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1B3A5C"/>
                </a:solidFill>
                <a:latin typeface="Amiri"/>
              </a:rPr>
              <a:t>هيكل التقرير — ٨ عناصر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212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347472" cy="6217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11095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صفحة الغلاف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03703"/>
            <a:ext cx="45720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888888"/>
                </a:solidFill>
                <a:latin typeface="Amiri"/>
              </a:rPr>
              <a:t>العنوان، المؤلف، التاريخ، اسم العميل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24327"/>
            <a:ext cx="5212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24327"/>
            <a:ext cx="347472" cy="6217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60903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الملخص التنفيذي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53511"/>
            <a:ext cx="45720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888888"/>
                </a:solidFill>
                <a:latin typeface="Amiri"/>
              </a:rPr>
              <a:t>أهم النتائج والتوصيات في صفحة واحدة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74135"/>
            <a:ext cx="5212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374135"/>
            <a:ext cx="347472" cy="6217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10711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المنهجية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19"/>
            <a:ext cx="45720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888888"/>
                </a:solidFill>
                <a:latin typeface="Amiri"/>
              </a:rPr>
              <a:t>كيف جُمعت البيانات؟ ما المصادر؟ ما الحدود؟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23943"/>
            <a:ext cx="5212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23943"/>
            <a:ext cx="347472" cy="6217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6051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النتائج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7"/>
            <a:ext cx="45720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888888"/>
                </a:solidFill>
                <a:latin typeface="Amiri"/>
              </a:rPr>
              <a:t>تحليل مدعوم بالإحصاءات والمرئيات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73751"/>
            <a:ext cx="5212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873751"/>
            <a:ext cx="347472" cy="6217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10327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التوصيات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02935"/>
            <a:ext cx="45720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888888"/>
                </a:solidFill>
                <a:latin typeface="Amiri"/>
              </a:rPr>
              <a:t>ماذا يفعل العميل بناءً على النتائج؟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23559"/>
            <a:ext cx="5212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623559"/>
            <a:ext cx="347472" cy="621792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60135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المراجع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52743"/>
            <a:ext cx="45720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888888"/>
                </a:solidFill>
                <a:latin typeface="Amiri"/>
              </a:rPr>
              <a:t>لتعزيز المصداقية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053328"/>
            <a:ext cx="521208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053328"/>
            <a:ext cx="52120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100" b="1" i="0">
                <a:solidFill>
                  <a:srgbClr val="1B3A5C"/>
                </a:solidFill>
                <a:latin typeface="Amiri"/>
              </a:rPr>
              <a:t>الملخص التنفيذي + التوصيات = الأجزاء الأهم — اجعلها الأقوى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1261872"/>
            <a:ext cx="548640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389888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C9A84C"/>
                </a:solidFill>
                <a:latin typeface="Amiri"/>
              </a:rPr>
              <a:t>سير العمل الثلاثي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719072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The Three-Tool Workflow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148840"/>
            <a:ext cx="5212080" cy="1170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2148840"/>
            <a:ext cx="1261872" cy="117043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2148840"/>
            <a:ext cx="1261872" cy="11704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NotebookLM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2240280"/>
            <a:ext cx="36576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ارفع ١٠-٢٠ مصدراً موثوقاً — ادفاتر البحث محكم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2807208"/>
            <a:ext cx="3657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DDDDDD"/>
                </a:solidFill>
                <a:latin typeface="Cambria"/>
              </a:rPr>
              <a:t>Upload 10-20 trusted sources — build solid research notebook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319272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C9A84C"/>
                </a:solidFill>
                <a:latin typeface="Cambria"/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520440"/>
            <a:ext cx="5212080" cy="1170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3520440"/>
            <a:ext cx="1261872" cy="117043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520440"/>
            <a:ext cx="1261872" cy="11704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Perplexity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3611880"/>
            <a:ext cx="36576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ابحث عن بيانات حديثة وإحصاءات آنية — وثّق كل مصدر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4178808"/>
            <a:ext cx="3657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DDDDDD"/>
                </a:solidFill>
                <a:latin typeface="Cambria"/>
              </a:rPr>
              <a:t>Fresh statistics + live data — cite every claim with source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690872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C9A84C"/>
                </a:solidFill>
                <a:latin typeface="Cambria"/>
              </a:rPr>
              <a:t>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4892040"/>
            <a:ext cx="5212080" cy="1170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2240" y="4892040"/>
            <a:ext cx="1261872" cy="117043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892040"/>
            <a:ext cx="1261872" cy="11704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Claude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4983480"/>
            <a:ext cx="36576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اكتب التقرير الكامل بناءً على ما استخرجت — أسلوب المؤلف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5550408"/>
            <a:ext cx="3657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DDDDDD"/>
                </a:solidFill>
                <a:latin typeface="Cambria"/>
              </a:rPr>
              <a:t>Write the full report from extracted knowledge — apply ihsan (excellence)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miri"/>
              </a:rPr>
              <a:t>البودكاست العربي بـ NotebookLM — صوتك يصل العالم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8988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A84C"/>
                </a:solidFill>
                <a:latin typeface="Cambria"/>
              </a:rPr>
              <a:t>Arabic Podcasting with NotebookLM — Your Voice Reaches the World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084831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﴿وَجَعَلْنَا لَهُ نُورًا يَمْشِي بِهِ فِي النَّاسِ﴾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الأنعام، ٦:١٢٢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We made for him a light by which to walk among the people."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Al-Anam, 6:122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إنتاج البودكاست من وثائق البحث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Producing a Podcast from Research Documents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NotebookLM حوّل قاعدة معرفتك إلى بودكاست بصوتين بشريين في دقيقتين فقط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938528"/>
            <a:ext cx="3767328" cy="199339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938528"/>
            <a:ext cx="376732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98424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9842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38528"/>
            <a:ext cx="317296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أنشئ دفتراً جديداً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441448"/>
            <a:ext cx="3584448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ارفع ٣-٥ مصادر متعلقة بموضوع الحلقة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91840"/>
            <a:ext cx="358444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Create a new notebook — upload 3-5 sources on the episode topic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19" y="1938528"/>
            <a:ext cx="3767328" cy="199339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19" y="1938528"/>
            <a:ext cx="3767328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39" y="198424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9" y="19842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2E75B6"/>
                </a:solidFill>
                <a:latin typeface="Cambria"/>
              </a:rPr>
              <a:t>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1938528"/>
            <a:ext cx="317296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تنويع المصادر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2441448"/>
            <a:ext cx="3584448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تأكد أن المصادر متنوعة لكن مترابطة بموضوع رئيسي واحد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3291840"/>
            <a:ext cx="358444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Ensure sources are varied but linked by a single main theme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58" y="1938528"/>
            <a:ext cx="3767328" cy="199339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58" y="1938528"/>
            <a:ext cx="3767328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83878" y="198424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8" y="19842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028090"/>
                </a:solidFill>
                <a:latin typeface="Cambria"/>
              </a:rPr>
              <a:t>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78" y="1938528"/>
            <a:ext cx="317296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Audio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8" y="2441448"/>
            <a:ext cx="3584448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اذهب إلى قسم Audio Overview واضغط 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8" y="3291840"/>
            <a:ext cx="358444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Go to Audio Overview section and press Generate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60520"/>
            <a:ext cx="5074920" cy="199339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160520"/>
            <a:ext cx="5074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7240" y="4206240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2062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27AE60"/>
                </a:solidFill>
                <a:latin typeface="Cambria"/>
              </a:rPr>
              <a:t>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160520"/>
            <a:ext cx="44805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انتظر ١-٢ دقيقة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663440"/>
            <a:ext cx="489204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الحلقة تستغرق ١٠-٢٠ دقيقة بصوتين طبيعيين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513832"/>
            <a:ext cx="4892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Wait 1-2 minutes — episode is 10-20 min with two natural-sounding voices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4160520"/>
            <a:ext cx="5074920" cy="199339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4160520"/>
            <a:ext cx="507492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80760" y="4206240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2062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C9A84C"/>
                </a:solidFill>
                <a:latin typeface="Cambria"/>
              </a:rPr>
              <a:t>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160520"/>
            <a:ext cx="44805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الاستماع والتنزيل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663440"/>
            <a:ext cx="489204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استمع لها وحمّل الملف الصوتي MP3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513832"/>
            <a:ext cx="4892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Listen, review, and download the audio file as MP3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البودكاست العربي + ElevenLabs + فرصة تجارية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Arabic Podcast + ElevenLabs + Business Opportunity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⚠ ملاحظة (٢٠٢٦): Audio Overview الأقوى حالياً بالإنجليزية — للعربية: سير العمل المتقدم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01952"/>
            <a:ext cx="5760720" cy="45537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29968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1B3A5C"/>
                </a:solidFill>
                <a:latin typeface="Amiri"/>
              </a:rPr>
              <a:t>سير العمل المتقدم للعربية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521208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13716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NotebookLM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624328"/>
            <a:ext cx="365760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ولّد سكريبت محادثة على موضوعك بالإنجليزية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264408"/>
            <a:ext cx="457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C9A84C"/>
                </a:solidFill>
                <a:latin typeface="Cambria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521208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13716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538728"/>
            <a:ext cx="365760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ترجمه للعربية أو اكتبه مباشرة بالعربية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178808"/>
            <a:ext cx="457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C9A84C"/>
                </a:solidFill>
                <a:latin typeface="Cambria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5212080" cy="7498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43400"/>
            <a:ext cx="13716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ElevenLabs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453128"/>
            <a:ext cx="365760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حوّله لصوت عربي طبيعي — يُعلَّم في الأسبوع الرابع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093208"/>
            <a:ext cx="457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C9A84C"/>
                </a:solidFill>
                <a:latin typeface="Cambria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521208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57800"/>
            <a:ext cx="13716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النتيجة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367528"/>
            <a:ext cx="365760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بودكاست عربي احترافي متكامل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82512" y="1901952"/>
            <a:ext cx="5486400" cy="45537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029968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500" b="1" i="0">
                <a:solidFill>
                  <a:srgbClr val="C9A84C"/>
                </a:solidFill>
                <a:latin typeface="Amiri"/>
              </a:rPr>
              <a:t>فكرة تجارية: بودكاستات مخصصة للمؤسسات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359152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Custom Internal Podcasts for Organizations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292608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92608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816352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التقارير السنوية → بودكاست موجز ١٥ دقيقة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Annual reports → 15-minute podcast summary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3767328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7673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657600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دليل الموظفين → حلقات تعريفية صوتية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041648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Employee handbooks → audio orientation episodes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4608576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60857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498848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محاضر الاجتماعات → ملخص مسموع يومي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882896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Meeting minutes → daily audio brief</a:t>
            </a:r>
          </a:p>
        </p:txBody>
      </p:sp>
      <p:sp>
        <p:nvSpPr>
          <p:cNvPr id="40" name="Oval 39"/>
          <p:cNvSpPr/>
          <p:nvPr/>
        </p:nvSpPr>
        <p:spPr>
          <a:xfrm>
            <a:off x="6492240" y="5449824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44982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340096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$100-$300 للحلقة — الطلب يرتفع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724144"/>
            <a:ext cx="4754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$100-300 per episode — demand is growing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miri"/>
              </a:rPr>
              <a:t>المستقل المعرفي — بيع ما تعلّمت للعالم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89888"/>
            <a:ext cx="9601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A84C"/>
                </a:solidFill>
                <a:latin typeface="Cambria"/>
              </a:rPr>
              <a:t>The Knowledge Worker as Freelancer — Selling What You've Learned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084831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﴿وَفِي ذَلِكَ فَلْيَتَنَافَسِ الْمُتَنَافِسُونَ﴾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المطففين، ٨٣:٢٦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for that let the competitors compete."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Al-Mutaffifin, 83:26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٦ خدمات تبيعها فوراً — ابدأ باثنتين أو ثلاث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6 Services to Sell Immediately — Start with 2 or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61872"/>
            <a:ext cx="3767328" cy="23591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61872"/>
            <a:ext cx="376732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261872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261872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تقارير بحثية متخصصة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64792"/>
            <a:ext cx="358444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تحليل أسواق، مراجعات أدبية، تحليلات قطاعية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59152"/>
            <a:ext cx="35844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Market analysis, literature reviews, sector analyses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89504"/>
            <a:ext cx="3584448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889504"/>
            <a:ext cx="3584448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💰 $200–$1,000 / تقرير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19" y="1261872"/>
            <a:ext cx="3767328" cy="23591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19" y="1261872"/>
            <a:ext cx="3767328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1261872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1" y="1261872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تلخيص الكتب والأوراق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1764792"/>
            <a:ext cx="358444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كتاب ٣٠٠ صفحة → ملخص ١٥ صفحة احترافي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2359152"/>
            <a:ext cx="35844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300-page book → 15-page professional 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2889504"/>
            <a:ext cx="3584448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59" y="2889504"/>
            <a:ext cx="3584448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💰 $75–$250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58" y="1261872"/>
            <a:ext cx="3767328" cy="23591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58" y="1261872"/>
            <a:ext cx="3767328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8" y="1261872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0" y="1261872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تحليل المنافسين والأسواق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8" y="1764792"/>
            <a:ext cx="358444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مقارنات بين شركات في قطاع محدد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8" y="2359152"/>
            <a:ext cx="35844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Company comparisons within a specific sector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8" y="2889504"/>
            <a:ext cx="3584448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8" y="2889504"/>
            <a:ext cx="3584448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💰 $300–$700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3840480"/>
            <a:ext cx="3767328" cy="23591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3840480"/>
            <a:ext cx="3767328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3840480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840480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حزم إعادة توظيف المحتوى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343400"/>
            <a:ext cx="358444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منتجات متعددة المنصات من مصدر واحد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937760"/>
            <a:ext cx="35844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Multi-platform content packages from a single source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468112"/>
            <a:ext cx="3584448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5468112"/>
            <a:ext cx="3584448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💰 $200–$500 / حزمة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19" y="3840480"/>
            <a:ext cx="3767328" cy="23591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19" y="3840480"/>
            <a:ext cx="3767328" cy="41148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39" y="3840480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1" y="3840480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بناء قواعد المعرفة للشركات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59" y="4343400"/>
            <a:ext cx="358444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إنشاء دفاتر NotebookLM منظمة وتسليمها للعميل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59" y="4937760"/>
            <a:ext cx="35844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Creating organized NotebookLM notebooks for clients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59" y="5468112"/>
            <a:ext cx="3584448" cy="475488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59" y="5468112"/>
            <a:ext cx="3584448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💰 $500–$2,000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58" y="3840480"/>
            <a:ext cx="3767328" cy="23591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58" y="3840480"/>
            <a:ext cx="3767328" cy="411480"/>
          </a:xfrm>
          <a:prstGeom prst="rect">
            <a:avLst/>
          </a:prstGeom>
          <a:solidFill>
            <a:srgbClr val="6C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78" y="3840480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68510" y="3840480"/>
            <a:ext cx="31455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إنتاج البودكاست المخصص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598" y="4343400"/>
            <a:ext cx="358444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حلقات صوتية للشركات والتنفيذيين والمؤسسات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598" y="4937760"/>
            <a:ext cx="3584448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Audio episodes for companies, executives, organizations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598" y="5468112"/>
            <a:ext cx="3584448" cy="475488"/>
          </a:xfrm>
          <a:prstGeom prst="rect">
            <a:avLst/>
          </a:prstGeom>
          <a:solidFill>
            <a:srgbClr val="6C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598" y="5468112"/>
            <a:ext cx="3584448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💰 $100–$300 / حلقة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قالب العرض الاحترافي — بالعربية والإنجليزية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The Professional Pitch Template — Arabic &amp; English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العنوان: «أُنتج تقارير بحثية احترافية بأدوات الذكاء الاصطناعي خلال ٤٨ ساعة»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01952"/>
            <a:ext cx="5715000" cy="193852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01952"/>
            <a:ext cx="57150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901952"/>
            <a:ext cx="556869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المقدمة (٥٠ كلمة) / Intro (50 words)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04872"/>
            <a:ext cx="553212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عرّف بنفسك في سطر ← اذكر مشكلة العميل المحتمل ← وعدك بحلّها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27832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One-line intro → client problem → your promise to solve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01952"/>
            <a:ext cx="5715000" cy="193852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01952"/>
            <a:ext cx="57150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901952"/>
            <a:ext cx="556869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ما ستحصل عليه / What You'll Receive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404872"/>
            <a:ext cx="553212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• تقرير ١٠ صفحات • إحصاءات حديثة • مراجع موثّقة • ملخص تنفيذي • توصيات قابلة للتنفيذ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27832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Bullets: page count, fresh data, citations, exec summary, actionable recommendations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50792"/>
            <a:ext cx="5715000" cy="193852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050792"/>
            <a:ext cx="57150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4050792"/>
            <a:ext cx="556869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لماذا أنا (٣٠ كلمة) / Why Me (30 words)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53712"/>
            <a:ext cx="553212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خبرة مختصرة + الأدوات المستخدمة + عدد المشاريع المنجزة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376672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Brief expertise + tools used + number of completed projects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050792"/>
            <a:ext cx="5715000" cy="193852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050792"/>
            <a:ext cx="5715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050792"/>
            <a:ext cx="556869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الأسئلة الشائعة (FAQ) / FAQ Section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553712"/>
            <a:ext cx="553212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B3A5C"/>
                </a:solidFill>
                <a:latin typeface="Amiri"/>
              </a:rPr>
              <a:t>أجب عن ٣ مخاوف رئيسية للعميل بأسلوب صريح ومطمئن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376672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Answer client's top 3 concerns honestly and reassuringly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سير العمل المتكامل — الأدوات الثلاثة معاً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The Integrated Workflow — Three Tools Working Together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3749039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3749039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3749039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Perplexity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356615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1B3A5C"/>
                </a:solidFill>
                <a:latin typeface="Amiri"/>
              </a:rPr>
              <a:t>الاكتشاف والبحث الحي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95728"/>
            <a:ext cx="3566159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اكتشف مصادر جديدة
ابحث عن إحصاءات آنية
تحقق من أحدث التطورات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886200"/>
            <a:ext cx="3566159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888888"/>
                </a:solidFill>
                <a:latin typeface="Cambria"/>
              </a:rPr>
              <a:t>Discover sources · live stats · verify current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956048"/>
            <a:ext cx="3566159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956048"/>
            <a:ext cx="356615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perplexity.ai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3943" y="3566160"/>
            <a:ext cx="20116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261872"/>
            <a:ext cx="3749039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1261872"/>
            <a:ext cx="3749039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261872"/>
            <a:ext cx="3749039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NotebookLM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1901952"/>
            <a:ext cx="356615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1B3A5C"/>
                </a:solidFill>
                <a:latin typeface="Amiri"/>
              </a:rPr>
              <a:t>التحليل والاستخراج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395728"/>
            <a:ext cx="3566159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حلّل مصادرك بعمق
استخرج الأنماط والثغرات
بنِ قاعدة معرفة متكاملة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886200"/>
            <a:ext cx="3566159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888888"/>
                </a:solidFill>
                <a:latin typeface="Cambria"/>
              </a:rPr>
              <a:t>Deep analysis · pattern extraction · knowledge 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4956048"/>
            <a:ext cx="3566159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4956048"/>
            <a:ext cx="356615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notebooklm.google.com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1" y="3566160"/>
            <a:ext cx="20116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261872"/>
            <a:ext cx="3749039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0456" y="1261872"/>
            <a:ext cx="3749039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6" y="1261872"/>
            <a:ext cx="3749039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Claude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1901952"/>
            <a:ext cx="3566159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1B3A5C"/>
                </a:solidFill>
                <a:latin typeface="Amiri"/>
              </a:rPr>
              <a:t>الكتابة والإنتاج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395728"/>
            <a:ext cx="3566159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اكتب التقرير النهائي
أعِد توظيف المحتوى
بنِ العروض والتحليلات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886200"/>
            <a:ext cx="3566159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888888"/>
                </a:solidFill>
                <a:latin typeface="Cambria"/>
              </a:rPr>
              <a:t>Write reports · repurpose content · build pitches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11896" y="4956048"/>
            <a:ext cx="3566159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4956048"/>
            <a:ext cx="356615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claude.ai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035040"/>
            <a:ext cx="11548872" cy="4389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035040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1B3A5C"/>
                </a:solidFill>
                <a:latin typeface="Amiri"/>
              </a:rPr>
              <a:t>Perplexity اكتشف ← NotebookLM حلّل ← Claude أنتِج ← مشروع احترافي كامل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مصفوفة إعادة التوظيف — كل منصة وأسلوبها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Content Repurposing Matrix — Each Platform and Its Style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2286000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22860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150" b="1" i="0">
                <a:solidFill>
                  <a:srgbClr val="FFFFFF"/>
                </a:solidFill>
                <a:latin typeface="Amiri"/>
              </a:rPr>
              <a:t>المنصة /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261872"/>
            <a:ext cx="137160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261872"/>
            <a:ext cx="13716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الطول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261872"/>
            <a:ext cx="27432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261872"/>
            <a:ext cx="27432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الأسلوب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261872"/>
            <a:ext cx="502920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261872"/>
            <a:ext cx="50292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mbria"/>
              </a:rPr>
              <a:t>أمر Claude النموذجي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47088"/>
            <a:ext cx="114300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956816"/>
            <a:ext cx="21945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50" b="1" i="0">
                <a:solidFill>
                  <a:srgbClr val="1B3A5C"/>
                </a:solidFill>
                <a:latin typeface="Amiri"/>
              </a:rPr>
              <a:t>LinkedIn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1956816"/>
            <a:ext cx="12801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2E75B6"/>
                </a:solidFill>
                <a:latin typeface="Amiri"/>
              </a:rPr>
              <a:t>400 كلمة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1" y="1956816"/>
            <a:ext cx="2651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قصصي احترافي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1956816"/>
            <a:ext cx="4937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27AE60"/>
                </a:solidFill>
                <a:latin typeface="Cambria"/>
              </a:rPr>
              <a:t>"Turn into LinkedIn post, storytelling, end with discussion prompt"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96896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706624"/>
            <a:ext cx="21945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50" b="1" i="0">
                <a:solidFill>
                  <a:srgbClr val="1B3A5C"/>
                </a:solidFill>
                <a:latin typeface="Amiri"/>
              </a:rPr>
              <a:t>X/Twitter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2706624"/>
            <a:ext cx="12801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2E75B6"/>
                </a:solidFill>
                <a:latin typeface="Amiri"/>
              </a:rPr>
              <a:t>280 حرف ×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2706624"/>
            <a:ext cx="2651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موجز + فضولي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706624"/>
            <a:ext cx="4937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27AE60"/>
                </a:solidFill>
                <a:latin typeface="Cambria"/>
              </a:rPr>
              <a:t>"Create 8-tweet thread, first tweet grabs attention, last has link"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346704"/>
            <a:ext cx="114300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456432"/>
            <a:ext cx="21945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50" b="1" i="0">
                <a:solidFill>
                  <a:srgbClr val="1B3A5C"/>
                </a:solidFill>
                <a:latin typeface="Amiri"/>
              </a:rPr>
              <a:t>Newsletter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2" y="3456432"/>
            <a:ext cx="12801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2E75B6"/>
                </a:solidFill>
                <a:latin typeface="Amiri"/>
              </a:rPr>
              <a:t>800 كلمة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0791" y="3456432"/>
            <a:ext cx="2651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محادثاتي عميق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3456432"/>
            <a:ext cx="4937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27AE60"/>
                </a:solidFill>
                <a:latin typeface="Cambria"/>
              </a:rPr>
              <a:t>"Write newsletter intro 150 words, conversational, subscriber-focused"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96512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4206240"/>
            <a:ext cx="21945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50" b="1" i="0">
                <a:solidFill>
                  <a:srgbClr val="1B3A5C"/>
                </a:solidFill>
                <a:latin typeface="Amiri"/>
              </a:rPr>
              <a:t>Instagram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9192" y="4206240"/>
            <a:ext cx="12801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2E75B6"/>
                </a:solidFill>
                <a:latin typeface="Amiri"/>
              </a:rPr>
              <a:t>جمل قصيرة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791" y="4206240"/>
            <a:ext cx="2651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بصري وقابل للمشاركة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4206240"/>
            <a:ext cx="4937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27AE60"/>
                </a:solidFill>
                <a:latin typeface="Cambria"/>
              </a:rPr>
              <a:t>"Extract 5 visual-friendly points, each one punchy sentence"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846320"/>
            <a:ext cx="11430000" cy="6583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4956048"/>
            <a:ext cx="21945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50" b="1" i="0">
                <a:solidFill>
                  <a:srgbClr val="1B3A5C"/>
                </a:solidFill>
                <a:latin typeface="Amiri"/>
              </a:rPr>
              <a:t>YouTube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9192" y="4956048"/>
            <a:ext cx="12801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2E75B6"/>
                </a:solidFill>
                <a:latin typeface="Amiri"/>
              </a:rPr>
              <a:t>سكريبت 90ث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0791" y="4956048"/>
            <a:ext cx="2651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جاذب من ثانية واحدة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992" y="4956048"/>
            <a:ext cx="4937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27AE60"/>
                </a:solidFill>
                <a:latin typeface="Cambria"/>
              </a:rPr>
              <a:t>"Write 90-second video script, hook in first 5 seconds, strongest stat"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596128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5705856"/>
            <a:ext cx="21945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50" b="1" i="0">
                <a:solidFill>
                  <a:srgbClr val="1B3A5C"/>
                </a:solidFill>
                <a:latin typeface="Amiri"/>
              </a:rPr>
              <a:t>بودكاست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79192" y="5705856"/>
            <a:ext cx="12801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2E75B6"/>
                </a:solidFill>
                <a:latin typeface="Amiri"/>
              </a:rPr>
              <a:t>1500 كلمة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50791" y="5705856"/>
            <a:ext cx="2651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شرح عمقي صوتي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3992" y="5705856"/>
            <a:ext cx="4937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50" b="0" i="0">
                <a:solidFill>
                  <a:srgbClr val="27AE60"/>
                </a:solidFill>
                <a:latin typeface="Cambria"/>
              </a:rPr>
              <a:t>"Convert to 15-min conversational podcast script, engaging dialogue"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قالب هيكل التقرير الاحترافي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Professional Report Structure Template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61872"/>
            <a:ext cx="2834640" cy="239572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61872"/>
            <a:ext cx="2834640" cy="411480"/>
          </a:xfrm>
          <a:prstGeom prst="rect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61872"/>
            <a:ext cx="26883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صفحة الغلاف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64792"/>
            <a:ext cx="2688336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العنوان + اسم المؤلف + التاريخ + اسم العميل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633472"/>
            <a:ext cx="268833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Title + Author + Date + Client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261872"/>
            <a:ext cx="2834640" cy="239572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82112" y="1261872"/>
            <a:ext cx="283464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1261872"/>
            <a:ext cx="26883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1B3A5C"/>
                </a:solidFill>
                <a:latin typeface="Amiri"/>
              </a:rPr>
              <a:t>الملخص التنفيذي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1764792"/>
            <a:ext cx="2688336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صفحة واحدة — أهم النتائج والتوصيات — يقرأها المديرون فقط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2633472"/>
            <a:ext cx="268833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One page — top findings and recommendations — most-read section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261872"/>
            <a:ext cx="2834640" cy="239572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261872"/>
            <a:ext cx="2834640" cy="411480"/>
          </a:xfrm>
          <a:prstGeom prst="rect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261872"/>
            <a:ext cx="26883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المقدمة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1764792"/>
            <a:ext cx="2688336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لماذا هذا التقرير؟ ما الأسئلة التي يُجيب عليها؟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633472"/>
            <a:ext cx="268833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Why this report? What questions does it answer?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261872"/>
            <a:ext cx="2834640" cy="239572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1261872"/>
            <a:ext cx="2834640" cy="411480"/>
          </a:xfrm>
          <a:prstGeom prst="rect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1261872"/>
            <a:ext cx="26883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المنهجية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764792"/>
            <a:ext cx="2688336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كيف جُمعت البيانات؟ من أي مصادر؟ ما حدود البحث؟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633472"/>
            <a:ext cx="268833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How was data gathered? Which sources? What are research limits?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895344"/>
            <a:ext cx="2834640" cy="239572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3895344"/>
            <a:ext cx="2834640" cy="411480"/>
          </a:xfrm>
          <a:prstGeom prst="rect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3895344"/>
            <a:ext cx="26883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النتائج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4398264"/>
            <a:ext cx="2688336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تحليل مدعوم بالإحصاءات والجداول والمرئيات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5266944"/>
            <a:ext cx="268833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Analysis supported by statistics, tables, and visuals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82112" y="3895344"/>
            <a:ext cx="2834640" cy="239572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82112" y="3895344"/>
            <a:ext cx="283464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55264" y="3895344"/>
            <a:ext cx="26883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1B3A5C"/>
                </a:solidFill>
                <a:latin typeface="Amiri"/>
              </a:rPr>
              <a:t>التوصيات 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5264" y="4398264"/>
            <a:ext cx="2688336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ماذا يفعل العميل بناءً على النتائج؟ — قابلة للتنفيذ ومرقّمة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5264" y="5266944"/>
            <a:ext cx="268833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What should the client do? — Actionable and numbered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1344" y="3895344"/>
            <a:ext cx="2834640" cy="239572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81344" y="3895344"/>
            <a:ext cx="2834640" cy="411480"/>
          </a:xfrm>
          <a:prstGeom prst="rect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4496" y="3895344"/>
            <a:ext cx="26883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الخاتمة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4496" y="4398264"/>
            <a:ext cx="2688336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تذكير بالنقاط الجوهرية — لا معلومات جديدة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4496" y="5266944"/>
            <a:ext cx="268833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Reminder of core points — no new information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3895344"/>
            <a:ext cx="2834640" cy="239572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0576" y="3895344"/>
            <a:ext cx="2834640" cy="411480"/>
          </a:xfrm>
          <a:prstGeom prst="rect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53728" y="3895344"/>
            <a:ext cx="2688336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المراجع والملاحق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728" y="4398264"/>
            <a:ext cx="2688336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يُعزّز المصداقية — ضروري لكل تقرير احترافي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5266944"/>
            <a:ext cx="268833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Strengthens credibility — essential for every professional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أخطاء عامل المعرفة المبتدئ — تعلّم من الآخرين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Knowledge Worker Mistakes — Learn from Others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15000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7150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61872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الاستفسار السطحي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5532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يسأل Claude «اكتب تقريراً عن X» دون سياق أو قيود أو هيكل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30552"/>
            <a:ext cx="5532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Asks Claude 'write a report about X' with no context, constraints, or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96312"/>
            <a:ext cx="55321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496312"/>
            <a:ext cx="5513832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طبّق المكوّنات الستة + التأطير المسبق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26080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Fix: Apply 6 components + prior framing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61872"/>
            <a:ext cx="5715000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61872"/>
            <a:ext cx="57150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61872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الفوضى في الدفاتر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37360"/>
            <a:ext cx="5532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كل المصادر في دفتر واحد — NotebookLM يضيع بين السياقات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30552"/>
            <a:ext cx="5532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All sources in one notebook — tool loses context between contradictory materials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496312"/>
            <a:ext cx="55321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496312"/>
            <a:ext cx="5513832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دفتر واحد لكل مشروع أو تخصص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26080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Fix: One notebook per project or specialization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03904"/>
            <a:ext cx="5715000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803904"/>
            <a:ext cx="571500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803904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الاعتماد الكامل على 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79392"/>
            <a:ext cx="5532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يأخذ الإجابة بلا تحقق — ينشر معلومات مغلوطة في تقارير العملاء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672584"/>
            <a:ext cx="5532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Takes answers without verification — publishes incorrect data in client reports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038344"/>
            <a:ext cx="55321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5038344"/>
            <a:ext cx="5513832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تقنية «اطلب التحقق» + راجع المصادر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468112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Fix: Use verification technique + check sources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803904"/>
            <a:ext cx="5715000" cy="23317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803904"/>
            <a:ext cx="571500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803904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✗ إنتاج بدون توزيع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279392"/>
            <a:ext cx="5532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يكتب تقريراً ممتازاً ولا يُعيد توظيفه — يضيع ٩٠٪ من قيمته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672584"/>
            <a:ext cx="5532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Writes an excellent report but doesn't repurpose it — wastes 90% of its value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5038344"/>
            <a:ext cx="55321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5038344"/>
            <a:ext cx="5513832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كل وثيقة → ٦ منتجات على ٦ منصات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468112"/>
            <a:ext cx="553212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Fix: Every document → 6 products on 6 platforms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أبرز ما تعلّمنا — الأسبوع الثالث المسار 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Key Takeaways — Week 3 Track 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42432" cy="138988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91440" cy="13898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3075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C9A84C"/>
                </a:solidFill>
                <a:latin typeface="Amiri"/>
              </a:rPr>
              <a:t>عامل المعرفة محمي من التعويض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00784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AI يُضخّم قدراتك — لا يُغنيك. الحكم والسياق والإبداع لا تزال بشرية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219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AI amplifies your capabilities — judgment, context, creativity remain human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42432" cy="138988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91440" cy="1389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3075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2E75B6"/>
                </a:solidFill>
                <a:latin typeface="Amiri"/>
              </a:rPr>
              <a:t>ثلاثية الأدوات لا تتنافس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700784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Perplexity اكتشف ← NotebookLM حلّل ← Claude أنتِج — كل أداة لدورها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219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Perplexity discovers, NotebookLM analyzes, Claude produces — each in its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261872"/>
            <a:ext cx="5742432" cy="138988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261872"/>
            <a:ext cx="91440" cy="13898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13075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028090"/>
                </a:solidFill>
                <a:latin typeface="Amiri"/>
              </a:rPr>
              <a:t>جودة السؤال = جودة الإجابة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1700784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الأسئلة التحليلية التدريجية تُنتج إجابات يدفع العملاء ثمنها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221992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Progressive analytical questions produce answers clients pay for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34640"/>
            <a:ext cx="5742432" cy="138988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34640"/>
            <a:ext cx="91440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8803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27AE60"/>
                </a:solidFill>
                <a:latin typeface="Amiri"/>
              </a:rPr>
              <a:t>PKM هو رأسمالك المهني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273552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الدفاتر المنظمة + النظام الرباعي = ذاكرة احترافية تُميّزك في كل اجتماع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7947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Organized notebooks + 4-pillar PKM = professional memory that sets you apart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34640"/>
            <a:ext cx="5742432" cy="138988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834640"/>
            <a:ext cx="91440" cy="13898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28803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8E44AD"/>
                </a:solidFill>
                <a:latin typeface="Amiri"/>
              </a:rPr>
              <a:t>كل وثيقة → ٦ منتجات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" y="3273552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نشر مرة واحدة يُضيّع ٩٠٪ من القيمة — إعادة التوظيف تضاعف العائد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" y="37947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Publishing once wastes 90% of value — repurposing multiplies your return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834640"/>
            <a:ext cx="5742432" cy="138988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834640"/>
            <a:ext cx="91440" cy="13898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28803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C0392B"/>
                </a:solidFill>
                <a:latin typeface="Amiri"/>
              </a:rPr>
              <a:t>التقارير + البودكاست = خدمات عالمية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3273552"/>
            <a:ext cx="54498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٦ خدمات احترافية جاهزة للبيع على Upwork وKhamsat فوراً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3794760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6 professional services ready to sell on Upwork and Khamsat immediately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مستويات عامل المعرفة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Knowledge Worker Mastery Levels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3108960"/>
            <a:ext cx="2788920" cy="2926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321868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21868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028090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913632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المبتدئ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4370832"/>
            <a:ext cx="264261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• يستخدم أداة واحدة
• أسئلة وصفية بسيطة
• يتلقى إجابات عامة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4736592"/>
            <a:ext cx="264261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EEEEEE"/>
                </a:solidFill>
                <a:latin typeface="Cambria"/>
              </a:rPr>
              <a:t>• Uses one tool
• Simple descriptive questions
• Generic answers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2560320"/>
            <a:ext cx="2788920" cy="3474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16552" y="267004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67004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2E75B6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3364992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المتوسط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3822192"/>
            <a:ext cx="264261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• يُنسّق بين الأدوات الثلاثة
• أسئلة تحليلية تدريجية
• دفاتر منظمة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4736592"/>
            <a:ext cx="264261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EEEEEE"/>
                </a:solidFill>
                <a:latin typeface="Cambria"/>
              </a:rPr>
              <a:t>• Coordinates three tools
• Progressive analytical questions
• Organized notebooks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2011680"/>
            <a:ext cx="2788920" cy="4023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70064" y="212140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212140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816352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المتقدم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3273552"/>
            <a:ext cx="264261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• نظام PKM كامل + إعادة توظيف
• تقارير احترافية منشورة
• عملاء متكررون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4736592"/>
            <a:ext cx="264261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EEEEEE"/>
                </a:solidFill>
                <a:latin typeface="Cambria"/>
              </a:rPr>
              <a:t>• Full PKM + repurposing
• Professional published reports
• Repeat clients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0576" y="1463040"/>
            <a:ext cx="2788920" cy="457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23576" y="157276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23576" y="1572768"/>
            <a:ext cx="53035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267712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الخبير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724912"/>
            <a:ext cx="264261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• خدمات متعددة + بودكاست
• $500–$2,000 / شهر
• سمعة متخصصة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4736592"/>
            <a:ext cx="264261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EEEEEE"/>
                </a:solidFill>
                <a:latin typeface="Cambria"/>
              </a:rPr>
              <a:t>• Multiple services + podcast
• $500–$2,000/month
• Specialist reputation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خطة الأسبوع الأول — ٧ خطوات للانطلاق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First Week Action Plan — 7 Steps to Launch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80160"/>
            <a:ext cx="278892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278892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280160"/>
            <a:ext cx="2788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83080"/>
            <a:ext cx="26426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أنشئ دفتر NotebookLM لمشروع حقيقي — ارفع ٥ مصادر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834640"/>
            <a:ext cx="26426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Real project notebook — 5 quality 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280160"/>
            <a:ext cx="278892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280160"/>
            <a:ext cx="27889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280160"/>
            <a:ext cx="2788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1783080"/>
            <a:ext cx="26426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مارس الاستفسار التدريجي على دفترك — ٥ أسئلة من السطحي للتحليلي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2834640"/>
            <a:ext cx="26426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5 questions from descriptive to deeply analytical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278892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280160"/>
            <a:ext cx="278892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280160"/>
            <a:ext cx="2788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783080"/>
            <a:ext cx="26426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ابحث في Perplexity عن موضوع تخصصك — أنشئ Space مخصصاً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834640"/>
            <a:ext cx="26426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Research your specialty on Perplexity — create a dedicated Space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280160"/>
            <a:ext cx="278892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280160"/>
            <a:ext cx="2788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280160"/>
            <a:ext cx="2788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1783080"/>
            <a:ext cx="26426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استخدم Claude لكتابة ملخص تنفيذي ١ صفحة — طبّق المكوّنات الستة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2834640"/>
            <a:ext cx="264261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Write 1-page executive summary with Claude — apply 6 components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749039"/>
            <a:ext cx="352044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749039"/>
            <a:ext cx="3520440" cy="41148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749039"/>
            <a:ext cx="35204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4251959"/>
            <a:ext cx="337413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أعِد توظيف الملخص إلى منشور LinkedIn + خيط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5303519"/>
            <a:ext cx="33741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Repurpose summary → LinkedIn post + X thread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5112" y="3749039"/>
            <a:ext cx="352044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749039"/>
            <a:ext cx="3520440" cy="411480"/>
          </a:xfrm>
          <a:prstGeom prst="rect">
            <a:avLst/>
          </a:prstGeom>
          <a:solidFill>
            <a:srgbClr val="6C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5112" y="3749039"/>
            <a:ext cx="35204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8264" y="4251959"/>
            <a:ext cx="337413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جرّب Audio Overview على دفترك — استمع وقيّم الجودة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8264" y="5303519"/>
            <a:ext cx="33741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Try Audio Overview on your notebook — listen and assess quality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5864" y="3749039"/>
            <a:ext cx="3520440" cy="221284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5864" y="3749039"/>
            <a:ext cx="352044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55864" y="3749039"/>
            <a:ext cx="35204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اليوم 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9016" y="4251959"/>
            <a:ext cx="337413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FFFFFF"/>
                </a:solidFill>
                <a:latin typeface="Amiri"/>
              </a:rPr>
              <a:t>انشر خدمة واحدة على Khamsat أو Upwork بسعر تجريبي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5303519"/>
            <a:ext cx="33741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CCCCCC"/>
                </a:solidFill>
                <a:latin typeface="Cambria"/>
              </a:rPr>
              <a:t>Post one service on Khamsat or Upwork at introductory price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تقييم ذاتي — هل أتقنتَ الكتاب؟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Self-Assessment — Did You Master This Book?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" y="1444752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4475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30759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ما الفرق بين NotebookLM وClaude وPerplexity وأين يُستخدم كل واحد؟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45920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What differentiates NotebookLM, Claude, and Perplexity — and where does each belong?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66544"/>
            <a:ext cx="1154887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4048" y="2249424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24942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12264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صف تقنية الاستفسار التدريجي وأعطِ مثالاً من تخصصك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45059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Describe progressive inquiry technique with a real example from your specialty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71216"/>
            <a:ext cx="1154887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" y="3054096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0540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916936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ما الأنواع الأربعة لدفاتر NotebookLM في نظام PKM الاحترافي؟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25526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What are the 4 notebook types in the professional PKM system?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75888"/>
            <a:ext cx="1154887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" y="385876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85876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7216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كيف تُعيد توظيف تقرير ١٥ صفحة إلى ٦ منتجات لـ ٦ منصات مختلفة؟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059936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How do you repurpose a 15-page report into 6 products for 6 different platforms?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80560"/>
            <a:ext cx="1154887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4663440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6634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5262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ما هيكل التقرير الاحترافي وأي أجزائه يقرأها المديرون أولاً؟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864608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What is the professional report structure and which parts do executives read first?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85232"/>
            <a:ext cx="1154887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5468112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546811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33095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اذكر خدمتَين من الخدمات الست يمكنك تقديمهما اليوم مع تسعير واضح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669280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Name 2 of the 6 services you can offer today with clear pricing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مشروع الختام — عامل المعرفة في الميدان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Capstone Project — The Knowledge Worker in the Field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800" b="1" i="0">
                <a:solidFill>
                  <a:srgbClr val="1B3A5C"/>
                </a:solidFill>
                <a:latin typeface="Amiri"/>
              </a:rPr>
              <a:t>أنتِج تقريراً بحثياً كاملاً وانشر خدمة على منصة مستقلين — هذا الأسبوع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93392"/>
            <a:ext cx="11548872" cy="65836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93392"/>
            <a:ext cx="50292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93392"/>
            <a:ext cx="502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اختر موضوعاً ذا قيمة في سوقك المحلي أو الإقليمي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Choose a topic with real value in your local or regional 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43200"/>
            <a:ext cx="11548872" cy="65836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743200"/>
            <a:ext cx="502920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43200"/>
            <a:ext cx="502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8892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ابنِ دفتر NotebookLM بـ ١٠ مصادر محكّمة — طبّق قائمة التدقيق الخماسية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Build a NotebookLM notebook with 10 verified sources — apply quality checklist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93008"/>
            <a:ext cx="11548872" cy="65836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493008"/>
            <a:ext cx="50292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493008"/>
            <a:ext cx="502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38728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ابحث في Perplexity عن إحصاءات حديثة لموضوعك — وثّق المصادر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58768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Research Perplexity for fresh statistics on your topic — document all sources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42816"/>
            <a:ext cx="11548872" cy="65836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242816"/>
            <a:ext cx="502920" cy="65836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242816"/>
            <a:ext cx="502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88536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اكتب تقريراً ١٠ صفحات بالهيكل الثماني — استخدم Claude للكتابة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08576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Write a 10-page report using the 8-part structure — use Claude for writing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92624"/>
            <a:ext cx="11548872" cy="65836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992624"/>
            <a:ext cx="502920" cy="658368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992624"/>
            <a:ext cx="502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38344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أعِد توظيف التقرير إلى ٣ منتجات على ٣ منصات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58384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Repurpose the report into 3 products on 3 different platforms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742432"/>
            <a:ext cx="11548872" cy="65836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5742432"/>
            <a:ext cx="502920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742432"/>
            <a:ext cx="502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88152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انشر خدمة «تقرير بحثي متخصص» على Khamsat أو Upwork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108192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Post a 'specialized research report' service on Khamsat or Upwork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ما التالي — الأسبوع الرابع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What's Next — Week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117043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800" b="1" i="0">
                <a:solidFill>
                  <a:srgbClr val="C9A84C"/>
                </a:solidFill>
                <a:latin typeface="Amiri"/>
              </a:rPr>
              <a:t>الذكاء الاصطناعي لصنّاع المحتوى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0">
                <a:solidFill>
                  <a:srgbClr val="F5F0E8"/>
                </a:solidFill>
                <a:latin typeface="Cambria"/>
              </a:rPr>
              <a:t>AI for Content Creators — Design, Voice, Video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3347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أدوات توليد الصور — Midjourney وDALL-E والبدائل المجانية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5351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Image generation tools — Midjourney, DALL-E, and free alternatives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327355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36499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ElevenLabs لتوليد الصوت العربي الطبيعي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68503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ElevenLabs for natural Arabic voice generation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400507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57200" y="420624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09651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Runway وHeygen لتوليد الفيديو من النصوص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41655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Runway and Heygen for text-to-video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473659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57200" y="493776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3776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82803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بناء هوية بصرية متكاملة باستخدام أدوات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14807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Building a complete visual brand identity using AI tools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546811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57200" y="566928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66928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55955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إنشاء استوديو محتوى رقمي كامل من مكانك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87959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Creating a complete digital content studio from your location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19963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20040" y="6080760"/>
            <a:ext cx="11548872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080760"/>
            <a:ext cx="1154887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المسار (أ) فقط — Track A Only  ·  الأسبوع الرابع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الأدوات والمصادر المرجعية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Tools &amp; Reference Resources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347472" cy="9875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07592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notebooklm.google.com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09344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الأداة الرئيسية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Main tool — free with Google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347472" cy="9875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307592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perplexity.ai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609344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028090"/>
                </a:solidFill>
                <a:latin typeface="Amiri"/>
              </a:rPr>
              <a:t>البحث الحي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901952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Live research with citations — free plan 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50592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50592"/>
            <a:ext cx="347472" cy="9875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496312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claude.ai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798064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2E75B6"/>
                </a:solidFill>
                <a:latin typeface="Amiri"/>
              </a:rPr>
              <a:t>الكتابة والتحليل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90672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Deep analysis and professional writing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450592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450592"/>
            <a:ext cx="347472" cy="9875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496312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upwork.com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798064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27AE60"/>
                </a:solidFill>
                <a:latin typeface="Amiri"/>
              </a:rPr>
              <a:t>سوق العمل الحر الدولي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090672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Global freelance marketplace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39312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639312"/>
            <a:ext cx="347472" cy="987552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685032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khamsat.com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86784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7B3F00"/>
                </a:solidFill>
                <a:latin typeface="Amiri"/>
              </a:rPr>
              <a:t>السوق العربي للمستقلين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79392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Arab freelance marketplace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639312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639312"/>
            <a:ext cx="347472" cy="987552"/>
          </a:xfrm>
          <a:prstGeom prst="rect">
            <a:avLst/>
          </a:prstGeom>
          <a:solidFill>
            <a:srgbClr val="6C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685032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mostaql.com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986784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6C276B"/>
                </a:solidFill>
                <a:latin typeface="Amiri"/>
              </a:rPr>
              <a:t>منصة عربية أخرى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279392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Another Arabic freelance platform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28032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347472" cy="9875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873752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google.com/drive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175504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مزامنة المصادر مع NotebookLM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468112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Sync Google Docs directly to notebooks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828032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828032"/>
            <a:ext cx="347472" cy="9875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4873752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scholar.google.com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175504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2E75B6"/>
                </a:solidFill>
                <a:latin typeface="Amiri"/>
              </a:rPr>
              <a:t>مصادر أكاديمية مجانية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5468112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Free academic sources and papers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مرجع أسعار الخدمات المعرفية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Knowledge Services Pricing Reference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61872"/>
            <a:ext cx="376732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تقرير بحثي متخصص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64792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١٠-١٥ صفحة + ملخص تنفيذي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313432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10-15 pages + executive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89504"/>
            <a:ext cx="3584448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889504"/>
            <a:ext cx="358444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💰 $200–$1,000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19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19" y="1261872"/>
            <a:ext cx="3767328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1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تلخيص كتاب أو ورقة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1" y="1764792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كتاب ٣٠٠ صفحة → ١٥ صفحة مُنظّمة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1" y="2313432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300-page book → 15-page structured 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2889504"/>
            <a:ext cx="3584448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2889504"/>
            <a:ext cx="358444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💰 $75–$250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8" y="1261872"/>
            <a:ext cx="3767328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0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تحليل منافسين وأسواق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0" y="1764792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مقارنة ٥-١٠ شركات في قطاع محدد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2313432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5-10 company comparison in a sector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8" y="2889504"/>
            <a:ext cx="358444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8" y="2889504"/>
            <a:ext cx="358444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💰 $300–$700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" y="3749040"/>
            <a:ext cx="3767328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حزمة إعادة توظيف محتوى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4251960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مصدر واحد → ٦ منتجات لـ ٦ منصات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" y="4800600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1 source → 6 products for 6 platforms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76672"/>
            <a:ext cx="3584448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376672"/>
            <a:ext cx="358444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💰 $200–$500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19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60519" y="3749040"/>
            <a:ext cx="3767328" cy="41148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33671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بناء قاعدة معرفة للشركة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3671" y="4251960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دفاتر NotebookLM منظمة + تدريب الفريق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3671" y="4800600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Organized notebooks + team training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5376672"/>
            <a:ext cx="3584448" cy="438912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59" y="5376672"/>
            <a:ext cx="358444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💰 $500–$2,000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58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58" y="3749040"/>
            <a:ext cx="3767328" cy="411480"/>
          </a:xfrm>
          <a:prstGeom prst="rect">
            <a:avLst/>
          </a:prstGeom>
          <a:solidFill>
            <a:srgbClr val="6C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1310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حلقة بودكاست مخصصة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0" y="4251960"/>
            <a:ext cx="36210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١٥-٢٠ دقيقة حول موضوع المؤسسة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0" y="4800600"/>
            <a:ext cx="362102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15-20 min around organization's topic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598" y="5376672"/>
            <a:ext cx="3584448" cy="438912"/>
          </a:xfrm>
          <a:prstGeom prst="rect">
            <a:avLst/>
          </a:prstGeom>
          <a:solidFill>
            <a:srgbClr val="6C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598" y="5376672"/>
            <a:ext cx="3584448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💰 $100–$300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مرجع الأسئلة القوية — احفظ هذه الصفحة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Power Questions Reference — Keep This Page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347472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C9A84C"/>
                </a:solidFill>
                <a:latin typeface="Amiri"/>
              </a:rPr>
              <a:t>كشف الإجماع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09344"/>
            <a:ext cx="51937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«ما المعلومات المتكررة في أكثر من مصدر، وما المذكور في مصدر واحد فقط؟»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1">
                <a:solidFill>
                  <a:srgbClr val="CCCCCC"/>
                </a:solidFill>
                <a:latin typeface="Cambria"/>
              </a:rPr>
              <a:t>Reveals consensus vs. unique insights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347472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298448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2E75B6"/>
                </a:solidFill>
                <a:latin typeface="Amiri"/>
              </a:rPr>
              <a:t>اكتشاف الثغرات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609344"/>
            <a:ext cx="51937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«ما الثغرات المعرفية في هذه المصادر مجتمعة؟»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920240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1">
                <a:solidFill>
                  <a:srgbClr val="CCCCCC"/>
                </a:solidFill>
                <a:latin typeface="Cambria"/>
              </a:rPr>
              <a:t>Finds research gaps — fuels new questions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86000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347472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32257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028090"/>
                </a:solidFill>
                <a:latin typeface="Amiri"/>
              </a:rPr>
              <a:t>التحليل المقارن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633472"/>
            <a:ext cx="51937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«قارن موقف المصدر الأول مع الثاني في مسألة X»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944368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1">
                <a:solidFill>
                  <a:srgbClr val="CCCCCC"/>
                </a:solidFill>
                <a:latin typeface="Cambria"/>
              </a:rPr>
              <a:t>Comparative analysis — clients pay for this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286000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286000"/>
            <a:ext cx="347472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32257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27AE60"/>
                </a:solidFill>
                <a:latin typeface="Amiri"/>
              </a:rPr>
              <a:t>الافتراضات الضمنية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633472"/>
            <a:ext cx="51937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«ما الافتراضات الضمنية في حجة المؤلف الرئيسية؟»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944368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1">
                <a:solidFill>
                  <a:srgbClr val="CCCCCC"/>
                </a:solidFill>
                <a:latin typeface="Cambria"/>
              </a:rPr>
              <a:t>Critical thinking — expert territory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10128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310128"/>
            <a:ext cx="347472" cy="86868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346704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7B3F00"/>
                </a:solidFill>
                <a:latin typeface="Amiri"/>
              </a:rPr>
              <a:t>التطبيق السياقي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657600"/>
            <a:ext cx="51937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«ما النتائج العملية الأهم للسياق اليمني/العربي؟»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968496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1">
                <a:solidFill>
                  <a:srgbClr val="CCCCCC"/>
                </a:solidFill>
                <a:latin typeface="Cambria"/>
              </a:rPr>
              <a:t>Contextual application — highest local value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310128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310128"/>
            <a:ext cx="347472" cy="868680"/>
          </a:xfrm>
          <a:prstGeom prst="rect">
            <a:avLst/>
          </a:prstGeom>
          <a:solidFill>
            <a:srgbClr val="6C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346704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6C276B"/>
                </a:solidFill>
                <a:latin typeface="Amiri"/>
              </a:rPr>
              <a:t>اختبار التحدي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657600"/>
            <a:ext cx="51937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«لو كان التقرير أمام لجنة متشككة، ما أضعف نقاطه؟»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968496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1">
                <a:solidFill>
                  <a:srgbClr val="CCCCCC"/>
                </a:solidFill>
                <a:latin typeface="Cambria"/>
              </a:rPr>
              <a:t>Adversarial testing — quality 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334256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334256"/>
            <a:ext cx="34747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370832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C0392B"/>
                </a:solidFill>
                <a:latin typeface="Amiri"/>
              </a:rPr>
              <a:t>التحقق المزدوج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681728"/>
            <a:ext cx="51937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«صنّف كل نقطة: واثق — قد تكون مغلوطة — يجب التحقق»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992624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1">
                <a:solidFill>
                  <a:srgbClr val="CCCCCC"/>
                </a:solidFill>
                <a:latin typeface="Cambria"/>
              </a:rPr>
              <a:t>Double verification — protects client trust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334256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334256"/>
            <a:ext cx="347472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4370832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الاستفسار التدريجي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681728"/>
            <a:ext cx="51937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ابدأ بالعام ثم ضيّق تدريجياً بناءً على كل إجابة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4992624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1">
                <a:solidFill>
                  <a:srgbClr val="CCCCCC"/>
                </a:solidFill>
                <a:latin typeface="Cambria"/>
              </a:rPr>
              <a:t>Progressive inquiry — builds rich context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358384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5358384"/>
            <a:ext cx="347472" cy="868680"/>
          </a:xfrm>
          <a:prstGeom prst="rect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394960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255078"/>
                </a:solidFill>
                <a:latin typeface="Amiri"/>
              </a:rPr>
              <a:t>الأسئلة السبعة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705856"/>
            <a:ext cx="51937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تلخيص · استخراج · مقارنة · تناقضات · تحليل · تطبيق · سردي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6016752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1">
                <a:solidFill>
                  <a:srgbClr val="CCCCCC"/>
                </a:solidFill>
                <a:latin typeface="Cambria"/>
              </a:rPr>
              <a:t>7 question types from Week 2 NotebookLM lecture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358384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5358384"/>
            <a:ext cx="347472" cy="868680"/>
          </a:xfrm>
          <a:prstGeom prst="rect">
            <a:avLst/>
          </a:prstGeom>
          <a:solidFill>
            <a:srgbClr val="450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5394960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450A50"/>
                </a:solidFill>
                <a:latin typeface="Amiri"/>
              </a:rPr>
              <a:t>التأطير المسبق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705856"/>
            <a:ext cx="51937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«أنا أُعدّ X للجمهور Y — سأطرح أسئلة تدريجية — ابدأ بسؤالي»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6016752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1">
                <a:solidFill>
                  <a:srgbClr val="CCCCCC"/>
                </a:solidFill>
                <a:latin typeface="Cambria"/>
              </a:rPr>
              <a:t>Prior framing — turns Claude into planning partner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تمارين المختبر — ٣ مستويات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Lab Exercises — 3 Levels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1B3A5C"/>
                </a:solidFill>
                <a:latin typeface="Amiri"/>
              </a:rPr>
              <a:t>لا قيمة لمعرفة تبقى على الورق — نفّذ كل تمرين على جهازك اليوم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3749039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3749039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600" b="1" i="0">
                <a:solidFill>
                  <a:srgbClr val="FFFFFF"/>
                </a:solidFill>
                <a:latin typeface="Amiri"/>
              </a:rPr>
              <a:t>سهل / Easy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67712"/>
            <a:ext cx="3749039" cy="3977639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95728"/>
            <a:ext cx="356615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أنشئ دفتر NotebookLM بـ ٥ مصادر عن موضوع تعرفه — طبّق ٣ أسئلة تحليلية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18688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Create a NotebookLM notebook with 5 sources — apply 3 analytical questions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3977639"/>
            <a:ext cx="3383279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4114800"/>
            <a:ext cx="356615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المخرج: ملاحظاتك على الفرق بين الأسئلة الوصفية والتحليلية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937760"/>
            <a:ext cx="356615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Output: your notes on the difference between descriptive and analytical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828800"/>
            <a:ext cx="3749039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828800"/>
            <a:ext cx="3749039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600" b="1" i="0">
                <a:solidFill>
                  <a:srgbClr val="FFFFFF"/>
                </a:solidFill>
                <a:latin typeface="Amiri"/>
              </a:rPr>
              <a:t>متوسط / 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2267712"/>
            <a:ext cx="3749039" cy="3977639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395728"/>
            <a:ext cx="356615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ابنِ سير العمل الثلاثي كاملاً على موضوع حقيقي — Perplexity + NotebookLM + 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218688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Build the full 3-tool workflow on a real topic: Perplexity + NotebookLM + Claude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53128" y="3977639"/>
            <a:ext cx="3383279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61688" y="4114800"/>
            <a:ext cx="356615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المخرج: ملخص تنفيذي ١ صفحة جاهز للتسليم لعميل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4937760"/>
            <a:ext cx="356615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Output: 1-page executive summary ready to deliver to a client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828800"/>
            <a:ext cx="3749039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828800"/>
            <a:ext cx="3749039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600" b="1" i="0">
                <a:solidFill>
                  <a:srgbClr val="FFFFFF"/>
                </a:solidFill>
                <a:latin typeface="Amiri"/>
              </a:rPr>
              <a:t>صعب / Hard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2267712"/>
            <a:ext cx="3749039" cy="3977639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2395728"/>
            <a:ext cx="356615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أنتِج تقريراً كاملاً ١٠ صفحات بالهيكل الثماني + أعِد توظيفه لـ ٣ منصات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3218688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Produce a full 10-page report with 8-part structure + repurpose to 3 platforms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03336" y="3977639"/>
            <a:ext cx="3383279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1896" y="4114800"/>
            <a:ext cx="356615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المخرج: التقرير + منشور LinkedIn + خيط X + ملخص Newsletter + خدمة على منصة مستقلين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937760"/>
            <a:ext cx="3566159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Output: Report + LinkedIn post + X thread + newsletter + posted freelance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من المعرفة إلى المهارة إلى الدخل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From Knowledge to Skill to Income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5303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C9A84C"/>
                </a:solidFill>
                <a:latin typeface="Amiri"/>
              </a:rPr>
              <a:t>«التنافس في المعرفة ليس غروراً — بل عبادة حين يكون الغرض خدمة الأمة ورزق الأسرة»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3749039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3749039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القراءة فقط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3749039" cy="267004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542032"/>
            <a:ext cx="3566159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→ قرأتَ الكتاب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00400"/>
            <a:ext cx="3566159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→ فهمتَ الأدوات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58768"/>
            <a:ext cx="3566159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→ عرفتَ النظريات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120640"/>
            <a:ext cx="3749039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5120640"/>
            <a:ext cx="3749039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miri"/>
              </a:rPr>
              <a:t>لا دخل — لا أثر — المعرفة حبيسة الذاكرة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3943" y="3310128"/>
            <a:ext cx="20116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965960"/>
            <a:ext cx="3749039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965960"/>
            <a:ext cx="3749039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التطبيق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2377440"/>
            <a:ext cx="3749039" cy="267004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2542032"/>
            <a:ext cx="3566159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→ شغّلتَ كل أداة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200400"/>
            <a:ext cx="3566159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→ بنيتَ دفاتر حقيقية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858768"/>
            <a:ext cx="3566159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→ كتبتَ تقريراً واحداً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5120640"/>
            <a:ext cx="3749039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5120640"/>
            <a:ext cx="3749039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miri"/>
              </a:rPr>
              <a:t>مهارة ناشئة — ثقة متنامية — جاهز للسوق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1" y="3310128"/>
            <a:ext cx="20116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1965960"/>
            <a:ext cx="3749039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1965960"/>
            <a:ext cx="3749039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★ الخدمة والبيع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0456" y="2377440"/>
            <a:ext cx="3749039" cy="267004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2542032"/>
            <a:ext cx="3566159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✓ نشرتَ خدمة على المنصات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3200400"/>
            <a:ext cx="3566159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✓ استقبلتَ أول عميل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3858768"/>
            <a:ext cx="3566159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0" i="0">
                <a:solidFill>
                  <a:srgbClr val="1B3A5C"/>
                </a:solidFill>
                <a:latin typeface="Amiri"/>
              </a:rPr>
              <a:t>✓ سلّمتَ أول تقرير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5120640"/>
            <a:ext cx="3749039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5120640"/>
            <a:ext cx="3749039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miri"/>
              </a:rPr>
              <a:t>دخل حقيقي — سمعة مهنية — مسيرة بدأت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760720"/>
            <a:ext cx="115488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760720"/>
            <a:ext cx="115488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1B3A5C"/>
                </a:solidFill>
                <a:latin typeface="Amiri"/>
              </a:rPr>
              <a:t>افتح NotebookLM الآن — أنشئ أول دفتر — لا يستغرق ذلك ١٠ دقائق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65760"/>
            <a:ext cx="2926080" cy="2926080"/>
          </a:xfrm>
          <a:prstGeom prst="ellipse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754880"/>
            <a:ext cx="2651760" cy="2651760"/>
          </a:xfrm>
          <a:prstGeom prst="ellipse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600" b="1" i="0">
                <a:solidFill>
                  <a:srgbClr val="C9A84C"/>
                </a:solidFill>
                <a:latin typeface="Amiri"/>
              </a:rPr>
              <a:t>﴿اقْرَأْ بِاسْمِ رَبِّكَ الَّذِي خَلَقَ﴾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1">
                <a:solidFill>
                  <a:srgbClr val="888888"/>
                </a:solidFill>
                <a:latin typeface="Cambria"/>
              </a:rPr>
              <a:t>Al-Alaq, 96:1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1664208"/>
            <a:ext cx="57881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1874519"/>
            <a:ext cx="1127455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3000" b="1" i="0">
                <a:solidFill>
                  <a:srgbClr val="FFFFFF"/>
                </a:solidFill>
                <a:latin typeface="Amiri"/>
              </a:rPr>
              <a:t>شكراً لكم — الأسبوع الثالث المسار أ اكتمل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1127455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C9A84C"/>
                </a:solidFill>
                <a:latin typeface="Cambria"/>
              </a:rPr>
              <a:t>Thank you — Week 3 Track A Complete · AI Tools for the Arabic Knowledge Worker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090672"/>
            <a:ext cx="57881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273552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0" i="0">
                <a:solidFill>
                  <a:srgbClr val="F5F0E8"/>
                </a:solidFill>
                <a:latin typeface="Amiri"/>
              </a:rPr>
              <a:t>أصبحتَ اليوم عارفاً. الأسبوع القادم ستصبح منتِجاً.
الفرق بينهما خطوة واحدة: افتح الأداة ونفّذ.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127455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0" i="1">
                <a:solidFill>
                  <a:srgbClr val="CCCCCC"/>
                </a:solidFill>
                <a:latin typeface="Cambria"/>
              </a:rPr>
              <a:t>Today you are a knower. Next week you will be a producer.
The difference is one step: open the tool and execute.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4434840"/>
            <a:ext cx="57881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617720"/>
            <a:ext cx="1127455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الأسبوع القادم: الذكاء الاصطناعي لصنّاع المحتوى — المسار (أ)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CCCCC"/>
                </a:solidFill>
                <a:latin typeface="Cambria"/>
              </a:rPr>
              <a:t>Next Week: AI for Content Creators — Track A · LLM4Yemen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96128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llm4yemen@gmail.com  ·  LLM4Yemen Program  ·  برنامج LLM4Yemen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AI Tools for the Arabic Knowledge Worker  ·  أدوات الذكاء الاصطناعي لعامل المعرفة العربي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