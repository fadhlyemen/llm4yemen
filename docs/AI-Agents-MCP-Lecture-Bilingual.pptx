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870448" y="868680"/>
            <a:ext cx="457200" cy="457200"/>
          </a:xfrm>
          <a:prstGeom prst="diamond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Amiri"/>
              </a:rPr>
              <a:t>العملاء الأذكياء وبروتوكول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Amiri"/>
              </a:rPr>
              <a:t>بناء أنظمة ذكاء اصطناعي مستقلّة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C9A84C"/>
                </a:solidFill>
                <a:latin typeface="Cambria"/>
              </a:rPr>
              <a:t>AI Agents &amp; the Model Context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Cambria"/>
              </a:rPr>
              <a:t>Building Autonomous AI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Cambria"/>
              </a:rPr>
              <a:t>LLM4Yemen Program  ·  Track B  ·  Engineering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عربي  ·  English   |   LLM4Yemen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55664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Amiri"/>
              </a:rPr>
              <a:t>بِسْمِ اللَّهِ الرَّحْمَٰنِ الرَّحِيمِ</a:t>
            </a:r>
          </a:p>
        </p:txBody>
      </p:sp>
      <p:sp>
        <p:nvSpPr>
          <p:cNvPr id="6" name="Oval 5"/>
          <p:cNvSpPr/>
          <p:nvPr/>
        </p:nvSpPr>
        <p:spPr>
          <a:xfrm>
            <a:off x="6040983" y="2596896"/>
            <a:ext cx="109728" cy="1097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Amiri"/>
              </a:rPr>
              <a:t>﴿وَقُل رَّبِّ زِدْنِي عِلْمًا﴾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6B6B6B"/>
                </a:solidFill>
                <a:latin typeface="Amiri"/>
              </a:rPr>
              <a:t>— سورة طه: ١١٤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B3A5C"/>
                </a:solidFill>
                <a:latin typeface="Cambria"/>
              </a:rPr>
              <a:t>"And say: My Lord, increase me in knowledge."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— Surat Ta-Ha, 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أهداف المحاضرة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Lecture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By the end of this week, you will be able to:    ·    بنهاية هذا الأسبوع، ستكون قادراً على: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1655064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65506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Define what makes an agent — and when NOT to build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تعريف ما يجعل البرنامج وكيلاً — ومتى لا يجب أن تبنيه أصلاً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222199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03504" y="2368296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368296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13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Implement tool calling correctly using Anthropic's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334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تنفيذ استدعاء الأدوات بشكل صحيح باستخدام Anthropic 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2935224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03504" y="3081528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08152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266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Build the ReAct loop: Plan, Act, Observe, Reflect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467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بناء حلقة الوكيل: التخطيط، الفعل، الملاحظة، التأمّل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3648456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03504" y="3794760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79476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3989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Build your own MCP server from scratch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5993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بناء خادم MCP خاصّ بك من الصفر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71600" y="4361688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03504" y="4507992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50799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531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Apply security boundaries, permissions, and human-in-the-loop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731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تطبيق حدود الأمان والصلاحيات وإبقاء الإنسان في الحلقة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71600" y="5074920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03504" y="5221224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22122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Deploy a production-grade agent and price it correctly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نشر وكيل بمستوى الإنتاج وتسعيره بشكل صحيح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خارطة الطريق — اثنا عشر فصلاً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Roadmap — Twelve Chapters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9788" y="11384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0698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What Is an Intelligent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389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ما هو الوكيل الذكي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" y="200710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93852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Tool Calling — The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استدعاء الأدوات — الأساس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788" y="287578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8072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The Agent Loop — 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127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حلقة الوكيل — ReAct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8" y="374446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67588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MCP — Why It Became the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995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MCP — لماذا أصبح المعيار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9788" y="461314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54456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Build Your First MCP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864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بناء أول خادم MCP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" y="54818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132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Existing MCP Servers &amp; Composition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332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خوادم MCP الجاهزة وتركيبها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10058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60236" y="11384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11430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8896" y="10698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Claude Code as a Coding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8896" y="1389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Claude Code كوكيل برمجة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187452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0236" y="200710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01168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68896" y="193852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Multi-Agent Patterns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8896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أنماط الوكلاء المتعدّدين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27648" y="274320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60236" y="287578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288036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8896" y="28072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Long-Term Memory for Agents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68896" y="3127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الذاكرة طويلة المدى للوكلاء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361188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60236" y="374446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37490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8896" y="367588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Safety, Limits &amp; Human-in-the-Loop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896" y="3995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الأمان والحدود والإنسان في الحلقة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448056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60236" y="461314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61772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68896" y="454456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Four Production Agent Patterns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8896" y="4864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أربعة أنماط للوكلاء الإنتاجيين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53492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60236" y="54818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54864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68896" y="54132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Economics &amp; Production Deployment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68896" y="57332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الاقتصاديّات والنَشر للإنتاج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ما هو الوكيل الذكي ومتى نحتاجه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What Is an Intelligent Agent — and When You Need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﴿وَلَا تَقْفُ مَا لَيْسَ لَكَ بِهِ عِلْمٌ ۚ إِنَّ السَّمْعَ وَالْبَصَرَ وَالْفُؤَادَ كُلُّ أُولَٰئِكَ كَانَ عَنْهُ مَسْئُولًا﴾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الإسراء: ٣٦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"Do not pursue what you have no knowledge of. Hearing, sight, and heart — all are accountable."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Al-Isra,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تعريف نظيف — أربعة عناصر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 Clean Definition — Four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1B3A5C"/>
                </a:solidFill>
                <a:latin typeface="Cambria"/>
              </a:rPr>
              <a:t>An agent is an LLM running in a loop, equipped with tools and a goal,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with the ability to decide for itself when it's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نموذج لغوي يَعمل في حلقة، يَملك أدواتٍ وهدفاً، وقدرةً على أن يُقرّر متى ينتهي.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" y="2606040"/>
            <a:ext cx="2697480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567" y="260604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567" y="278892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C9A84C"/>
                </a:solidFill>
                <a:latin typeface="Cambria"/>
              </a:rPr>
              <a:t>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474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7" y="3840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حلقة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" y="42519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Tens of model calls in sequence — each feeds the next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6927" y="2606040"/>
            <a:ext cx="2697480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6927" y="260604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6927" y="278892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2E75B6"/>
                </a:solidFill>
                <a:latin typeface="Cambria"/>
              </a:rP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4087" y="3474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4087" y="3840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أدوات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9807" y="42519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External functions the model can 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2606040"/>
            <a:ext cx="2697480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287" y="2606040"/>
            <a:ext cx="2697480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7287" y="278892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1B3A5C"/>
                </a:solidFill>
                <a:latin typeface="Cambria"/>
              </a:rPr>
              <a:t>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474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3840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هدف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42519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A task from the user — explicit or implicit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67647" y="2606040"/>
            <a:ext cx="2697480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67647" y="260604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7647" y="278892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4807" y="3474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Termination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4807" y="38404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قدرة الإنهاء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0527" y="42519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Model decides for itself: "I'm done"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74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C9A84C"/>
                </a:solidFill>
                <a:latin typeface="Cambria"/>
              </a:rPr>
              <a:t>Miss any one of these → it's not an agent.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إن غاب أحدها → فلسنا أمام وكيل.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9788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No loop = chatbot.   No tools = text generator.   No goal = idle assistant.   No termination = one-shot script.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السلسلة الثلاثيّة — Chatbot ← Assistant ←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Trinity — Chatbot vs Assistant vs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The single biggest source of confusion in 2026: most products called "agents" are actually assistants.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Property  ·  الخاصيّة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4173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4173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417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3108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Calls tools?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965960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965960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1965960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32888"/>
            <a:ext cx="3108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Has a loop?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532888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532888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One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532888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Repeated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9981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99816"/>
            <a:ext cx="3108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Who decides?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099816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099816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Human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099816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Agent itself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66744"/>
            <a:ext cx="3108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Memory?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666744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66744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Limited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66674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Across sessions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3367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33672"/>
            <a:ext cx="3108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Example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233672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ChatGPT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233672"/>
            <a:ext cx="26974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Claude w/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233672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Devin · Cursor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38928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Litmus test: did the model take ONE action and stop, or REFLECT and decide again?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الفحص الحاسم: هل اتّخذ قراراً واحداً وتوقّف، أم تأمّل وقرّر الخطوة التالية؟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متى لا تَبني وكيلاً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When You Should NOT Build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The most underrated chapter. An agent is the wrong tool when…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7498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91440" cy="7498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819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72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The path is deterministic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727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المسار حتمي ومعروف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Plain Python is cheaper, faster, and more accurate.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50008"/>
            <a:ext cx="11183112" cy="7498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50008"/>
            <a:ext cx="91440" cy="7498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140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Zero error is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1401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الخطأ المسموح صفر بالمئة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6148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Agents err by their nature. Don't ship them in surgery.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91256"/>
            <a:ext cx="11183112" cy="7498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91256"/>
            <a:ext cx="91440" cy="7498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552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One LLM call is enough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55264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استدعاء واحد للنموذج يكفي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602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If structured output solves it, no loop needed.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32504"/>
            <a:ext cx="11183112" cy="7498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32504"/>
            <a:ext cx="91440" cy="7498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056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0965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Per-task cost &gt; what user pays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965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التكلفة المتوقّعة &gt; ما يدفعه المستخدم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443984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Token math kills you fast — see Chapter 12.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73752"/>
            <a:ext cx="11183112" cy="7498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873752"/>
            <a:ext cx="91440" cy="7498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9469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Absolute trust is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الإجابة تتطلّب أمناً مطلقاً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2852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Medical diagnosis, legal rulings, large transfers — keep humans.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Always ask: do I really need a loop? Or is structured output enough?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استدعاء الأدوات — الأساس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Tool Calling — The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﴿وَأَنزَلْنَا الْحَدِيدَ فِيهِ بَأْسٌ شَدِيدٌ وَمَنَافِعُ لِلنَّاسِ﴾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الحديد: ٢٥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We sent down iron, in which is great might and benefits for the people."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Al-Hadid,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ما يحدث فعلاً عند "استدعاء الأداة"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What Actually Happens in a Tool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1B3A5C"/>
                </a:solidFill>
                <a:latin typeface="Cambria"/>
              </a:rPr>
              <a:t>An LLM cannot execute code. It only generates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النموذج لا يُنفّذ كوداً — هو يُولّد نصّاً فقط. أنت من ينفّذ.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" y="214884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267712"/>
            <a:ext cx="1280160" cy="29260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2677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mbria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67712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Send user message + tool list (as JSON Schema) to Claude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16352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" y="2862072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07792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2980944"/>
            <a:ext cx="1280160" cy="2926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298094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80944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Generates a special JSON message: "I want to call search('Sanaa')"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29584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660" y="3575304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210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3694176"/>
            <a:ext cx="1280160" cy="29260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369417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mbria"/>
              </a:rPr>
              <a:t>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694176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Parse the JSON. Call your real local function.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42816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8660" y="4288536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3425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4407408"/>
            <a:ext cx="1280160" cy="29260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440740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mbria"/>
              </a:rPr>
              <a:t>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407408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Send the function's result back to Claude in the next message.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956048"/>
            <a:ext cx="11183112" cy="594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8660" y="5001768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04748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91640" y="5120640"/>
            <a:ext cx="1280160" cy="2926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51206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Claude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120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Decides: call another tool? Or give the final answer?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C9A84C"/>
                </a:solidFill>
                <a:latin typeface="Cambria"/>
              </a:rPr>
              <a:t>Understanding this single fact solves 80% of beginner tool-calling bugs.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تشريح تعريف الأداة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Anatomy of a Tool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Every tool you give Claude is just a JSON Schema with three things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640080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640080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A84C"/>
                </a:solidFill>
                <a:latin typeface="Consolas"/>
              </a:rPr>
              <a:t>tool_definition.json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  "name": "get_weather",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"description": "Get current weather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32304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                for a city.",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"input_schema":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"type": "object",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3580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"properties":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36976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      "city":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38144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    "type": "string",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3931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CC77"/>
                </a:solidFill>
                <a:latin typeface="Consolas"/>
              </a:rPr>
              <a:t>        "description": "City name"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  },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      "unit":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42816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    "type": "string",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43984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    "enum": ["celsius",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4515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             "fahrenheit"]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 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4748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},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48656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    "required": ["city"]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9824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5099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1417320"/>
            <a:ext cx="4434840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1417320"/>
            <a:ext cx="4434840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160020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onsolas"/>
              </a:rPr>
              <a:t>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01168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What Claude calls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37744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Like a function name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3017520"/>
            <a:ext cx="4434840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3017520"/>
            <a:ext cx="4434840" cy="731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20040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E75B6"/>
                </a:solidFill>
                <a:latin typeface="Consolas"/>
              </a:rPr>
              <a:t>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61188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What it does, in plain English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97764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Claude reads this to decide WHEN to 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4617720"/>
            <a:ext cx="4434840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69480" y="4617720"/>
            <a:ext cx="4434840" cy="7315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480060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onsolas"/>
              </a:rPr>
              <a:t>input_schema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521208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JSON Schema of arguments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557784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Required vs optional · types · enums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حلقة الوكيل — خطّط، نفّذ، لاحظ، تأمّل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The Agent Loop — Plan, Act, Observe, Reflect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﴿سَنُرِيهِم آيَاتِنَا فِي الْآفَاقِ وَفِي أَنفُسِهِمْ حَتَّىٰ يَتَبَيَّنَ لَهُمْ أَنَّهُ الْحَقُّ﴾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فصّلت: ٥٣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"We will show them Our signs in the horizons and within themselves until it becomes clear it is the truth."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Fussilat, 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نمط ReAct — Reason ثم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ReAct Pattern — Reason then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From Yao et al. 2022 — the spiritual ancestor of every modern agent</a:t>
            </a:r>
          </a:p>
        </p:txBody>
      </p:sp>
      <p:sp>
        <p:nvSpPr>
          <p:cNvPr id="7" name="Oval 6"/>
          <p:cNvSpPr/>
          <p:nvPr/>
        </p:nvSpPr>
        <p:spPr>
          <a:xfrm>
            <a:off x="1485900" y="2811780"/>
            <a:ext cx="1417320" cy="1417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5900" y="30175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3832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تفكير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37033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Reason 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" y="39319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the goal</a:t>
            </a:r>
          </a:p>
        </p:txBody>
      </p:sp>
      <p:sp>
        <p:nvSpPr>
          <p:cNvPr id="12" name="Oval 11"/>
          <p:cNvSpPr/>
          <p:nvPr/>
        </p:nvSpPr>
        <p:spPr>
          <a:xfrm>
            <a:off x="5234940" y="2811780"/>
            <a:ext cx="1417320" cy="1417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940" y="30175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4940" y="33832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فعل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4940" y="37033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mbria"/>
              </a:rPr>
              <a:t>Call a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4940" y="39319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mbria"/>
              </a:rPr>
              <a:t>with arguments</a:t>
            </a:r>
          </a:p>
        </p:txBody>
      </p:sp>
      <p:sp>
        <p:nvSpPr>
          <p:cNvPr id="17" name="Oval 16"/>
          <p:cNvSpPr/>
          <p:nvPr/>
        </p:nvSpPr>
        <p:spPr>
          <a:xfrm>
            <a:off x="8983980" y="2811780"/>
            <a:ext cx="1417320" cy="1417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3980" y="30175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Observation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3980" y="33832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ملاحظة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980" y="37033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mbria"/>
              </a:rPr>
              <a:t>Read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3980" y="39319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mbria"/>
              </a:rPr>
              <a:t>the tool returned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48940" y="3520440"/>
            <a:ext cx="2240280" cy="0"/>
          </a:xfrm>
          <a:prstGeom prst="line">
            <a:avLst/>
          </a:prstGeom>
          <a:ln w="317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94760" y="3108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97980" y="3520440"/>
            <a:ext cx="2240280" cy="0"/>
          </a:xfrm>
          <a:prstGeom prst="line">
            <a:avLst/>
          </a:prstGeom>
          <a:ln w="317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43800" y="3108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92640" y="4229100"/>
            <a:ext cx="0" cy="1120140"/>
          </a:xfrm>
          <a:prstGeom prst="line">
            <a:avLst/>
          </a:prstGeom>
          <a:ln w="254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194560" y="5349240"/>
            <a:ext cx="7498080" cy="0"/>
          </a:xfrm>
          <a:prstGeom prst="line">
            <a:avLst/>
          </a:prstGeom>
          <a:ln w="254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194560" y="4229100"/>
            <a:ext cx="0" cy="1120140"/>
          </a:xfrm>
          <a:prstGeom prst="line">
            <a:avLst/>
          </a:prstGeom>
          <a:ln w="254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37760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loop until 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669280"/>
            <a:ext cx="11183112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33288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When Thought is written explicitly before each Action, model performance improves dramatically.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أربع خطوات في كلّ جولة وكيل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Four Steps in Every Agent 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2070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2377440" cy="12070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4380" y="13030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" y="13030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716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7830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خطّط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3716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Break the goal into steps. Write the plan explicitly when complex.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7830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قسّم الهدف إلى خطوات. اكتب الخطّة صراحةً للمهام المعقّدة.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11183112" cy="12070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2377440" cy="120700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4380" y="26746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" y="26746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7432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1546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Amiri"/>
              </a:rPr>
              <a:t>نفّذ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7432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Pick the next tool to call. Pass the right arguments.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546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اختر الأداة التالية. مرّر الحجج الصحيحة.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31920"/>
            <a:ext cx="11183112" cy="12070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931920"/>
            <a:ext cx="2377440" cy="12070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380" y="40462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" y="40462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1148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526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Amiri"/>
              </a:rPr>
              <a:t>لاحظ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1148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Read the tool result carefully. Check for errors and edge cases.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5262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اقرأ نتيجة الأداة بعناية. افحص الأخطاء والحالات الحدّيّة.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03520"/>
            <a:ext cx="11183112" cy="12070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303520"/>
            <a:ext cx="2377440" cy="120700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4380" y="54178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" y="5417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486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Reflect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8978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تأمّل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4864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Did this work? Should I retry, change approach, or terminate?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8978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هل نجح؟ هل أعيد المحاولة، أغيّر الطريقة، أم أُنهي؟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بروتوكول MCP — لماذا أصبح المعيار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MCP — The Model Context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﴿وَمَا مِن دَابَّةٍ فِي الْأَرْضِ إِلَّا عَلَى اللَّهِ رِزْقُهَا وَيَعْلَمُ مُسْتَقَرَّهَا وَمُسْتَوْدَعَهَا ۚ كُلٌّ فِي كِتَابٍ مُّبِينٍ﴾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هود: 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"All things — in a clear record. A unified protocol is what separates order from chaos."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Hud,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المشكلة قبل MCP — التشظّي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Problem Before MCP — Fragmentation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1B3A5C"/>
                </a:solidFill>
                <a:latin typeface="Cambria"/>
              </a:rPr>
              <a:t>In 2023–24, every framework reinvented the wheel.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في ٢٠٢٣-٢٤، كلّ إطار عمل أعاد اختراع العجلة.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440680" cy="4114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54406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BEFORE  ·  قبل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Each framework has its own tool API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•  LangChain, LlamaIndex, CrewAI, AutoGen — all different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A great Slack tool for LangChain is useless in AutoGen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Engineers rewrite the same code 10× over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1">
                <a:solidFill>
                  <a:srgbClr val="C9A84C"/>
                </a:solidFill>
                <a:latin typeface="Cambria"/>
              </a:rPr>
              <a:t>•  Vendor lock-in. Brittle integrations. Wasted weeks.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5440680" cy="4114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6712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AFTER  ·  بعد MCP (نوفمبر ٢٠٢٤)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One protocol. JSON-RPC 2.0.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•  Anthropic announced Nov 2024 → adopted by OpenAI (Mar '25), Google (Jun '25), Microsoft (Sep '25)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Write a server once → use it from any client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~1,500 community servers on GitHub by 2026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1">
                <a:solidFill>
                  <a:srgbClr val="1B3A5C"/>
                </a:solidFill>
                <a:latin typeface="Cambria"/>
              </a:rPr>
              <a:t>•  MCP is the HTTP of agents.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العناصر الثلاثة في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Three MCP Primitives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987" y="1097280"/>
            <a:ext cx="3703320" cy="4983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987" y="109728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9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mbria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9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أدوات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987" y="237744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C9A84C"/>
                </a:solidFill>
                <a:latin typeface="Cambria"/>
              </a:rP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32918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What the model executes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37033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ينفّذها النموذج بقراره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5187" y="4206240"/>
            <a:ext cx="278892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867" y="43434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587" y="470916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send_email · query_db · create_issue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187" y="1097280"/>
            <a:ext cx="3703320" cy="4983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4187" y="109728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41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41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موارد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4187" y="237744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E75B6"/>
                </a:solidFill>
                <a:latin typeface="Cambria"/>
              </a:rPr>
              <a:t>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7067" y="32918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What the model reads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7067" y="37033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2E75B6"/>
                </a:solidFill>
                <a:latin typeface="Amiri"/>
              </a:rPr>
              <a:t>يَقرؤها النموذج (لا ينفّذها)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01387" y="4206240"/>
            <a:ext cx="278892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27067" y="43434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Examples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2787" y="470916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file://README.md · slack://general · db://users/12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0387" y="1097280"/>
            <a:ext cx="3703320" cy="4983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0387" y="109728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03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03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موجّهات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0387" y="237744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1B3A5C"/>
                </a:solidFill>
                <a:latin typeface="Cambria"/>
              </a:rPr>
              <a:t>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3267" y="32918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What the user invokes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3267" y="37033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يستدعيها المستخدم بأمر صريح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87587" y="4206240"/>
            <a:ext cx="278892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313267" y="43434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Examples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8987" y="470916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/code-review PR-123  →  ready-made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Consolas"/>
              </a:rPr>
              <a:t>Same protocol — JSON-RPC 2.0. Different verbs: call_tool · read_resource · get_prompt.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بناء أوّل خادم MCP من الصفر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Build Your First MCP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﴿وَإِذَا قِيلَ لَهُمْ لَا تُفْسِدُوا فِي الْأَرْضِ قَالُوا إِنَّمَا نَحْنُ مُصْلِحُونَ﴾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البقرة: ١١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"Build a server where you are truly among the rectifiers: clear, tested, secure, documented."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Al-Baqarah,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المشروع الثاني — خادم إدارة المهام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Project 2 — A Task Manager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We'll build it incrementally — Chapters 5 → 12 expand the same codebase.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23774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1183112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Chapter 5 — Initial Scope  ·  المرحلة الأولى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Create / read / update / delete a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Search tasks by title or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6265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Persist to disk as a JSON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4670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Cambria"/>
              </a:rPr>
              <a:t>•  Connect to Claude Desktop via local stdio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11183112" cy="2011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11183112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33087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We'll Add Later  ·  ما سنُضيفه لاحقاً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Permission layer (Chapter 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—  طبقة الإذن (الفصل العاشر)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Long-term memory (Chapter 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—  ذاكرة طويلة المدى (الفصل التاسع)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Production deployment (Chapter 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—  النشر للإنتاج (الفصل ١٢)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بنية المشروع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943600" cy="5029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9436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onsolas"/>
              </a:rPr>
              <a:t>task_mcp_server/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├──  pyproject.toml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├──  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├──  src/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│   └──  task_mcp/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│       ├──  __init__.py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│       ├──  server.py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63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ACC77"/>
                </a:solidFill>
                <a:latin typeface="Consolas"/>
              </a:rPr>
              <a:t>  # entry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│       ├──  storage.py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337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ACC77"/>
                </a:solidFill>
                <a:latin typeface="Consolas"/>
              </a:rPr>
              <a:t>  # JSON persist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6C06E"/>
                </a:solidFill>
                <a:latin typeface="Consolas"/>
              </a:rPr>
              <a:t>│       └──  models.py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611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ACC77"/>
                </a:solidFill>
                <a:latin typeface="Consolas"/>
              </a:rPr>
              <a:t>  # Task, TaskList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B6E8"/>
                </a:solidFill>
                <a:latin typeface="Consolas"/>
              </a:rPr>
              <a:t>└──  tests/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60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0E0E0"/>
                </a:solidFill>
                <a:latin typeface="Consolas"/>
              </a:rPr>
              <a:t>    └──  test_storage.py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1188720"/>
            <a:ext cx="4892040" cy="1600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1188720"/>
            <a:ext cx="91440" cy="1600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32588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onsolas"/>
              </a:rPr>
              <a:t>server.py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69164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Entry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0574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MCP server initialization, tool registration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37744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نقطة الدخول — تسجيل الأدوات وبدء الخادم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2971800"/>
            <a:ext cx="4892040" cy="1600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12280" y="2971800"/>
            <a:ext cx="91440" cy="1600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1089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5B6"/>
                </a:solidFill>
                <a:latin typeface="Consolas"/>
              </a:rPr>
              <a:t>storage.py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4747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84048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Read/write task list from JSON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1605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قراءة وكتابة قائمة المهام من ملفّ JSON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4754880"/>
            <a:ext cx="4892040" cy="16002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12280" y="4754880"/>
            <a:ext cx="91440" cy="1600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89204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onsolas"/>
              </a:rPr>
              <a:t>models.py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2578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Data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6235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Task and TaskList dataclasses with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9436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نماذج البيانات: Task و TaskList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خوادم MCP الجاهزة وتركيبها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Existing MCP Servers — Composition Over Reinvention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﴿يَا أَيُّهَا النَّاسُ إِنَّا خَلَقْنَاكُم مِّن ذَكَرٍ وَأُنثَىٰ وَجَعَلْنَاكُمْ شُعُوبًا وَقَبَائِلَ لِتَعَارَفُوا﴾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الحجرات: ١٣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"O mankind, We made you peoples and tribes that you may know one another."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Al-Hujurat,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منظومة MCP في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MCP Ecosystem in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0" b="1" i="0">
                <a:solidFill>
                  <a:srgbClr val="C9A84C"/>
                </a:solidFill>
                <a:latin typeface="Cambria"/>
              </a:rPr>
              <a:t>~1,500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1B3A5C"/>
                </a:solidFill>
                <a:latin typeface="Cambria"/>
              </a:rPr>
              <a:t>community MCP servers on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خادم MCP مجتمعيّ على GitHub في ٢٠٢٦</a:t>
            </a:r>
          </a:p>
        </p:txBody>
      </p:sp>
      <p:sp>
        <p:nvSpPr>
          <p:cNvPr id="9" name="Rectangle 8"/>
          <p:cNvSpPr/>
          <p:nvPr/>
        </p:nvSpPr>
        <p:spPr>
          <a:xfrm>
            <a:off x="357987" y="3520440"/>
            <a:ext cx="370332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7987" y="3520440"/>
            <a:ext cx="3703320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987" y="356616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Official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4023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رسميّة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67" y="44348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~15 from Anthropic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867" y="484632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Filesystem · GitHub · Slack · Memory · Brave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4187" y="3520440"/>
            <a:ext cx="370332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4187" y="3520440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4187" y="356616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Commercial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7067" y="4023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تجاريّة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7067" y="44348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Major SaaS vendors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7067" y="484632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Notion · Linear · Asana · Stripe · Google Workspace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0387" y="3520440"/>
            <a:ext cx="370332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0387" y="3520440"/>
            <a:ext cx="370332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0387" y="356616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3267" y="4023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مجتمعيّة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3267" y="44348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Open-source contributors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3267" y="484632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Database connectors · domain-specific tools · niche APIs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C9A84C"/>
                </a:solidFill>
                <a:latin typeface="Cambria"/>
              </a:rPr>
              <a:t>You no longer have an excuse to write a Slack server from scratch — it exists, tested, optimized.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خادم Filesystem — الأكثر استخداماً والأكثر خطراً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Filesystem Server — Most Common, Most Dangerous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6400800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64008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What it does  ·  ما يفعله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read_file(path)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قراءة ملفّ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write_file(path, body)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كتابة ملفّ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list_directory(path)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97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قائمة الملفّات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create_directory(path)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إنشاء مجلَّد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delete_file(path)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03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حذف ملفّ 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move_file(src, dst)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نقل / إعادة تسمية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search_files(path, ptn)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709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بحث عن ملفّ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097280"/>
            <a:ext cx="4526280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78040" y="1097280"/>
            <a:ext cx="4526280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161288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⚠  Security Model  ·  النموذج الأمني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691640"/>
            <a:ext cx="3977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Server takes one or more allowed directories at startup.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Refuses any operation outside them.</a:t>
            </a:r>
          </a:p>
          <a:p>
            <a:pPr algn="l" rtl="1">
              <a:lnSpc>
                <a:spcPct val="120000"/>
              </a:lnSpc>
              <a:spcBef>
                <a:spcPts val="1200"/>
              </a:spcBef>
            </a:pPr>
            <a:r>
              <a:rPr sz="1200" b="0" i="0">
                <a:solidFill>
                  <a:srgbClr val="C9A84C"/>
                </a:solidFill>
                <a:latin typeface="Amiri"/>
              </a:rPr>
              <a:t>يَأخذ مجلّداً واحداً (أو أكثر) عند بدء التشغيل، ويرفض أيّ عمليّة خارجها.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</a:pPr>
            <a:r>
              <a:rPr sz="1100" b="1" i="1">
                <a:solidFill>
                  <a:srgbClr val="1B3A5C"/>
                </a:solidFill>
                <a:latin typeface="Cambria"/>
              </a:rPr>
              <a:t>Example startup config: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00" b="0" i="0">
                <a:solidFill>
                  <a:srgbClr val="1C1C1C"/>
                </a:solidFill>
                <a:latin typeface="Consolas"/>
              </a:rPr>
              <a:t>"args": [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  "-y",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  "@modelcontextprotocol/server-filesystem",</a:t>
            </a:r>
          </a:p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B3A5C"/>
                </a:solidFill>
                <a:latin typeface="Consolas"/>
              </a:rPr>
              <a:t>  "/Users/fadhl/projects/"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C1C1C"/>
                </a:solidFill>
                <a:latin typeface="Consolas"/>
              </a:rPr>
              <a:t>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Never start a filesystem server with root "/" — chapter 10 explains why this is the #1 agent disaster.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Claude Code كوكيل برمجة كامل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Claude Code as a Coding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﴿وَقُل رَّبِّ زِدْنِي عِلْمًا﴾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طه: ١١٤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"Use a powerful coding agent to grow in knowledge — not to abandon it."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Ta-Ha, 114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نموذج "المهندس في الحلقة"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Claude Code's Model — Developer-in-the-Loop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Claude Code is not autonomous. It collaborates with the engineer. The difference matters.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Question  ·  السؤال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5087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Devin / AutoGPT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50876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Claude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11183112" cy="548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Who writes most code?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Cambria"/>
              </a:rP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05740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Who reviews?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517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Cambria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6517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Engineer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46120"/>
            <a:ext cx="11183112" cy="548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Who decides to execute?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246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Cambria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24612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Engineer (approves)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404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Manual edits during run?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840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Cambria"/>
              </a:rPr>
              <a:t>Rare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8404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Common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34840"/>
            <a:ext cx="11183112" cy="548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Oversight cadence?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4348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Cambria"/>
              </a:rPr>
              <a:t>At the 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3484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Every commit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66360"/>
            <a:ext cx="11183112" cy="10972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8523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Human oversight is not a flaw of Claude Code's design — it's the feature.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المراقبة البشريّة ليست عيباً، بل ميزة — في ٢٠٢٦، الوكيل المستقلّ تماماً ما زال غير عمليّ.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أنماط الوكلاء المتعدّدين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Multi-Agent 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﴿وَتَعَاوَنُوا عَلَى الْبِرِّ وَالتَّقْوَىٰ ۖ وَلَا تَعَاوَنُوا عَلَى الْإِثْمِ وَالْعُدْوَانِ﴾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المائدة: 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cooperate in righteousness, but not in sin and aggression."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Al-Ma'idah,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متى يَلزم أكثر من وكيل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When You Need More Than One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Three signals — and one warning</a:t>
            </a:r>
          </a:p>
        </p:txBody>
      </p:sp>
      <p:sp>
        <p:nvSpPr>
          <p:cNvPr id="7" name="Oval 6"/>
          <p:cNvSpPr/>
          <p:nvPr/>
        </p:nvSpPr>
        <p:spPr>
          <a:xfrm>
            <a:off x="662940" y="166878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" y="16687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508760"/>
            <a:ext cx="10012680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Task doesn't fit one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المهمّة لا تتّسع في حلقة واحدة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11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Past ~30 turns in a single agent, context starts to fray.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" y="27660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" y="27660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606040"/>
            <a:ext cx="10012680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Skills are radically different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مهارات مختلفة جذريّاً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108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Research + Write + Edit = three skills. One agent does all three poorly.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" y="38633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" y="38633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3703320"/>
            <a:ext cx="10012680" cy="960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Steps can run in 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94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الخطوات قابلة للتوازي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206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Three parallel researchers finish faster than three sequential ones.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11183112" cy="11887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93792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But don't rush. Each extra agent doubles cost, complexity, and failure surface.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ولكن لا تَستعجل. كلّ وكيل إضافيّ يُضاعف التكلفة والتعقيد ومساحة الفشل.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نَمطان أساسيّان — Supervisor مقابل Peer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Two Core Patterns — Supervisor vs Peer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4846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Supervisor → Workers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8860" y="1874519"/>
            <a:ext cx="18288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8860" y="1874519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Supervisor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554480.0" y="2377439"/>
            <a:ext cx="1668780.0" cy="594360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68680" y="2971799"/>
            <a:ext cx="13716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79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Research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177540.0" y="2377439"/>
            <a:ext cx="45720.0" cy="594360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491740" y="2971799"/>
            <a:ext cx="13716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1740" y="297179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mbria"/>
              </a:rPr>
              <a:t>Write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23260" y="2377439"/>
            <a:ext cx="1577340.0" cy="594360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0" y="2971799"/>
            <a:ext cx="13716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97179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•  Supervisor doesn't execute — only plans + evaluates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100" b="0" i="0">
                <a:solidFill>
                  <a:srgbClr val="1C1C1C"/>
                </a:solidFill>
                <a:latin typeface="Cambria"/>
              </a:rPr>
              <a:t>•  Workers are specialists; each has its own tools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100" b="0" i="0">
                <a:solidFill>
                  <a:srgbClr val="1C1C1C"/>
                </a:solidFill>
                <a:latin typeface="Cambria"/>
              </a:rPr>
              <a:t>•  Every result returns to supervisor → next decision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100" b="1" i="1">
                <a:solidFill>
                  <a:srgbClr val="1B3A5C"/>
                </a:solidFill>
                <a:latin typeface="Cambria"/>
              </a:rPr>
              <a:t>Best for structured tasks: research → write → review.</a:t>
            </a:r>
          </a:p>
          <a:p>
            <a:pPr algn="l" rtl="1">
              <a:lnSpc>
                <a:spcPct val="120000"/>
              </a:lnSpc>
              <a:spcBef>
                <a:spcPts val="600"/>
              </a:spcBef>
            </a:pPr>
            <a:r>
              <a:rPr sz="1100" b="0" i="0">
                <a:solidFill>
                  <a:srgbClr val="C9A84C"/>
                </a:solidFill>
                <a:latin typeface="Amiri"/>
              </a:rPr>
              <a:t>الأنسب للمهام الهيكليّة الواضحة.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097280"/>
            <a:ext cx="5440680" cy="4846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097280"/>
            <a:ext cx="544068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6128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C9A84C"/>
                </a:solidFill>
                <a:latin typeface="Cambria"/>
              </a:rPr>
              <a:t>Peer-to-Peer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74519"/>
            <a:ext cx="13716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8745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Agent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38360" y="1874519"/>
            <a:ext cx="13716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8745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mbria"/>
              </a:rPr>
              <a:t>Agent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971799"/>
            <a:ext cx="13716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97179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Agent 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2971799"/>
            <a:ext cx="13716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97179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Agent 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35240" y="2103119"/>
            <a:ext cx="2788920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35240" y="2103119"/>
            <a:ext cx="0" cy="109728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35240" y="2103119"/>
            <a:ext cx="2788920" cy="109728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635240" y="2103119"/>
            <a:ext cx="2788920" cy="109728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24160" y="2103119"/>
            <a:ext cx="0" cy="109728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35240" y="3200399"/>
            <a:ext cx="2788920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0" y="38404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•  Each agent talks directly to the others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100" b="0" i="0">
                <a:solidFill>
                  <a:srgbClr val="1C1C1C"/>
                </a:solidFill>
                <a:latin typeface="Cambria"/>
              </a:rPr>
              <a:t>•  No fixed supervisor — emergent coordination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100" b="0" i="0">
                <a:solidFill>
                  <a:srgbClr val="1C1C1C"/>
                </a:solidFill>
                <a:latin typeface="Cambria"/>
              </a:rPr>
              <a:t>•  Higher cost but more creative outputs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100" b="1" i="1">
                <a:solidFill>
                  <a:srgbClr val="1B3A5C"/>
                </a:solidFill>
                <a:latin typeface="Cambria"/>
              </a:rPr>
              <a:t>Best for open-ended, creative tasks.</a:t>
            </a:r>
          </a:p>
          <a:p>
            <a:pPr algn="l" rtl="1">
              <a:lnSpc>
                <a:spcPct val="120000"/>
              </a:lnSpc>
              <a:spcBef>
                <a:spcPts val="600"/>
              </a:spcBef>
            </a:pPr>
            <a:r>
              <a:rPr sz="1100" b="0" i="0">
                <a:solidFill>
                  <a:srgbClr val="C9A84C"/>
                </a:solidFill>
                <a:latin typeface="Amiri"/>
              </a:rPr>
              <a:t>الأنسب للمهام المفتوحة والإبداعيّة.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الذاكرة طويلة المدى للوكلاء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Long-Term Memory for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﴿وَاذْكُر رَّبَّكَ إِذَا نَسِيتَ﴾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الكهف: ٢٤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remember your Lord when you forget."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Al-Kahf,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ثَلاثة أنواع من ذاكرة الوكيل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Types of Agent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Borrowed from cognitive psychology — and they all 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987" y="1508760"/>
            <a:ext cx="3703320" cy="4526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987" y="150876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987" y="158191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987" y="21488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العاملة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27889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What's in the context window right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32918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ما هو في نافذة السياق الآن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5187" y="4114800"/>
            <a:ext cx="278892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867" y="429768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Disappears at session end · ~200K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4187" y="1508760"/>
            <a:ext cx="3703320" cy="4526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4187" y="150876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4187" y="158191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Episodic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4187" y="21488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الحدثيّة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7067" y="27889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What happened in past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7067" y="32918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2E75B6"/>
                </a:solidFill>
                <a:latin typeface="Amiri"/>
              </a:rPr>
              <a:t>ما حدث في جلسات سابقة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1387" y="4114800"/>
            <a:ext cx="2788920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27067" y="429768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Stored in DB · queryable by user /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0387" y="1508760"/>
            <a:ext cx="3703320" cy="4526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0387" y="150876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0387" y="158191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Semantic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0387" y="214884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الدلاليّة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3267" y="27889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Facts about user / 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3267" y="32918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حقائق عن المستخدم أو المجال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87587" y="4114800"/>
            <a:ext cx="2788920" cy="0"/>
          </a:xfrm>
          <a:prstGeom prst="line">
            <a:avLst/>
          </a:prstGeom>
          <a:ln w="1270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3267" y="429768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Stored as separate facts · "User prefers Arabic"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٢٠٠ ألف توكن لا تَكفي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200K Tokens Isn't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1B3A5C"/>
                </a:solidFill>
                <a:latin typeface="Cambria"/>
              </a:rPr>
              <a:t>200K tokens looks huge. In practice, it runs out 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11183112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91440" cy="8686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Long sessions burn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الجلسات الطويلة تَستهلكها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60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A 2-hour coding session can chew up 150K 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63240"/>
            <a:ext cx="11183112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91440" cy="8686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54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Reload cost is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تكلفة إعادة التحميل حقيقيّة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Re-uploading everything next session = ~$5 per restart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23360"/>
            <a:ext cx="11183112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23360"/>
            <a:ext cx="91440" cy="8686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14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Some facts are forever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بعض الحقائق دائمة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User preferences shouldn't ride in context every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440680"/>
            <a:ext cx="11183112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504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The fix: extract what's worth remembering, ignore the rest.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الحلّ: استخرج ما يستحقّ التذكّر، وتجاهل البقيّة.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الأمان والحدود والإنسان في الحلقة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Safety, Limits &amp; Human-in-the-Loop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﴿إِنَّ اللَّهَ يَأْمُرُكُمْ أَن تُؤَدُّوا الْأَمَانَاتِ إِلَىٰ أَهْلِهَا وَإِذَا حَكَمْتُم بَيْنَ النَّاسِ أَن تَحْكُمُوا بِالْعَدْلِ﴾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النساء: ٥٨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"Allah commands you to render trusts to whom they are due and to judge with justice."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An-Nisa, 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ثَلاثة أنماط فشل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Three Failure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Most agent disasters in 2026 are not intelligence failures — they're boundary failures.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" y="15773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15773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Dishonesty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عدم الصدق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96596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Agent says "email sent" when it failed to send.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04288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يَقول "أرسلتُ البريد" بينما لم يُرسله.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60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→ Hide failures · invent results · fake completion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7180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660" y="30861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" y="30861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Over-action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63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الفعل المُفرط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47472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Asked to sort emails — deleted some.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813048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طُلب منه ترتيب البريد، فحَذف بعضه.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69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→ Exceeds requested scope · acts on its own initiative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8056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8660" y="45948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" y="45948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572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Prompt Injection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5720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حقن الموجّه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98348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A poisoned file embeds new instructions for the agent.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321808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ملفّ ملوّث يَحوي تعليمات للوكيل تُخالف ما يريده المستخدم.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778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→ Most dangerous · agent treats injected text as system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نَموذج الإذن — أَربعة مستويات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Permission Model — Four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Pick the right level per tool. The default should never be "allow all."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10789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2377440" cy="10789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Auto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756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تلقائي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73352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Read-only ops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0312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Search, list files, read URLs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79192"/>
            <a:ext cx="11183112" cy="10789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79192"/>
            <a:ext cx="2377440" cy="10789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620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Ask on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سؤال عند الكتابة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843784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Confirm before any side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273552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Send email, edit file, create row — human approves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49624"/>
            <a:ext cx="11183112" cy="10789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49624"/>
            <a:ext cx="2377440" cy="10789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3250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Ask Always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165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سؤال دائماً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014216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Confirm even on 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443984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For sensitive data — medical, financial, legal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0056"/>
            <a:ext cx="11183112" cy="10789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020056"/>
            <a:ext cx="2377440" cy="1078992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0293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Forbidden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869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ممنوع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18464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Tool is blocked entirely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614416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Delete, transfer money, send public messages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أَربعة أَنماط للوكلاء الإنتاجيّين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Four Production Agent 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﴿وَقُلِ اعْمَلُوا فَسَيَرَى اللَّهُ عَمَلَكُمْ وَرَسُولُهُ وَالْمُؤْمِنُونَ﴾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التوبة: ١٠٥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"Say: work — and Allah will see your work, and so will His Messenger and the believers."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At-Tawbah, 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أَربعة أَنماط — نَظرة شاملة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Four Patterns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These four cover ~80% of real production deployments in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440680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Research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وكيل بحث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Answers questions with cited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web_search · read_url · search_memory · final_answer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→ $200–500 /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5440680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440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Email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81912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وكيل فرز البريد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031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Sorts inbox, drafts replies, escalates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6032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list_emails · classify · draft_reply ·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E75B6"/>
                </a:solidFill>
                <a:latin typeface="Cambria"/>
              </a:rPr>
              <a:t>→ $300–800 / 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59352"/>
            <a:ext cx="5440680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59352"/>
            <a:ext cx="544068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32504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Data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32504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miri"/>
              </a:rPr>
              <a:t>وكيل تحليل بيانات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5371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Analyzes data and writes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10912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39512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load_data · query_sql · plot · write_report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4243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1B3A5C"/>
                </a:solidFill>
                <a:latin typeface="Cambria"/>
              </a:rPr>
              <a:t>→ $500–2,000 / project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59352"/>
            <a:ext cx="5440680" cy="2286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959352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32504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Customer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32504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وكيل خدمة العملاء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55371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Answers customers + escalates to humans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010912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Tools: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239512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onsolas"/>
              </a:rPr>
              <a:t>lookup_order · answer_faq · escalate · log_ticket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74243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→ $1,000–3,000 / 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النمط ١ — وكيل البحث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Pattern 1 — The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37744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User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50876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5087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Research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508760"/>
            <a:ext cx="237744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5087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Sourced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554480"/>
            <a:ext cx="411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554480"/>
            <a:ext cx="411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31720"/>
            <a:ext cx="128016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</a:rPr>
              <a:t>web_search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331720"/>
            <a:ext cx="128016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331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</a:rPr>
              <a:t>read_url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331720"/>
            <a:ext cx="128016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31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</a:rPr>
              <a:t>search_memory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2331720"/>
            <a:ext cx="128016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331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onsolas"/>
              </a:rPr>
              <a:t>final_answer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20440"/>
            <a:ext cx="11183112" cy="2697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520440"/>
            <a:ext cx="11183112" cy="4114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84448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Common mistakes — and the fixes  ·  أخطاء شائعة وحلولها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69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0873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No source attribution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0873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لا توثيق للمصادر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1148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Force the agent to cite URLs in every claim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54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7731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Loops forever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7731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حلقة لا تنتهي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8006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Hard cap at 10 turns · stop on duplicate searches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458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Hallucinates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4589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يَخترع نتائج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4864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Ground every fact in a tool call · refuse to guess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النمط ٢ — وكيل فَرز البريد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Pattern 2 — Email Triage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987" y="1188720"/>
            <a:ext cx="3703320" cy="2697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987" y="1188720"/>
            <a:ext cx="370332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12344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1.  Read inbox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17830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2E75B6"/>
                </a:solidFill>
                <a:latin typeface="Amiri"/>
              </a:rPr>
              <a:t>قراءة البريد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" y="237744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list_emails(unread=True)
→ batch of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9595" y="2057400"/>
            <a:ext cx="18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4187" y="1188720"/>
            <a:ext cx="3703320" cy="2697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4187" y="1188720"/>
            <a:ext cx="370332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5627" y="12344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2.  Classify 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7067" y="17830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تصنيف كلّ رسالة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8507" y="237744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Categories: urgent · normal
· spam · needs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5795" y="2057400"/>
            <a:ext cx="18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0387" y="1188720"/>
            <a:ext cx="3703320" cy="2697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0387" y="1188720"/>
            <a:ext cx="370332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827" y="12344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3.  Act per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3267" y="17830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الفعل حسب التصنيف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4707" y="237744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Reply · escalate · archive
· flag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60520"/>
            <a:ext cx="11183112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160520"/>
            <a:ext cx="11183112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24528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What it saves a freelancer  ·  ما يوفّره للمستقلّ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54880"/>
            <a:ext cx="36057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C9A84C"/>
                </a:solidFill>
                <a:latin typeface="Cambria"/>
              </a:rPr>
              <a:t>20–30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3605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Hours saved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1584" y="4754880"/>
            <a:ext cx="36057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C9A84C"/>
                </a:solidFill>
                <a:latin typeface="Cambria"/>
              </a:rPr>
              <a:t>5 hrs → 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1584" y="5440680"/>
            <a:ext cx="3605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Reply latency drop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7368" y="4754880"/>
            <a:ext cx="36057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C9A84C"/>
                </a:solidFill>
                <a:latin typeface="Cambria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7368" y="5440680"/>
            <a:ext cx="3605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Missed urgent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Permission level: Ask-on-Write for replies, Auto for classification.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النَمطان ٣ و 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Patterns 3 &amp; 4 — Data Analysis + Customer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4937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3.  Data Analysis  ·  تحليل بيانات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What it does: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1">
                <a:solidFill>
                  <a:srgbClr val="6B6B6B"/>
                </a:solidFill>
                <a:latin typeface="Cambria"/>
              </a:rPr>
              <a:t>Loads CSV / DB → finds patterns → produces a written report with charts.</a:t>
            </a:r>
          </a:p>
          <a:p>
            <a:pPr algn="l" rtl="1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C9A84C"/>
                </a:solidFill>
                <a:latin typeface="Amiri"/>
              </a:rPr>
              <a:t>ينتج تقريراً مكتوباً مع رسومات.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0">
                <a:solidFill>
                  <a:srgbClr val="1B3A5C"/>
                </a:solidFill>
                <a:latin typeface="Cambria"/>
              </a:rPr>
              <a:t>Tools: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1B3A5C"/>
                </a:solidFill>
                <a:latin typeface="Consolas"/>
              </a:rPr>
              <a:t>load_data · query_sql · plot · write_report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0">
                <a:solidFill>
                  <a:srgbClr val="C9A84C"/>
                </a:solidFill>
                <a:latin typeface="Cambria"/>
              </a:rPr>
              <a:t>Common failure: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1">
                <a:solidFill>
                  <a:srgbClr val="1C1C1C"/>
                </a:solidFill>
                <a:latin typeface="Cambria"/>
              </a:rPr>
              <a:t>Confidently wrong statistics. Always check sample size and outliers.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1">
                <a:solidFill>
                  <a:srgbClr val="1B3A5C"/>
                </a:solidFill>
                <a:latin typeface="Cambria"/>
              </a:rPr>
              <a:t>Selling price: $500–2,000 per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440680" cy="49377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6128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4.  Customer Service  ·  خدمة العملاء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8920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What it does: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1">
                <a:solidFill>
                  <a:srgbClr val="6B6B6B"/>
                </a:solidFill>
                <a:latin typeface="Cambria"/>
              </a:rPr>
              <a:t>Answers customer questions, looks up orders, escalates when stuck.</a:t>
            </a:r>
          </a:p>
          <a:p>
            <a:pPr algn="l" rtl="1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C9A84C"/>
                </a:solidFill>
                <a:latin typeface="Amiri"/>
              </a:rPr>
              <a:t>يُجيب الزبون، يَبحث في الطلبات، ويُصعّد للبشر عند الحاجة.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0">
                <a:solidFill>
                  <a:srgbClr val="1B3A5C"/>
                </a:solidFill>
                <a:latin typeface="Cambria"/>
              </a:rPr>
              <a:t>Tools: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1B3A5C"/>
                </a:solidFill>
                <a:latin typeface="Consolas"/>
              </a:rPr>
              <a:t>lookup_order · answer_faq · escalate · log_ticket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0">
                <a:solidFill>
                  <a:srgbClr val="C9A84C"/>
                </a:solidFill>
                <a:latin typeface="Cambria"/>
              </a:rPr>
              <a:t>Critical rule: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1">
                <a:solidFill>
                  <a:srgbClr val="1C1C1C"/>
                </a:solidFill>
                <a:latin typeface="Cambria"/>
              </a:rPr>
              <a:t>Easy escalation path. Never trap the customer in agent loop.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200" b="1" i="1">
                <a:solidFill>
                  <a:srgbClr val="1B3A5C"/>
                </a:solidFill>
                <a:latin typeface="Cambria"/>
              </a:rPr>
              <a:t>Selling price: $1,000–3,000 / month retainer.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miri"/>
              </a:rPr>
              <a:t>اقتصاديّات الوكلاء والنَشر للإنتاج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Economics &amp; Production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﴿وَلَا تُسْرِفُوا ۚ إِنَّهُ لَا يُحِبُّ الْمُسْرِفِينَ﴾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الأنعام: ١٤١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do not be wasteful — He does not love the wasteful."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Al-An'am, 141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معادلة التكلفة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Cost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Total cost = (input + output tokens) × turns × parallel calls × pricing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783080"/>
            <a:ext cx="8531352" cy="10972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E6C06E"/>
                </a:solidFill>
                <a:latin typeface="Consolas"/>
              </a:rPr>
              <a:t>(input_tokens + output_tokens)  ×  turns  ×  parallel  × 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ACC77"/>
                </a:solidFill>
                <a:latin typeface="Consolas"/>
              </a:rPr>
              <a:t>Claude Sonnet 4.6 (2026):  $3 / M-input,  $15 / M-output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567" y="3200400"/>
            <a:ext cx="2697480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567" y="320040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27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onsolas"/>
              </a:rPr>
              <a:t>input +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7" y="3794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حجم التوكنات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727" y="4251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Per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6927" y="3200400"/>
            <a:ext cx="2697480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6927" y="32004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4087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onsolas"/>
              </a:rPr>
              <a:t>× turns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4087" y="3794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× عدد الجولات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4087" y="4251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Inputs accumulate every loop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3200400"/>
            <a:ext cx="2697480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7287" y="320040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447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onsolas"/>
              </a:rPr>
              <a:t>× 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3794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× التوازي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251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Multi-agent multiplies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67647" y="3200400"/>
            <a:ext cx="2697480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7647" y="32004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4807" y="3383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onsolas"/>
              </a:rPr>
              <a:t>×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4807" y="3794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× السعر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4807" y="4251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Choose model wisely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578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Lesson: a $0.014 single call becomes $1+ inside a multi-agent system.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ما يُكلّف ١٫٤ سنتاً في استدعاء واحد قد يُصبح ١٠٥ سنتات في وكيل متعدّد.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سُلّم التكلفة — من $0.014 إلى $1.05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Cost Ladder — $0.014 to $1.05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Same task, different complexity → 75× price multiplier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Pattern  ·  النَمط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4173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4173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4173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Cost /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3931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Single LLM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65960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onsolas"/>
              </a:rPr>
              <a:t>2K + 0.5K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65960"/>
            <a:ext cx="26060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onsolas"/>
              </a:rPr>
              <a:t>$0.014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32888"/>
            <a:ext cx="3931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Assistant with one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532888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onsolas"/>
              </a:rPr>
              <a:t>8K + 2K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32888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532888"/>
            <a:ext cx="26060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onsolas"/>
              </a:rPr>
              <a:t>$0.054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99816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99816"/>
            <a:ext cx="3931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Medium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99816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onsolas"/>
              </a:rPr>
              <a:t>30K + 5K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099816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099816"/>
            <a:ext cx="26060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onsolas"/>
              </a:rPr>
              <a:t>$0.165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66744"/>
            <a:ext cx="3931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Complex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666744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onsolas"/>
              </a:rPr>
              <a:t>100K + 15K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666744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66744"/>
            <a:ext cx="26060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onsolas"/>
              </a:rPr>
              <a:t>$0.525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33672"/>
            <a:ext cx="11183112" cy="52120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33672"/>
            <a:ext cx="393192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Multi-agent (3 × 10 turns)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233672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onsolas"/>
              </a:rPr>
              <a:t>200K + 30K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233672"/>
            <a:ext cx="20116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233672"/>
            <a:ext cx="26060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onsolas"/>
              </a:rPr>
              <a:t>$1.050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38928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9A84C"/>
                </a:solidFill>
                <a:latin typeface="Cambria"/>
              </a:rPr>
              <a:t>Token math kills agents. Always price BEFORE you build.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2356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حسبة التوكنات تَقتل الوكلاء. سَعِّر قبل أن تَبني.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أين تَختبئ التكلفة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Where Cost Hides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These three traps are how a profitable agent becomes a money-loser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1188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91440" cy="11887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" y="16230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16230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Input tokens accumulate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تَكاثر التوكنات المُدخَلة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01168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Each turn re-sends the whole conversation. 10 turns × 5K = 50K input on the last 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50008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كلّ جولة تُعيد إرسال المحادثة كاملة.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11183112" cy="1188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91440" cy="11887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8660" y="29489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" y="29489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Big system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26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system prompt كبير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33756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Each tool adds 50–200 tokens to the system prompt. 30 tools = 5K tokens repeated every turn.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675888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كلّ أداة تُضيف ٥٠-٢٠٠ توكن — مكرَّرة في كلّ جولة.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60520"/>
            <a:ext cx="11183112" cy="1188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160520"/>
            <a:ext cx="91440" cy="11887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8660" y="42748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" y="42748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251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Bloated tool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251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نَتائج أدوات منتفخة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66344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read_file on a 100-line file = 2K tokens. Read 10 files = 20K — repeated every later turn.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001768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قراءة ١٠ ملفّات = ٢٠ ألف توكن، مكرَّرة في كلّ جولة لاحقة.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عَشر خلاصات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Ten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54406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Loop + tools + goal + termination = agent.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حلقة + أدوات + هدف + إنهاء = وكيل.</a:t>
            </a:r>
          </a:p>
        </p:txBody>
      </p:sp>
      <p:sp>
        <p:nvSpPr>
          <p:cNvPr id="10" name="Oval 9"/>
          <p:cNvSpPr/>
          <p:nvPr/>
        </p:nvSpPr>
        <p:spPr>
          <a:xfrm>
            <a:off x="54406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Most "agents" in 2026 are actually assistants.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معظم "الوكلاء" في ٢٠٢٦ هم في الحقيقة assistants.</a:t>
            </a:r>
          </a:p>
        </p:txBody>
      </p:sp>
      <p:sp>
        <p:nvSpPr>
          <p:cNvPr id="14" name="Oval 13"/>
          <p:cNvSpPr/>
          <p:nvPr/>
        </p:nvSpPr>
        <p:spPr>
          <a:xfrm>
            <a:off x="54406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LLM doesn't run code — it generates JSON. You execute.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النموذج لا ينفّذ — هو يُولّد JSON. أنت من ينفّذ.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ReAct: Thought → Action → Observation → repeat.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ReAct: تفكير ← فعل ← ملاحظة ← تكرار.</a:t>
            </a:r>
          </a:p>
        </p:txBody>
      </p:sp>
      <p:sp>
        <p:nvSpPr>
          <p:cNvPr id="22" name="Oval 21"/>
          <p:cNvSpPr/>
          <p:nvPr/>
        </p:nvSpPr>
        <p:spPr>
          <a:xfrm>
            <a:off x="54406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MCP is the HTTP of agents. Standardize early.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MCP هو HTTP للوكلاء. اعتمد المعيار مبكّراً.</a:t>
            </a:r>
          </a:p>
        </p:txBody>
      </p:sp>
      <p:sp>
        <p:nvSpPr>
          <p:cNvPr id="26" name="Oval 25"/>
          <p:cNvSpPr/>
          <p:nvPr/>
        </p:nvSpPr>
        <p:spPr>
          <a:xfrm>
            <a:off x="644194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Three primitives: Tools, Resources, Prompts.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ثلاثة عناصر: أدوات، موارد، موجّهات.</a:t>
            </a:r>
          </a:p>
        </p:txBody>
      </p:sp>
      <p:sp>
        <p:nvSpPr>
          <p:cNvPr id="30" name="Oval 29"/>
          <p:cNvSpPr/>
          <p:nvPr/>
        </p:nvSpPr>
        <p:spPr>
          <a:xfrm>
            <a:off x="644194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194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Filesystem with root "/" = disaster waiting.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Filesystem بجذر "/" = كارثة قادمة.</a:t>
            </a:r>
          </a:p>
        </p:txBody>
      </p:sp>
      <p:sp>
        <p:nvSpPr>
          <p:cNvPr id="34" name="Oval 33"/>
          <p:cNvSpPr/>
          <p:nvPr/>
        </p:nvSpPr>
        <p:spPr>
          <a:xfrm>
            <a:off x="644194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194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Three failures: dishonesty, over-action, prompt injection.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ثلاثة إخفاقات: عدم صدق، فعل مفرط، حقن موجّه.</a:t>
            </a:r>
          </a:p>
        </p:txBody>
      </p:sp>
      <p:sp>
        <p:nvSpPr>
          <p:cNvPr id="38" name="Oval 37"/>
          <p:cNvSpPr/>
          <p:nvPr/>
        </p:nvSpPr>
        <p:spPr>
          <a:xfrm>
            <a:off x="644194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194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Token math kills agents. Price before you build.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حسبة التوكنات تَقتل الوكلاء. سَعِّر قبل أن تَبني.</a:t>
            </a:r>
          </a:p>
        </p:txBody>
      </p:sp>
      <p:sp>
        <p:nvSpPr>
          <p:cNvPr id="42" name="Oval 41"/>
          <p:cNvSpPr/>
          <p:nvPr/>
        </p:nvSpPr>
        <p:spPr>
          <a:xfrm>
            <a:off x="644194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194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Human-in-the-loop is a feature, not a flaw.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الإنسان في الحلقة ميزة، لا عيب.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من المسار أ إلى المسار 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From Track A to Track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1B3A5C"/>
                </a:solidFill>
                <a:latin typeface="Cambria"/>
              </a:rPr>
              <a:t>You graduated from no-code automation to engineering autonomous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تخرّجتَ من الأتمتة بدون كود إلى هندسة الأنظمة المستقلّة.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544068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Track A — Power-User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Make / Zapier scenarios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Pre-built integrations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Visual canvas, no code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Sells at $300–2K / project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1">
                <a:solidFill>
                  <a:srgbClr val="C9A84C"/>
                </a:solidFill>
                <a:latin typeface="Cambria"/>
              </a:rPr>
              <a:t>Ceiling: ~$50K / year freelance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331720"/>
            <a:ext cx="544068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395728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Track B —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Anthropic API + custom Python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Custom MCP servers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ReAct loops, multi-agent systems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Sells at $5K–50K / project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300" b="1" i="1">
                <a:solidFill>
                  <a:srgbClr val="1B3A5C"/>
                </a:solidFill>
                <a:latin typeface="Cambria"/>
              </a:rPr>
              <a:t>Ceiling: $150K+ / year freelance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قائمة فحص ما قبل النَشر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Pre-Production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Don't ship an agent without all of these checked 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83112" cy="4846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522476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Token budget calculated per task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53619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حساب ميزانيّة التوكنات لكلّ نوع مهمّة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052828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3911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6654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Permission level set per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66544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ضبط مستوى الإذن لكلّ أداة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23744"/>
            <a:ext cx="11183112" cy="4846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2583180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6946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59689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Hard turn limit (e.g., 20 max)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596896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حدّ أقصى للجولات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113532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09981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12724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Audit log of every tool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127248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سجلّ تدقيق لكلّ استدعاء أداة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84448"/>
            <a:ext cx="11183112" cy="4846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643884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3016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6576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Prompt-injection defenses tested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6576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اختبار الدفاعات ضدّ حقن الموجّه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174236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6052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187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Escalation path for failure / refusal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18795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مسار تصعيد للفشل أو الرفض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645152"/>
            <a:ext cx="11183112" cy="4846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5800" y="4704588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69087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71830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Cost-per-run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718304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لوحة تكلفة لكلّ تشغيل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5234940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22122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24865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Human-in-the-loop wired for write 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248656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إنسان في الحلقة لعمليّات الكتابة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أربع فرص في السوق العربيّ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Four Market Opportunities — Arab World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Arabic NLP MCP servers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خوادم MCP للمعالجة العربيّة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Tashkeel · transliteration · dialect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49834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$3,000–10,000 per build · gulf agencies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40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Bilingual customer-service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وكلاء خدمة عملاء ثنائيّة اللغة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AR + EN · escalation · order lookup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331720"/>
            <a:ext cx="49834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E75B6"/>
                </a:solidFill>
                <a:latin typeface="Cambria"/>
              </a:rPr>
              <a:t>$1,500–4,000 / mo retainer · e-commerce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93592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593592"/>
            <a:ext cx="544068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Research agents for journalism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وكلاء بحث للصحافة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8795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Source verification · multi-language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28032"/>
            <a:ext cx="49834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2803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$2,000–8,000 per investigation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593592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593592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Compliance / audit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وكلاء امتثال ومراجعة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SAMA · ZATCA · AML · audit trails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4828032"/>
            <a:ext cx="49834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82803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$10,000–50,000 per project · banks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ماذا تَبني هذا الأسبوع — مشروع التطبيق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Build This Week — The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725912" cy="44348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5912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TRACK B CAPSTONE  ·  مشروع المسار 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1B3A5C"/>
                </a:solidFill>
                <a:latin typeface="Cambria"/>
              </a:rPr>
              <a:t>Build a complete "Yemeni Research Agent":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custom MCP server (3+ tools, your domain)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ReAct research agent that uses your server + brave_search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permission layer: Auto for read, Ask-on-Write for any send/save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audit log (SQLite) — every tool call recorded with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9476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1 cost dashboard — print tokens used per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mbria"/>
              </a:rPr>
              <a:t>•  Final demo: ask 5 research questions in Arabic, show transcripts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17720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C9A84C"/>
                </a:solidFill>
                <a:latin typeface="Cambria"/>
              </a:rPr>
              <a:t>Submit a 5-min screen recording: agent answering one Arabic question end-to-end.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83480"/>
            <a:ext cx="981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أرسل تسجيل شاشة (٥ دقائق): الوكيل يُجيب على سؤال عربيّ من البداية للنهاية.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A chapter you read but don't ship — you didn't actually learn.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Amiri"/>
              </a:rPr>
              <a:t>الفصل الذي تقرؤه ولا تَنشره — لم تتعلّمه فعلاً.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ماذا بعد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B3A5C"/>
                </a:solidFill>
                <a:latin typeface="Cambria"/>
              </a:rPr>
              <a:t>You now build what most people only consume.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أنت الآن تَبني ما يَستهلكه معظم الناس.</a:t>
            </a:r>
          </a:p>
        </p:txBody>
      </p:sp>
      <p:sp>
        <p:nvSpPr>
          <p:cNvPr id="8" name="Oval 7"/>
          <p:cNvSpPr/>
          <p:nvPr/>
        </p:nvSpPr>
        <p:spPr>
          <a:xfrm>
            <a:off x="662940" y="24917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" y="24917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23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Ship one paid agent in 90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231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أَطلق وكيلاً مدفوعاً خلال ٩٠ يوماً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8036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Find one client. One pain. Build, ship, support.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" y="35890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" y="35890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204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Open-source one MCP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5204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افتح مصدر خادم MCP واحد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7764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Yemeni-flavored: Arabic NER, dialect detection, government data.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" y="46863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" y="46863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17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Read the appendix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17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600" b="0" i="0">
                <a:solidFill>
                  <a:srgbClr val="C9A84C"/>
                </a:solidFill>
                <a:latin typeface="Amiri"/>
              </a:rPr>
              <a:t>اقرأ كود الملاحق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07492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Appendix A (Research Agent) and B (Task MCP) are full production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The market for production-grade Arabic agents is wide open. Fill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Agents &amp; MCP  ·  العملاء الأذكياء وبروتوكول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7200" b="1" i="0">
                <a:solidFill>
                  <a:srgbClr val="C9A84C"/>
                </a:solidFill>
                <a:latin typeface="Amiri"/>
              </a:rPr>
              <a:t>والله أعلم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Cambria"/>
              </a:rPr>
              <a:t>And Allah knows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333756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C9A84C"/>
                </a:solidFill>
                <a:latin typeface="Cambria"/>
              </a:rPr>
              <a:t>Thank you  ·  شكراً لكم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LLM4Yemen Program  ·  Track B  ·  AI Agents &amp; MCP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0E8"/>
                </a:solidFill>
                <a:latin typeface="Cambria"/>
              </a:rPr>
              <a:t>"My Lord, increase me in knowledge."   ·   ﴿وقل ربّ زدني علماً﴾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