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870448" y="868680"/>
            <a:ext cx="457200" cy="457200"/>
          </a:xfrm>
          <a:prstGeom prst="diamond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التوليد المعزّز بالاسترجاع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Amiri"/>
              </a:rPr>
              <a:t>دليل عمليّ لبناء أنظمة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C9A84C"/>
                </a:solidFill>
                <a:latin typeface="Cambria"/>
              </a:rPr>
              <a:t>Retrieval-Augmented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Cambria"/>
              </a:rPr>
              <a:t>A Practical Guide to Building RAG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Cambria"/>
              </a:rPr>
              <a:t>LLM4Yemen Program  ·  Track B  ·  Week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عربي  ·  English   |   LLM4Yemen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55664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بِسْمِ اللَّهِ الرَّحْمَٰنِ الرَّحِيمِ</a:t>
            </a:r>
          </a:p>
        </p:txBody>
      </p:sp>
      <p:sp>
        <p:nvSpPr>
          <p:cNvPr id="6" name="Oval 5"/>
          <p:cNvSpPr/>
          <p:nvPr/>
        </p:nvSpPr>
        <p:spPr>
          <a:xfrm>
            <a:off x="6040983" y="2596896"/>
            <a:ext cx="109728" cy="1097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 i="0">
                <a:solidFill>
                  <a:srgbClr val="1B3A5C"/>
                </a:solidFill>
                <a:latin typeface="Amiri"/>
              </a:rPr>
              <a:t>﴿فَاسْأَلُوا أَهْلَ الذِّكْرِ إِن كُنتُمْ لَا تَعْلَمُونَ﴾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Amiri"/>
              </a:rPr>
              <a:t>— سورة النحل: ٤٣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B3A5C"/>
                </a:solidFill>
                <a:latin typeface="Cambria"/>
              </a:rPr>
              <a:t>"Ask the people of knowledge if you do not know."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— Surat An-Nahl,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أهداف المحاضرة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Lecture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By the end of this week, you will be able to:    ·    بنهاية هذا الأسبوع، ستكون قادراً على: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1655064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5506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Choose between RAG, fine-tuning, and long-context for any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الاختيار بين RAG والضبط الدقيق والسياق الطويل لأيّ مشروع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22199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03504" y="2368296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368296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13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a working RAG pipeline in 30 lines of Python — no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334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بناء أنبوب RAG عامل في ٣٠ سطراً من بايثون — بلا إطار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935224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03504" y="3081528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08152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266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Master the five chunking strategies and pick the right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467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إتقان استراتيجيات التقطيع الخمس واختيار المناسبة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3648456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3504" y="3794760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79476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398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hybrid search: vector + BM25 + reranking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5993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بناء البحث الهجين: متجهات + BM25 + إعادة ترتيب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4361688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03504" y="4507992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50799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531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Evaluate RAG systems with RAGAS metrics — not vibes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731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تقييم أنظمة RAG بمقاييس RAGAS — لا بالانطباعات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71600" y="5074920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3504" y="5221224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22122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Ship a production RAG and price it correctly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نَشر RAG إنتاجيّ وتسعيره بشكل صحيح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خارطة الطريق — اثنا عشر فصلاً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Roadmap — Twelve Chapters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788" y="11384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0698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Why RAG — Hallucination &amp; Knowledge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389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لماذا RAG — الهلوسة وحدود المعرفة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" y="200710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93852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RAG Architecture — Five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البنية الأساسية لـ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" y="287578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8072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Embeddings — How They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التضمينات وكيف تعمل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" y="37444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6758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Text Chunking Strategies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استراتيجيات التقطيع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9788" y="461314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54456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Vector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قواعد البيانات المتجهيّة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" y="54818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132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Building a Full RAG with LangChain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33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بناء RAG كامل بـ LangChain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10058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0236" y="11384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11430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896" y="10698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Advanced RAG — Hybrid + Reranking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6" y="1389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RAG المتقدّم — هجين وإعادة ترتيب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187452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0236" y="200710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01168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8896" y="193852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GraphRAG and Agentic RAG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8896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GraphRAG و Agentic RAG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7648" y="274320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60236" y="287578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288036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896" y="28072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Evaluating RAG Systems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68896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تقييم أنظمة RAG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361188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60236" y="37444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37490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36758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RAG for Islamic Content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896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RAG للمحتوى الإسلامي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448056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60236" y="461314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61772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8896" y="454456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RAG for Arabic Academic Documents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8896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RAG للمستندات الأكاديمية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53492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60236" y="54818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54864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68896" y="54132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Deployment &amp; Production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68896" y="5733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النشر والإنتاج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لماذا RAG — مشكلة الهلوسة وحدود معرفة النموذج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Why RAG — Hallucination &amp; the Limits of Model Knowledge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﴿وَلَا تَقْفُ مَا لَيْسَ لَكَ بِهِ عِلْمٌ ۚ إِنَّ السَّمْعَ وَالْبَصَرَ وَالْفُؤَادَ كُلُّ أُولَٰئِكَ كَانَ عَنْهُ مَسْئُولًا﴾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٣٦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"Do not pursue what you have no knowledge of. Hearing, sight, and heart — all are accountable."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 قصص حقيقيّة — حين تَكلِّف الهلوسة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Real Stories — When Hallucination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91440" cy="1691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8660" y="12573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" y="12573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88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New York Lawyer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188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محامٍ في نيويورك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00200"/>
            <a:ext cx="9921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June 2023 — filed a federal brief citing six prior cases. Judge demanded copies. None existed. ChatGPT had invented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42316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Cost: $5,000 fine + career stain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53512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53512"/>
            <a:ext cx="91440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" y="3113532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" y="3113532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449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Medical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0449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باحث طبّي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456432"/>
            <a:ext cx="9921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Asked LLM to summarize a drug. Got a precise NEJM citation: "Smith et al., 2019, Vol 381, pp 1142–1150." The reference didn't exist.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279392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Cost: Fabricated peer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9744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09744"/>
            <a:ext cx="91440" cy="1691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8660" y="4969764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" y="4969764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0118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Saudi E-commerce 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90118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متجر إلكتروني سعودي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312664"/>
            <a:ext cx="9921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Riyadh shop wired GPT-4 to its catalog without RAG. Customer asked about an OLED laptop. Bot quoted a model the store never carried.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6135624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Cost: Public complaint · bot deleted in 1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The model wasn't lying. It was doing exactly what it was trained to do: predict plausible text.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تَهلوس النماذج — ثلاث فئات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LLMs Hallucinate — Three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An LLM is a probability machine. It doesn't say "I don't know."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النماذج آلات احتماليّة — لا تَقول "لا أعرف".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" y="2240280"/>
            <a:ext cx="3703320" cy="3611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987" y="2240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987" y="2313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Training Cutoff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987" y="2880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تاريخ قطع التدريب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Each model has a date past which it knows nothing.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5187" y="448056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867" y="4572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" y="4937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GPT-4o trained until October 2023.
Ask about 2025? It invents.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187" y="2240280"/>
            <a:ext cx="3703320" cy="3611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187" y="2240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4187" y="2313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Private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4187" y="2880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2E75B6"/>
                </a:solidFill>
                <a:latin typeface="Amiri"/>
              </a:rPr>
              <a:t>المعرفة الخاصّة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067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Your company docs, your archive — the model never saw them.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1387" y="448056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27067" y="4572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4937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Internal SOPs · medical records ·
legal archive · email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0387" y="2240280"/>
            <a:ext cx="3703320" cy="3611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0387" y="224028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0387" y="2313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Long-Tail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0387" y="2880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Amiri"/>
              </a:rPr>
              <a:t>التوزيع الذيلي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267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Facts seen once or twice in training — confident but wrong.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87587" y="4480560"/>
            <a:ext cx="278892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3267" y="4572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267" y="4937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A village in Hadhramaut · obscure scholar's death year · district population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Hallucination isn't malice. It's expected behavior of a probability machine asked things it wasn't trained 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ثلاثة حلول — أيّها تَختار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Solutions — Fine-tune vs Long-Context vs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097280"/>
            <a:ext cx="370332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Amiri"/>
              </a:rPr>
              <a:t>ضبط دقيق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23774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Continue training on your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31089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✓ Wins when: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429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ambria"/>
              </a:rPr>
              <a:t>Style, tone, domain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42062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✗ Loses 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4526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Static · expensive · doesn't stop hallucination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307" y="5440680"/>
            <a:ext cx="3154680" cy="5943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" y="54406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Specialized writing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Long-context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سياق طويل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23774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Paste everything into the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067" y="31089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E75B6"/>
                </a:solidFill>
                <a:latin typeface="Cambria"/>
              </a:rPr>
              <a:t>✓ Wins when: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3429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ambria"/>
              </a:rPr>
              <a:t>Small docs · single-shot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7067" y="42062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✗ Loses 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4526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$5–15 per query · lost in the middle ·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8507" y="5440680"/>
            <a:ext cx="3154680" cy="594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8507" y="54406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Summarize one PDF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03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0387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03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03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استرجاع معزّز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23774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Store docs in vector DB,
retrieve top-k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31089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Wins when: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3429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ambria"/>
              </a:rPr>
              <a:t>Thousands of docs · changing knowledge ·
low cost · cited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42062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✗ Loses 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267" y="4526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Adds infrastructure · needs eval · chunking matters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04707" y="5440680"/>
            <a:ext cx="31546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4707" y="54406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mbria"/>
              </a:rPr>
              <a:t>Customer support · search · Q&amp;A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البنية الأساسيّة لنظام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RAG Architecture — The Five Stages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﴿فَاسْأَلُوا أَهْلَ الذِّكْرِ إِن كُنتُمْ لَا تَعْلَمُونَ﴾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النحل: ٤٣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"Ask the people of knowledge if you do not know."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An-Nahl, 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المراحل الخمس — ك ّل نظام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Five Stages — Every RAG System Ever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Whether it's 30 lines or 30,000 — every RAG reduces to these five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691640"/>
            <a:ext cx="210312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1691640"/>
            <a:ext cx="21031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17373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1.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استيعاب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2880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Read raw bytes
→ unicode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695" y="2606040"/>
            <a:ext cx="146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8287" y="1691640"/>
            <a:ext cx="210312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58287" y="1691640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9727" y="17373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2. 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447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تقطيع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1167" y="2880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Text → small
overlapping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695" y="2606040"/>
            <a:ext cx="146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4287" y="1691640"/>
            <a:ext cx="210312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4287" y="1691640"/>
            <a:ext cx="21031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5727" y="17373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3. Embed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447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تضمين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2880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Chunks → vectors
(1536-d)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5695" y="2606040"/>
            <a:ext cx="146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0287" y="1691640"/>
            <a:ext cx="210312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0287" y="1691640"/>
            <a:ext cx="21031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1727" y="17373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4.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447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تخزين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3167" y="2880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Vectors + chunks
→ vector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1695" y="2606040"/>
            <a:ext cx="146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6287" y="1691640"/>
            <a:ext cx="210312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6287" y="1691640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7727" y="17373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5. Retrieve
   + Generate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447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استرجاع
وتوليد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9167" y="2880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Q → top-k chunks
→ LLM answer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60520"/>
            <a:ext cx="6400800" cy="1828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160520"/>
            <a:ext cx="64008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Stages 1–4: Ingestion Loop  ·  حلقة الاستيعاب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75488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Run ONCE per document.
Offline. Slow but cheap to repeat.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4160520"/>
            <a:ext cx="4617720" cy="1828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86600" y="4160520"/>
            <a:ext cx="461772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42062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Stage 5: Query Loop  ·  حلقة الاستعلام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754880"/>
            <a:ext cx="4069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Runs on EVERY question.
Online · &lt; 2s · thousands/day.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RAG في ٣٠ سطراً — بلا إطار 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RAG in 30 Lines — No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Build the foundation by hand once. Use frameworks afterwards — with awareness.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85800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685800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A84C"/>
                </a:solidFill>
                <a:latin typeface="Consolas"/>
              </a:rPr>
              <a:t>minimal_rag.py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B6E8"/>
                </a:solidFill>
                <a:latin typeface="Consolas"/>
              </a:rPr>
              <a:t>from openai import 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B6E8"/>
                </a:solidFill>
                <a:latin typeface="Consolas"/>
              </a:rPr>
              <a:t>import chromadb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9514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client = OpenAI()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5973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db = chromadb.Client().create_collection('docs')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243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ACC77"/>
                </a:solidFill>
                <a:latin typeface="Consolas"/>
              </a:rPr>
              <a:t># 1–4. Ingest, chunk, embed,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5351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for i, chunk in enumerate(chunks):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18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vec = client.embeddings.create(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8269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    model="text-embedding-3-small",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472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    input=chunk).data[0].embedding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11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db.add(ids=[str(i)], embeddings=[vec],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764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       documents=[chunk])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4106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0565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ACC77"/>
                </a:solidFill>
                <a:latin typeface="Consolas"/>
              </a:rPr>
              <a:t># 5. Retrieve + 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7024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q = 'What is the capital of Yemen?'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qvec = client.embeddings.create(...).data[0].embedding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9943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hits = db.query(query_embeddings=[qvec], n_results=3)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6402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ctx = '\n'.join(hits['documents'][0])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2861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932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answer = client.chat.completions.create(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model="gpt-4o",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22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messages=[{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8698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    "role": "user",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5157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    "content": f"Context:\n{ctx}\n\nQ: {q}"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1616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0E0E0"/>
                </a:solidFill>
                <a:latin typeface="Consolas"/>
              </a:rPr>
              <a:t>    }])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41732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What you just built</a:t>
            </a:r>
          </a:p>
        </p:txBody>
      </p:sp>
      <p:sp>
        <p:nvSpPr>
          <p:cNvPr id="37" name="Oval 36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1965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19202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Ingestion runs ONCE per doc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24942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الاستيعاب: مرّة لكلّ وثيقة</a:t>
            </a:r>
          </a:p>
        </p:txBody>
      </p:sp>
      <p:sp>
        <p:nvSpPr>
          <p:cNvPr id="41" name="Oval 40"/>
          <p:cNvSpPr/>
          <p:nvPr/>
        </p:nvSpPr>
        <p:spPr>
          <a:xfrm>
            <a:off x="7635240" y="274320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2697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Embedding model: 1,536-dim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302666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نموذج تضمين: ١٥٣٦ بُعداً</a:t>
            </a:r>
          </a:p>
        </p:txBody>
      </p:sp>
      <p:sp>
        <p:nvSpPr>
          <p:cNvPr id="45" name="Oval 44"/>
          <p:cNvSpPr/>
          <p:nvPr/>
        </p:nvSpPr>
        <p:spPr>
          <a:xfrm>
            <a:off x="7635240" y="352044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3474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Storage: ChromaDB local 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380390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التخزين: ملفّ محلّي ChromaDB</a:t>
            </a:r>
          </a:p>
        </p:txBody>
      </p:sp>
      <p:sp>
        <p:nvSpPr>
          <p:cNvPr id="49" name="Oval 48"/>
          <p:cNvSpPr/>
          <p:nvPr/>
        </p:nvSpPr>
        <p:spPr>
          <a:xfrm>
            <a:off x="7635240" y="429768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4297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251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Retrieval: top-3 cosine similar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458114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الاسترجاع: أقرب ٣ بـ cosine</a:t>
            </a:r>
          </a:p>
        </p:txBody>
      </p:sp>
      <p:sp>
        <p:nvSpPr>
          <p:cNvPr id="53" name="Oval 52"/>
          <p:cNvSpPr/>
          <p:nvPr/>
        </p:nvSpPr>
        <p:spPr>
          <a:xfrm>
            <a:off x="7635240" y="507492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0292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Generation: stuff context → GPT-4o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535838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التوليد: سياق ← GPT-4o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التضمينات — وكيف تَعمل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Embeddings — How They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﴿وَعَلَّمَ آدَمَ الْأَسْمَاءَ كُلَّهَا﴾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البقرة: ٣١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He taught Adam the names of all things."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Al-Baqarah,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المعنى موضع في فضاء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Meaning Is a Position in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Every text becomes coordinates in a high-dimensional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كلّ نصّ يُصبح إحداثيّات في فضاء عالي الأبعاد. والمعنى يُحدّد الإحداثيّات.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Cosine Similarity — How Close Are Two Texts?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953512"/>
            <a:ext cx="1371600" cy="365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onsolas"/>
              </a:rPr>
              <a:t>≈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980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Identical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980944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onsolas"/>
              </a:rPr>
              <a:t>Sanaa  ↔  capital of Yemen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47872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666744"/>
            <a:ext cx="137160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≈ 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6941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Related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694176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onsolas"/>
              </a:rPr>
              <a:t>Sanaa  ↔  Yemeni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61104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379976"/>
            <a:ext cx="1371600" cy="3657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799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≈ 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4074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No 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407408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onsolas"/>
              </a:rPr>
              <a:t>Sanaa  ↔  the price of fish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74336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093208"/>
            <a:ext cx="13716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932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&lt;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Opposite meaning (rare)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12064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onsolas"/>
              </a:rPr>
              <a:t>Hot weather  ↔  cold 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Formula:  cosine = (A · B) / (||A|| · ||B||)   →   value between -1 and +1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نماذج التضمين في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Embedding Models in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Pick by language coverage, dimension count, cost — in that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173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417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Price /1M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41732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Arabic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41732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Best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6596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65960"/>
            <a:ext cx="30175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onsolas"/>
              </a:rPr>
              <a:t>OpenAI text-embedding-3-small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965960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onsolas"/>
              </a:rPr>
              <a:t>1536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65960"/>
            <a:ext cx="15087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$0.02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65960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Good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65960"/>
            <a:ext cx="23317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Default · 90% of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32888"/>
            <a:ext cx="30175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onsolas"/>
              </a:rPr>
              <a:t>OpenAI text-embedding-3-large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532888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onsolas"/>
              </a:rPr>
              <a:t>3072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532888"/>
            <a:ext cx="15087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$0.13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532888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532888"/>
            <a:ext cx="23317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Higher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9981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99816"/>
            <a:ext cx="30175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onsolas"/>
              </a:rPr>
              <a:t>Cohere embed-multilingual-v3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099816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onsolas"/>
              </a:rPr>
              <a:t>1024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099816"/>
            <a:ext cx="15087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$0.10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099816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Excellent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99816"/>
            <a:ext cx="23317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Multilingual / Arabic-heavy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66744"/>
            <a:ext cx="30175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onsolas"/>
              </a:rPr>
              <a:t>Voyage voyage-3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666744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onsolas"/>
              </a:rPr>
              <a:t>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666744"/>
            <a:ext cx="15087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$0.06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666744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Good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666744"/>
            <a:ext cx="23317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Code &amp; tech docs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23367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33672"/>
            <a:ext cx="30175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onsolas"/>
              </a:rPr>
              <a:t>Open-source bge-m3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4233672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onsolas"/>
              </a:rPr>
              <a:t>1024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233672"/>
            <a:ext cx="15087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233672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Excellent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233672"/>
            <a:ext cx="23317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Self-host · Arabic dialect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03520"/>
            <a:ext cx="11183112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Recommendation: text-embedding-3-small for default, bge-m3 for Arabic at scale.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881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التوصية: text-embedding-3-small افتراضيّاً، bge-m3 للعربيّة عند الحجم الكبير.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استراتيجيّات تَقطيع النصوص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Text Chunking 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﴿وَقُرْآنًا فَرَقْنَاهُ لِتَقْرَأَهُ عَلَى النَّاسِ عَلَىٰ مُكْثٍ﴾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١٠٦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 Quran which We have divided into parts that you may recite to people gradually."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106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التقطيع — مصدر ٩٠٪ من إخفاقات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Chunking — The Source of 90% of RAG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 i="0">
                <a:solidFill>
                  <a:srgbClr val="C9A84C"/>
                </a:solidFill>
                <a:latin typeface="Cambria"/>
              </a:rP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1">
                <a:solidFill>
                  <a:srgbClr val="1B3A5C"/>
                </a:solidFill>
                <a:latin typeface="Cambria"/>
              </a:rPr>
              <a:t>of "my RAG isn't giving good answers" cases trace back to chunking.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ليست المشكلة في النموذج، ولا قاعدة البيانات، ولا حتى الموجّه. السبب التقطيع.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147" y="3749039"/>
            <a:ext cx="3611880" cy="2148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147" y="3749039"/>
            <a:ext cx="36118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40233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Cut too much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452627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تقطع كثيراً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347" y="5074919"/>
            <a:ext cx="269748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027" y="51663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2E75B6"/>
                </a:solidFill>
                <a:latin typeface="Cambria"/>
              </a:rPr>
              <a:t>→ Loses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9907" y="3749039"/>
            <a:ext cx="3611880" cy="2148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9907" y="3749039"/>
            <a:ext cx="36118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787" y="40233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Cut too little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452627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تقطع قليلاً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47107" y="5074919"/>
            <a:ext cx="269748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72787" y="51663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1B3A5C"/>
                </a:solidFill>
                <a:latin typeface="Cambria"/>
              </a:rPr>
              <a:t>→ Brings in noise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4667" y="3749039"/>
            <a:ext cx="3611880" cy="2148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4667" y="3749039"/>
            <a:ext cx="36118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7547" y="40233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Cut wrong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7547" y="452627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تقطع في الخطأ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41867" y="5074919"/>
            <a:ext cx="269748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67547" y="51663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C9A84C"/>
                </a:solidFill>
                <a:latin typeface="Cambria"/>
              </a:rPr>
              <a:t>→ Separates fact from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خمس استراتيجيّات للتقطيع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Five Chunking Strategies</a:t>
            </a:r>
          </a:p>
        </p:txBody>
      </p:sp>
      <p:sp>
        <p:nvSpPr>
          <p:cNvPr id="6" name="Oval 5"/>
          <p:cNvSpPr/>
          <p:nvPr/>
        </p:nvSpPr>
        <p:spPr>
          <a:xfrm>
            <a:off x="662940" y="12115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" y="12115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09728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143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Fixed-size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1430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ثابت الحجم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813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500 tokens, 100 overlap. Simple, deterministic.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37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✗ Cuts mid-sentence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Best for: Uniform short docs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" y="21717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" y="21717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05740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1031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Recursive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103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تدرّجي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4414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Try \n\n, then \n, then ., then space. LangChain default.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✗ Still misses semantic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974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Best for: Most general-purpose use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" y="31318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" y="31318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01752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30632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Sentence-aware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063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وفق الجمل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0156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Chunk at sentence ends only. Use spaCy / NLTK.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✗ Variable chunk sizes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576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Best for: Legal · medical · academic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" y="40919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" y="40919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397764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Semantic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4023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دلالي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3616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Embed each sentence; cut where similarity drops.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617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✗ Slow · costs tokens to chunk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6177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Best for: High-stakes precision</a:t>
            </a:r>
          </a:p>
        </p:txBody>
      </p:sp>
      <p:sp>
        <p:nvSpPr>
          <p:cNvPr id="38" name="Oval 37"/>
          <p:cNvSpPr/>
          <p:nvPr/>
        </p:nvSpPr>
        <p:spPr>
          <a:xfrm>
            <a:off x="662940" y="50520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" y="50520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493776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4983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Document-structure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4983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وفق البنية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32180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Use Markdown headers, HTML tags, PDF outline.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577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✗ Requires clean source structure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5778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Best for: Wikis · technical docs · books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قواعد البيانات المتجهيّة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Vector Databases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﴿وَأَحْصَىٰ كُلَّ شَيْءٍ عَدَدًا﴾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الجن: ٢٨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He has counted everything in number."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Al-Jinn,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كيف تختار قاعدة البيانات المتجهيّة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How to Pick a Vector Database — Three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91440" cy="1691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2940" y="12573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" y="12573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Data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188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حجم البيانات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55448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How many vectors will you store?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74520"/>
            <a:ext cx="9921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&lt; 100K → JSON file works
100K – 1M → Chroma · Qdrant · pgvector
1M – 100M → Pinecone · Weaviate · Qdrant cluster
100M+ → Milvus · Vespa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53512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53512"/>
            <a:ext cx="91440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" y="3113532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" y="3113532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44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044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قيود النشر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410712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Where will it live?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730752"/>
            <a:ext cx="9921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Fully managed → Pinecone
Self-hosted OSS → Weaviate · Qdrant · Milvus
Local only → Chroma · LanceDB
Inside Postgres → pgvector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9744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09744"/>
            <a:ext cx="91440" cy="1691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40" y="4969764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" y="4969764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011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90118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الميزانية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66944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What can you afford?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586984"/>
            <a:ext cx="9921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$0 → Chroma local · pgvector on Supabase free
$10–50/mo → Qdrant Cloud · Pinecone starter
Open budget → choose by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أربعة منافسين في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Contenders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704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Chroma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704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كروما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Simplest. pip install + 5 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1M vectors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mbria"/>
              </a:rPr>
              <a:t>✓ Best for: First prototypes ·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pip install chroma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4406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704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Pinecone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704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باينكون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Fully managed. Scales to billions.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$70+/mo at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Cambria"/>
              </a:rPr>
              <a:t>✓ Best for: Funded startups · 10M+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A84C"/>
                </a:solidFill>
                <a:latin typeface="Consolas"/>
              </a:rPr>
              <a:t>pip install pinecone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85032"/>
            <a:ext cx="54406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5818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Weaviate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5818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ويفييت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7083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Open + managed. Strong filtering.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823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More complex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9379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✓ Best for: Multi-tenant SaaS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052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A84C"/>
                </a:solidFill>
                <a:latin typeface="Consolas"/>
              </a:rPr>
              <a:t>pip install weaviate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85032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685032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5818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pgvector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5818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بيجي-فكتور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37083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Postgres extension. Use existing DB.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7823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Slower at 10M+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9379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mbria"/>
              </a:rPr>
              <a:t>✓ Best for: Already on Postgres · simple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052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CREATE EXTENSION vector;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بناء نظام RAG كامل بـ LangChain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Building a Full RAG with LangChain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﴿وَأَنزَلْنَا إِلَيْكَ الذِّكْرَ لِتُبَيِّنَ لِلنَّاسِ مَا نُزِّلَ إِلَيْهِمْ﴾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النحل: ٤٤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"We sent down to you the message that you may make clear to people what has been revealed to them."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An-Nahl, 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إطار عمل أم بدونه —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Framework or Not — When LangChain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Build raw first. Use LangChain only when you understand what's underneath.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44068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 When LangChain wins  ·  متى يفوز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92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Connects loaders, splitters, embeds,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stores, retrievers, LLMs in one shape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Handles retries, caching, logging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Swap models or DBs in one line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Integrates with LangSmith for tracing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Production deployment with LangServe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1300" b="1" i="1">
                <a:solidFill>
                  <a:srgbClr val="1B3A5C"/>
                </a:solidFill>
                <a:latin typeface="Cambria"/>
              </a:rPr>
              <a:t>Use it for production projects.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44068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✗  When it loses  ·  متى يَخسر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892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Heavy abstraction hides what runs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Debugging deep stack traces is painful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Breaking API changes — every quarter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In 2026: split into many sub-packages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(langchain-core, langchain-openai…)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1300" b="1" i="1">
                <a:solidFill>
                  <a:srgbClr val="C9A84C"/>
                </a:solidFill>
                <a:latin typeface="Cambria"/>
              </a:rPr>
              <a:t>Write raw for learning + research prototypes.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تخطيط المراحل ← مكوّنات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Stages → LangChain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09728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LangChain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Concrete 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DocumentLoader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PyPDFLoader · DirectoryLoader · WebBaseLoader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12848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12848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TextSplitter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12848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RecursiveCharacterTextSplitter · TokenTextSplitter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7977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79776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79776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79776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OpenAIEmbeddings · CohereEmbeddings · HuggingFaceEmbeddings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46704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346704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VectorStore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346704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Chroma · Pinecone · Weaviate · PGVector · FAISS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1363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13632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13632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Retriever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13632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vectorstore.as_retriever() · BM25Retriever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480560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ChatModel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480560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ChatOpenAI · ChatAnthropic · ChatGoogleGenerativeAI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47488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47488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047488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onsolas"/>
              </a:rPr>
              <a:t>Chain (LCEL)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047488"/>
            <a:ext cx="4526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retriever | prompt | llm | parser   ←  | operator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LCEL: chain = retriever | prompt | llm | parser    ←  pipeline using the | operator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RAG المتقدّم — البحث الهجين وإعادة الترتيب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Advanced RAG — Hybrid Search &amp; Reranking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﴿وَفَوْقَ كُلِّ ذِي عِلْمٍ عَلِيمٌ﴾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يوسف: ٧٦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above every possessor of knowledge is one more knowing."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Yusuf, 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ثغرة الدلالة والمعجم — أين يَكسر RAG البسيط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Semantic-Lexical Gap — Where Naïve RAG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1B3A5C"/>
                </a:solidFill>
                <a:latin typeface="Cambria"/>
              </a:rPr>
              <a:t>Embeddings understand meaning — but they lose precision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التضمين يفهم المعنى — لكنّه يَخسر الدقّة على: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1183112" cy="1051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91440" cy="10515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660" y="24003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" y="24003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Proper names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أسماء أعلام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43200"/>
            <a:ext cx="10012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 "Khwarizmi Co." — embedding treats it as generic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17520"/>
            <a:ext cx="10012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✓  BM25 catches the exact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183112" cy="1051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91440" cy="10515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" y="35890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" y="35890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Product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رموز قطع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31920"/>
            <a:ext cx="10012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 "BG-2300X" — no semantic meaning at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10012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✓  Lexical match is essential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11183112" cy="1051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91440" cy="10515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8660" y="47777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" y="47777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Rare technical terms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54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مصطلحات نادرة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120640"/>
            <a:ext cx="10012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 "Mahalanobis distance" — narrow semantic 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394960"/>
            <a:ext cx="10012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✓  BM25 + reranking nails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The fix: combine vector search with BM25 — the next slide shows how.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البحث الهجين — متجهات + BM25 + RRF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Hybrid Search — Vector + BM25 + Reciprocal Rank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280160"/>
            <a:ext cx="233172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2801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User Query  ·  السؤال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194560"/>
            <a:ext cx="41148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Vector search  ·  بحث متجهي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194560"/>
            <a:ext cx="41148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194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BM25 keyword  ·  بحث معجمي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246120" y="1737360"/>
            <a:ext cx="2423160" cy="457200"/>
          </a:xfrm>
          <a:prstGeom prst="line">
            <a:avLst/>
          </a:prstGeom>
          <a:ln w="1905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92240" y="1737360"/>
            <a:ext cx="2468880" cy="457200"/>
          </a:xfrm>
          <a:prstGeom prst="line">
            <a:avLst/>
          </a:prstGeom>
          <a:ln w="1905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88720" y="2788920"/>
            <a:ext cx="4114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834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Catches semantic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54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E75B6"/>
                </a:solidFill>
                <a:latin typeface="Consolas"/>
              </a:rPr>
              <a:t>"capital of Yemen" → "Sanaa"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788920"/>
            <a:ext cx="4114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834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Catches exact tokens &amp; 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onsolas"/>
              </a:rPr>
              <a:t>"BG-2300X" → matches verbatim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931920"/>
            <a:ext cx="38404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93192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RRF — Reciprocal Rank Fusion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566160"/>
            <a:ext cx="1920240" cy="36576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80" y="3566160"/>
            <a:ext cx="1920240" cy="36576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417320" y="4663440"/>
            <a:ext cx="9354312" cy="960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354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E6C06E"/>
                </a:solidFill>
                <a:latin typeface="Consolas"/>
              </a:rPr>
              <a:t>score(d) = Σ over methods   1 / (k + rank_method(d))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38928"/>
            <a:ext cx="9354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k = 60 (typical),  rank = position in each method's result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+ optional rerank step (Cohere Rerank · cross-encoder) on top-20 → top-5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هذا القفز من "يَعمل بالكاد" إلى "يُبهر العميل".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GraphRAG و Agentic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GraphRAG and Agentic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﴿وَأَنَّ هَٰذَا صِرَاطِي مُسْتَقِيمًا فَاتَّبِعُوهُ ۖ وَلَا تَتَّبِعُوا السُّبُلَ﴾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الأنعام: ١٥٣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"This is My straight path — follow it, and do not follow other paths."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Al-An'am, 153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متى يَفوز الرسم البياني المعرفي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When the Knowledge Graph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Question: "Which students of Sheikh Ibn Baz became judges in the Kingdom?"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السؤال: «من تَلامذة الشيخ ابن باز الذين أصبحوا قُضاةً في المملكة؟»</a:t>
            </a:r>
          </a:p>
        </p:txBody>
      </p:sp>
      <p:sp>
        <p:nvSpPr>
          <p:cNvPr id="8" name="Oval 7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6" y="21031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Amiri"/>
              </a:rPr>
              <a:t>ابن باز</a:t>
            </a:r>
          </a:p>
        </p:txBody>
      </p:sp>
      <p:sp>
        <p:nvSpPr>
          <p:cNvPr id="10" name="Oval 9"/>
          <p:cNvSpPr/>
          <p:nvPr/>
        </p:nvSpPr>
        <p:spPr>
          <a:xfrm>
            <a:off x="2811780" y="3497580"/>
            <a:ext cx="777240" cy="7772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3703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Amiri"/>
              </a:rPr>
              <a:t>الشيخ 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9319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Amiri"/>
              </a:rPr>
              <a:t>قاضٍ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00400" y="3017520"/>
            <a:ext cx="2894076" cy="484632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4389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Amiri"/>
              </a:rPr>
              <a:t>→ يقيم في: الرياض</a:t>
            </a:r>
          </a:p>
        </p:txBody>
      </p:sp>
      <p:sp>
        <p:nvSpPr>
          <p:cNvPr id="15" name="Oval 14"/>
          <p:cNvSpPr/>
          <p:nvPr/>
        </p:nvSpPr>
        <p:spPr>
          <a:xfrm>
            <a:off x="5705856" y="3497580"/>
            <a:ext cx="777240" cy="77724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0428" y="3703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miri"/>
              </a:rPr>
              <a:t>الشيخ 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0428" y="39319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miri"/>
              </a:rPr>
              <a:t>مُدرّس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4476" y="3017520"/>
            <a:ext cx="0" cy="484632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54396" y="4389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Amiri"/>
              </a:rPr>
              <a:t>→ يقيم في: المدينة</a:t>
            </a:r>
          </a:p>
        </p:txBody>
      </p:sp>
      <p:sp>
        <p:nvSpPr>
          <p:cNvPr id="20" name="Oval 19"/>
          <p:cNvSpPr/>
          <p:nvPr/>
        </p:nvSpPr>
        <p:spPr>
          <a:xfrm>
            <a:off x="8599932" y="3497580"/>
            <a:ext cx="777240" cy="7772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3703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Amiri"/>
              </a:rPr>
              <a:t>الشيخ 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39319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Amiri"/>
              </a:rPr>
              <a:t>قاضٍ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4476" y="3017520"/>
            <a:ext cx="2894076" cy="484632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48472" y="4389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Amiri"/>
              </a:rPr>
              <a:t>→ يقيم في: جدّة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276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1">
                <a:solidFill>
                  <a:srgbClr val="C9A84C"/>
                </a:solidFill>
                <a:latin typeface="Amiri"/>
              </a:rPr>
              <a:t>علّم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074920"/>
            <a:ext cx="11183112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Why vector RAG fails here  ·  لماذا يَفشل RAG المتجهي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The relationships span multiple documents — no single chunk has all four facts.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العلاقات موزّعة عبر وثائق — لا توجد قطعة واحدة تحوي الحقائق الأربع معاً.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متى تَحتاج GraphRAG ومتى لا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When You Need GraphRAG — and When You Don't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4709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 Use GraphRAG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8920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•  Complex relationships matter: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chains of narration, genealogy,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social networks, parent companies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•  Multi-hop reasoning: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"Who contributed to product X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that company Y launched in 2022?"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•  Counting questions: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"How many scholars studied at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Al-Azhar between 1900–1950?"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440680" cy="4709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6128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✗  Don't use GraphRAG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8920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•  Standard commercial RAG: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customer support, doc Q&amp;A, FAQs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•  Data without meaningful relations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(just "facts about X" — not links between X and Y)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•  Build cost matters: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extracting graph from text needs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    LLM passes — expensive at scale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1200" b="1" i="1">
                <a:solidFill>
                  <a:srgbClr val="C9A84C"/>
                </a:solidFill>
                <a:latin typeface="Cambria"/>
              </a:rPr>
              <a:t>Default: vector RAG. Add graph only when you have evidence you need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تقييم أنظمة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Evaluating RAG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﴿وَزِنُوا بِالْقِسْطَاسِ الْمُسْتَقِيمِ﴾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٣٥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weigh with a balanced scale."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ثلاثة مقاييس — RAGAS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Metrics — The RAGAS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"It looks great" is not evaluation. RAG needs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15773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5773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Faithfulness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الأمانة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01168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Q:  Are all claims in the answer supported by the retrieved sources?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500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onsolas"/>
              </a:rPr>
              <a:t>→ = supported claims / total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000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1.0 = no fabrication.   0.6 = 40% of answer is invented.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9144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" y="30861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" y="30861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Answer 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08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2E75B6"/>
                </a:solidFill>
                <a:latin typeface="Amiri"/>
              </a:rPr>
              <a:t>صلة الإجابة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52044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Q:  Does the answer actually address the question?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858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onsolas"/>
              </a:rPr>
              <a:t>→ Reverse-question similarity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587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0.85 = good.   0.5 = answers a side issue.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2628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26280"/>
            <a:ext cx="91440" cy="13716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60" y="45948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594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Context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Amiri"/>
              </a:rPr>
              <a:t>صلة السياق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02920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Q:  Are the retrieved chunks actually relevant?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367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onsolas"/>
              </a:rPr>
              <a:t>→ % chunks actually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675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Low score → fix chunking / embedding / retrieval.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onsolas"/>
              </a:rPr>
              <a:t>pip install ragas — runs all three metrics on a test set automatically.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بناء مجموعة اختبار ذهبيّة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Building a Golden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Without a labeled test set, every "improvement" is a guess</a:t>
            </a:r>
          </a:p>
        </p:txBody>
      </p:sp>
      <p:sp>
        <p:nvSpPr>
          <p:cNvPr id="7" name="Oval 6"/>
          <p:cNvSpPr/>
          <p:nvPr/>
        </p:nvSpPr>
        <p:spPr>
          <a:xfrm>
            <a:off x="662940" y="15773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" y="15773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508760"/>
            <a:ext cx="1001268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Collect 50–200 real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554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اجمع ٥٠-٢٠٠ سؤالاً حقيقيّاً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2024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From your client's actual users — not made up by you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" y="24460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" y="24460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377440"/>
            <a:ext cx="1001268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Write the gold-standard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23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اكتب الإجابة الذهبيّة لكلّ سؤال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8892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Including which source chunks should have been retrieved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" y="33147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" y="33147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3246120"/>
            <a:ext cx="1001268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Diversify by difficulty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نوّع بالصعوبة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5760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Easy lookup · multi-doc synthesis · ambiguous · adversarial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" y="41833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" y="41833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4114800"/>
            <a:ext cx="1001268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160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Run RAGAS on each iteration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شغّل RAGAS بعد كلّ تعديل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8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If a metric drops, you broke something. Track changes in git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" y="50520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" y="50520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40" y="4983480"/>
            <a:ext cx="1001268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Re-test after every model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أعد الاختبار بعد كلّ تحديث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9496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New embedding model? New chunking? Always re-evaluate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RAG للمحتوى الإسلامي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RAG for Islamic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﴿إِنَّ هَٰذَا الْقُرْآنَ يَهْدِي لِلَّتِي هِيَ أَقْوَمُ﴾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"Indeed this Quran guides to that which is most upright."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تحدّيات فريدة — النصّ الإسلامي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Unique Challenges — Islamic Text Demands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Whoever builds RAG on Quran, Hadith, and Tafsir carries a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من بَنى RAG على هذه النصوص يَحمل أمانة: لا يَختلق، لا يُفتي، لا يَنسى الإسناد.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91440" cy="9601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Tashkeel (diacritics)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التشكيل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عَلِم  ≠  عَلَّم  ≠  عُلِم  ≠  عِلْم. Without diacritics, the model guesses.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C9A84C"/>
                </a:solidFill>
                <a:latin typeface="Cambria"/>
              </a:rPr>
              <a:t>✓ Quran: keep tashkeel always.   Hadith: prefer it.   Fiqh: optional.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99232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9144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906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Special ligatures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9067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2E75B6"/>
                </a:solidFill>
                <a:latin typeface="Amiri"/>
              </a:rPr>
              <a:t>الحروف الخاصّة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10712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ﷲ (Allah ligature),  ﷺ (sallallahu ʿalayhi wa sallam),  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85032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✓ Normalize once — but keep the original glyphs in display.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78224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78224"/>
            <a:ext cx="91440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96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Citation traditions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6966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تقاليد الاقتباس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89704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Quran: ﴿وأوفوا بالعهد﴾ [الإسراء: ٣٤].   Hadith: «...» البخاري ١، مسلم ١٩٠٧.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64024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✓ Your system must produce these — never paraphrase a sacred 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57216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57216"/>
            <a:ext cx="91440" cy="9601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486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Classical Arabic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24865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العربيّة الكلاسيكيّة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68696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✗ An embedder trained on news may understand Quran at only 70% quality.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43016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C9A84C"/>
                </a:solidFill>
                <a:latin typeface="Cambria"/>
              </a:rPr>
              <a:t>✓ Use Arabic-strong embeddings (bge-m3, Cohere multilingual-v3).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تنسيق المصادر — JSON للقرآن والحديث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Source Schemas — JSON for Quran &amp; Hadith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4937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onsolas"/>
              </a:rPr>
              <a:t>quran_ayah.json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"surah_no": 17,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"surah_name_ar": "الإسراء",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"surah_name_en": "Al-Isra",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963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"ayah_no": 36,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"text_with_tashkeel":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9008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"وَلَا تَقْفُ مَا لَيْسَ ...",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3697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"text_plain":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8386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"ولا تقف ما ليس...",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075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"translation_en":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"Do not pursue...",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2452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"tafsir_ibn_kathir": "...",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"revelation": "Makkah",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1830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"ruku":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097280"/>
            <a:ext cx="5440680" cy="4937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097280"/>
            <a:ext cx="54406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1430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onsolas"/>
              </a:rPr>
              <a:t>hadith.json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5087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75564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"collection": "صحيح البخاري",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0025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"collection_en": "Sahih al-Bukhari",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24942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"hadith_no": 1,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4963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"book": "كتاب بدء الوحي",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432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"chain":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99008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  ["الحميدي", "سفيان", "يحيى"],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3697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"matn_ar":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48386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"إنما الأعمال بالنيّات...",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73075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"matn_en":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9776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"Actions are by intentions...",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22452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"grade": "صحيح",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7141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"topic": "النيّة",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1830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"cross_refs": ["مسلم 1907"]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96519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Citation comes from the schema, not the LLM. The model never invents an attribution.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RAG للمستندات الأكاديميّة بالعربيّة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RAG for Arabic Academic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﴿هَلْ يَسْتَوِي الَّذِينَ يَعْلَمُونَ وَالَّذِينَ لَا يَعْلَمُونَ﴾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الزمر: 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"Are those who know equal to those who do not know?"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Az-Zumar,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تشخيص PDF — ثلاثة أنواع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Diagnose Your PDFs — Three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PyPDF fails on half of real-world Arabic PDFs. Always diagnose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15773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5773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Text-based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نصّ نظيف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01168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Consolas"/>
              </a:rPr>
              <a:t>Signal:  len(extracted_text) &gt; 200 chars   AND   &lt; 30 unique chars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→ PyPDFLoader works 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Most modern PDFs · digital exports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9144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" y="30861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" y="30861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Text with encoding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08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مشاكل ترميز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52044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Consolas"/>
              </a:rPr>
              <a:t>Signal:  Extracted text contains '?' chars or low char diversity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840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→ Try PyMuPDFLoader or unstructured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Old Word exports · CID-encoded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2628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26280"/>
            <a:ext cx="91440" cy="13716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60" y="45948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594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Scanned image-based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ممسوحة ضوئيّاً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02920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Consolas"/>
              </a:rPr>
              <a:t>Signal:  len(extracted_text) &lt; 200 chars   →   it's an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→ OCR required (Tesseract / Surya / Azure)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349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Old theses · government archives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OCR للعربيّة — ثلاثة خيارات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Arabic OCR — Three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2377440" cy="16916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Tesseract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تيسيراكت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$0 (self-host)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1887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✓ Open-source · free · Arabic support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✗ Quality fluctuates · old fonts struggle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031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6B6B"/>
                </a:solidFill>
                <a:latin typeface="Cambria"/>
              </a:rPr>
              <a:t>Best for: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Quick prototypes · simple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2377440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Surya 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576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سوريا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$0 (self-host)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9718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✓ Open-source · transformer-based · 2024+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✗ Slower · GPU recommended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862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Cambria"/>
              </a:rPr>
              <a:t>Best for: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062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Modern Arabic OCR · best free option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2377440" cy="1691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Azure Document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40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أزور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52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~$1.50 per 1000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7548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✓ Commercial · best Arabic accuracy in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16636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✗ Per-page cost · cloud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6692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mbria"/>
              </a:rPr>
              <a:t>Best for: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893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Production · large archives · high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النَشر والإنتاج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Deployment &amp;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﴿وَقُلِ اعْمَلُوا فَسَيَرَى اللَّهُ عَمَلَكُمْ وَرَسُولُهُ وَالْمُؤْمِنُونَ﴾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التوبة: ١٠٥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"Say: work — and Allah will see your work, and so will His Messenger and the believers."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At-Tawbah, 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خمس منصّات نَشر — قارن واختر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Five Deployment Platforms — Compare &amp; Choose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09728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Start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0972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0972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Freedom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0972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45920"/>
            <a:ext cx="11183112" cy="548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Vercel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2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645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64592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645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Frontend + separate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2402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Hugging Face 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2402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2402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24028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Streamlit / Gradio demos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34640"/>
            <a:ext cx="11183112" cy="548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83464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Railway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3464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$5/mo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8346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34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Most RAG production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29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Self-host VPS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42900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$4–10/mo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4290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4290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★★★★★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29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Full control · Docker · learning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02336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Fly.io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02336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$2–5/mo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40233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02336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onsolas"/>
              </a:rPr>
              <a:t>★★★★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023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Multi-region · close to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440680"/>
            <a:ext cx="11183112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Recommendation: Railway for most freelance RAG. Fly.io if your users are global.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7044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miri"/>
              </a:rPr>
              <a:t>التوصية: Railway لمعظم RAG الحرّ. Fly.io إن كان عملاؤك عالميّين.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قائمة فحص ما قبل الإنتاج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Pre-Production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Don't ship a RAG system without all of these checked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95043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RAGAS evaluation passes (faithfulness &gt; 0.85)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50876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اختبار RAGAS ناجح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061971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4825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756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Golden test set committed to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07568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مجموعة اختبار ذهبيّة في المستودع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5117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2628899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1518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426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Hybrid search live (vector + BM25)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64261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بحث هجين مفعّل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195827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8211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2095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Reranking on top-20 → top-5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209544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إعادة ترتيب على top-20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8503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762755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4904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7764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Cost-per-query monitored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77647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مراقبة التكلفة لكلّ سؤال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329683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1596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343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Source citations shown to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34340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اقتباسات المصادر تَظهر للمستخدم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818888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" y="4896611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8828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910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Failure mode: "I don't know" — not hallucinate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91032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وضع الفشل: "لا أعرف" — لا اختراع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5463539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4982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7725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Re-index pipeline tested on new documents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47725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أنبوب إعادة الفهرسة مُختبَر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عَشر خلاصات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54406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Hallucination is expected behavior, not a 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الهلوسة سلوك متوقّع، لا عيب.</a:t>
            </a:r>
          </a:p>
        </p:txBody>
      </p:sp>
      <p:sp>
        <p:nvSpPr>
          <p:cNvPr id="10" name="Oval 9"/>
          <p:cNvSpPr/>
          <p:nvPr/>
        </p:nvSpPr>
        <p:spPr>
          <a:xfrm>
            <a:off x="54406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RAG wins for ~90% of production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RAG يَفوز في ٩٠٪ من الإنتاج.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Every RAG = 5 stages: Ingest, Chunk, Embed, Store, Retrieve+Generate.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كل RAG = خمس مراحل.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Build raw first. Frameworks later, with awareness.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ابنِ بدون إطار أوّلاً.</a:t>
            </a:r>
          </a:p>
        </p:txBody>
      </p:sp>
      <p:sp>
        <p:nvSpPr>
          <p:cNvPr id="22" name="Oval 21"/>
          <p:cNvSpPr/>
          <p:nvPr/>
        </p:nvSpPr>
        <p:spPr>
          <a:xfrm>
            <a:off x="54406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Embeddings = meaning as position in space.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التضمين: المعنى موضع في فضاء.</a:t>
            </a:r>
          </a:p>
        </p:txBody>
      </p:sp>
      <p:sp>
        <p:nvSpPr>
          <p:cNvPr id="26" name="Oval 25"/>
          <p:cNvSpPr/>
          <p:nvPr/>
        </p:nvSpPr>
        <p:spPr>
          <a:xfrm>
            <a:off x="644194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Chunking is 90% of "my RAG isn't working".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التقطيع = ٩٠٪ من المشاكل.</a:t>
            </a:r>
          </a:p>
        </p:txBody>
      </p:sp>
      <p:sp>
        <p:nvSpPr>
          <p:cNvPr id="30" name="Oval 29"/>
          <p:cNvSpPr/>
          <p:nvPr/>
        </p:nvSpPr>
        <p:spPr>
          <a:xfrm>
            <a:off x="644194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194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Hybrid search (vector + BM25) catches what each misses.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الهجين يَلتقط ما يَفوته كلّ منهما.</a:t>
            </a:r>
          </a:p>
        </p:txBody>
      </p:sp>
      <p:sp>
        <p:nvSpPr>
          <p:cNvPr id="34" name="Oval 33"/>
          <p:cNvSpPr/>
          <p:nvPr/>
        </p:nvSpPr>
        <p:spPr>
          <a:xfrm>
            <a:off x="644194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194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Without RAGAS, every "improvement" is a guess.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بلا RAGAS، كلّ تحسين تخمين.</a:t>
            </a:r>
          </a:p>
        </p:txBody>
      </p:sp>
      <p:sp>
        <p:nvSpPr>
          <p:cNvPr id="38" name="Oval 37"/>
          <p:cNvSpPr/>
          <p:nvPr/>
        </p:nvSpPr>
        <p:spPr>
          <a:xfrm>
            <a:off x="644194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Islamic &amp; Arabic content carry an extra trust.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المحتوى الإسلامي يَحمل أمانة.</a:t>
            </a:r>
          </a:p>
        </p:txBody>
      </p:sp>
      <p:sp>
        <p:nvSpPr>
          <p:cNvPr id="42" name="Oval 41"/>
          <p:cNvSpPr/>
          <p:nvPr/>
        </p:nvSpPr>
        <p:spPr>
          <a:xfrm>
            <a:off x="644194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194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Cite sources or don't ship.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اقتبس المصادر أو لا تَنشر.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مصفوفة القرار — RAG أم لا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Decision Matrix — When RAG vs. When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Scenario  ·  السيناريو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188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Pick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188720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Color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19072"/>
            <a:ext cx="11183112" cy="6126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647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Knowledge changes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4825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المعرفة تتغيّر أسبوعيّاً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56232"/>
            <a:ext cx="1828800" cy="365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856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Single small PDF (&lt; 100 pages)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0662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PDF صغير واحد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514600"/>
            <a:ext cx="182880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Long-context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35808"/>
            <a:ext cx="11183112" cy="6126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815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Need a specific writing 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64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تحتاج أسلوب كتابة محدّد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172968"/>
            <a:ext cx="18288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172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Fine-tune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3989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Thousands of company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2336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آلاف الوثائق الشركيّة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831336"/>
            <a:ext cx="1828800" cy="365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8313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52544"/>
            <a:ext cx="11183112" cy="6126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9826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One-time analysis of one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817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تحليل عقد واحد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489704"/>
            <a:ext cx="182880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4897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Long-context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5663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Domain-specific terminology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4009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مصطلحات تخصّصية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148072"/>
            <a:ext cx="18288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51480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RAG + fine-tune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669280"/>
            <a:ext cx="11183112" cy="6126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Need cited 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9846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تَحتاج اقتباسات مرجعية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5806440"/>
            <a:ext cx="1828800" cy="3657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حاسبة التكلفة لـ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RAG Cost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Build the math BEFORE you build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417320"/>
            <a:ext cx="8531352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6C06E"/>
                </a:solidFill>
                <a:latin typeface="Consolas"/>
              </a:rPr>
              <a:t>monthly_cost 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ACC77"/>
                </a:solidFill>
                <a:latin typeface="Consolas"/>
              </a:rPr>
              <a:t>  ingest_cost  +  embed_cost  +  query_cost  +  vector_db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423160"/>
            <a:ext cx="7616952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2542032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B6E8"/>
                </a:solidFill>
                <a:latin typeface="Consolas"/>
              </a:rPr>
              <a:t>Example: 10K docs × 1KB · 50K queries/mo · GPT-4o · text-embedding-3-small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62072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6C06E"/>
                </a:solidFill>
                <a:latin typeface="Consolas"/>
              </a:rPr>
              <a:t>≈  $0.20  +  $0  +  $250  +  $25  =  ~$275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Where the cost hides  ·  أين تَختبئ التكلفة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23360"/>
            <a:ext cx="11183112" cy="457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Re-embedding when docs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1148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إعادة التضمين عند تعديل الوثائق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177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Long context fed to GPT (top-10 chunks × 500 tok)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6177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السياق الطويل المُمرَّر إلى GPT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11183112" cy="457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93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20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Reranking adds another LLM pass per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12064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إعادة الترتيب تُضيف استدعاءً إضافيّاً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Always quote clients with a 1.5× safety margin on token math.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اعرض على العملاء سعراً يَفترض هامش أمان ١٫٥×.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مَشروع التطبيق — هذا الأسبوع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Build This Week — The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725912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5912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WEEK 3 CAPSTONE  ·  مَشروع الأسبوع الثالث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1B3A5C"/>
                </a:solidFill>
                <a:latin typeface="Cambria"/>
              </a:rPr>
              <a:t>Build a complete "Yemeni Knowledge RAG":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Ingest 100+ Arabic documents (your domain — Quran tafsir, theses, news, 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Use bge-m3 embeddings for Arabic — and benchmark vs OpenAI on 30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Hybrid search: ChromaDB + BM25 (rank-bm25)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Cohere Rerank on top-20 → top-5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9476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RAGAS evaluation: target faithfulness &gt; 0.85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Streamlit UI with cited sources displayed for each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•  Deploy to Hugging Face Spaces or Railway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8348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C9A84C"/>
                </a:solidFill>
                <a:latin typeface="Cambria"/>
              </a:rPr>
              <a:t>Submit a 5-min screen recording: 5 questions answered, all with citations.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What you can't cite, you can't claim. The first rule of every research scholar.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Amiri"/>
              </a:rPr>
              <a:t>ما لا تَعزوه، لا تَدّعيه. أوّل قاعدة لكلّ باحث.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 فُرص في السوق العربيّ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Market Opportunities — Arab World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Islamic content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RAG للمحتوى الإسلامي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Quran · Hadith · Tafsir search engines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4983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→  $5,000–20,000 per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Islamic centers, apps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440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Legal &amp; regulatory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RAG للقانون والتنظيم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ZATCA · SAMA · GCC compliance · case 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468880"/>
            <a:ext cx="4983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→  $10,000–80,000 per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803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law firms, banks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93592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54406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Academic research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RAG للأبحاث الأكاديميّة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8795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Arabic theses, journals, citation extraction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65192"/>
            <a:ext cx="4983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109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→  $3,000–15,000 per 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7667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universities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593592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593592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Customer support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RAG لخدمة العملاء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8795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Internal docs, manuals, FAQs in Arabic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965192"/>
            <a:ext cx="4983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0109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→  $2,000–10,000 + $500–2,000/mo retainer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37667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خارطة طريق ٦ أسابيع — أوّل عميل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6-Week Roadmap — Your First Paid RAG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8412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0" cy="8412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8288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7218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الأسبوع 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188720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Build the capstone end-to-end on a public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Submit screen recording · review with mentor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84248"/>
            <a:ext cx="11183112" cy="8412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984248"/>
            <a:ext cx="182880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18288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9152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الأسبوع 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075688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Identify one specific pain in your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441448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Lawyer · clinic · school · Islamic center · law firm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71216"/>
            <a:ext cx="11183112" cy="8412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71216"/>
            <a:ext cx="1828800" cy="8412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71216"/>
            <a:ext cx="18288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الأسبوع 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962656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Pitch a $1,000–2,000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328416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30-min demo · 1-page proposal · 50% upfront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58184"/>
            <a:ext cx="11183112" cy="8412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58184"/>
            <a:ext cx="182880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58184"/>
            <a:ext cx="18288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3308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الأسبوع 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849624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Build the prototype on real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215384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Hybrid search + reranking + RAGAS + Streamlit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645152"/>
            <a:ext cx="11183112" cy="8412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645152"/>
            <a:ext cx="1828800" cy="8412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45152"/>
            <a:ext cx="18288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Week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020056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الأسبوع 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736592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Deliver, get feedback, iterate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102352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Run RAGAS in front of client · prove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32120"/>
            <a:ext cx="11183112" cy="8412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532120"/>
            <a:ext cx="182880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532120"/>
            <a:ext cx="18288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Week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0702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الأسبوع 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623560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Convert to retainer or take referral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989320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$500–2,000/mo retainer OR 2 introductions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من المسار أ إلى الإنتاج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From Track A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RAG is the gateway between "using LLMs" and "engineering with LLMs".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RAG هو البوّابة بين «استخدام النماذج» و«الهندسة بها».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2377440" cy="8686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Level 1 —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مستخدم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Talks to ChatGPT · uses Cursor · prompts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88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B6B6B"/>
                </a:solidFill>
                <a:latin typeface="Cambria"/>
              </a:rPr>
              <a:t>$0–30K freelance ceiling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91840"/>
            <a:ext cx="2377440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Level 2 — Power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49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مستخدم متقدّم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29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Builds Make/Zapier flows · Claude Projects · GPTs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749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$30K–60K ceiling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237744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Level 3 — RAG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مهندس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89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Builds custom retrieval systems · evaluates · 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709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$60K–150K ceiling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12080"/>
            <a:ext cx="2377440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03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Level 4 — Agent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69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مهندس وكلاء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3492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Multi-agent systems · MCP servers ·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669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$120K–250K+ ceiling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After this week: you're at Level 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ماذا بعد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You can now retrieve. Next, you'll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تَعرف الآن أن تَسترجع. تالياً ستَتعلّم أن تَفعل.</a:t>
            </a:r>
          </a:p>
        </p:txBody>
      </p:sp>
      <p:sp>
        <p:nvSpPr>
          <p:cNvPr id="8" name="Oval 7"/>
          <p:cNvSpPr/>
          <p:nvPr/>
        </p:nvSpPr>
        <p:spPr>
          <a:xfrm>
            <a:off x="662940" y="24917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" y="24917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23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Week 4 — AI Agents &amp;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231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وكلاء الذكاء وبروتوكول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8036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Loops, tools, and the protocol that wires them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" y="35890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" y="35890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204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Open-source one Arabic RAG 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5204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افتح مصدر مكوّن RAG عربيّ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7764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Tashkeel-aware chunker · Arabic-strong embedder · Quran indexer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" y="46863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" y="46863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17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Sell one $2,000 RAG to one Yemeni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17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بِع RAG واحداً بـ ٢,٠٠٠ دولار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07492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The first one is the hardest. After that, referrals do the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The market for production-grade Arabic RAG is wide open. Fill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RAG Engineering  ·  هندسة التوليد المعزّز بالاسترجاع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7200" b="1" i="0">
                <a:solidFill>
                  <a:srgbClr val="C9A84C"/>
                </a:solidFill>
                <a:latin typeface="Amiri"/>
              </a:rPr>
              <a:t>والله أعلم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mbria"/>
              </a:rPr>
              <a:t>And Allah knows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3375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C9A84C"/>
                </a:solidFill>
                <a:latin typeface="Cambria"/>
              </a:rPr>
              <a:t>Thank you  ·  شكراً لكم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LLM4Yemen Program  ·  Track B  ·  Week 3  ·  RAG Engineering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"Ask the people of knowledge if you do not know."   ·   ﴿فاسألوا أهل الذكر إن كنتم لا تعلمون﴾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