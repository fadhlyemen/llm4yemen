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65760"/>
            <a:ext cx="2743200" cy="274320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754880"/>
            <a:ext cx="2560320" cy="256032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02920"/>
            <a:ext cx="228600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22860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B3A5C"/>
                </a:solidFill>
                <a:latin typeface="Cambria"/>
              </a:rPr>
              <a:t>WEEK 2  —  المحاضرة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4200" b="1" i="0">
                <a:solidFill>
                  <a:srgbClr val="FFFFFF"/>
                </a:solidFill>
                <a:latin typeface="Amiri"/>
              </a:rPr>
              <a:t>NotebookLM — الدليل الشامل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0" i="0">
                <a:solidFill>
                  <a:srgbClr val="C9A84C"/>
                </a:solidFill>
                <a:latin typeface="Cambria"/>
              </a:rPr>
              <a:t>NotebookLM — The Complete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127455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0" i="0">
                <a:solidFill>
                  <a:srgbClr val="F5F0E8"/>
                </a:solidFill>
                <a:latin typeface="Amiri"/>
              </a:rPr>
              <a:t>من رفع البيانات إلى البودكاست — كيف تحوّل مصادرك إلى معرفة تفاعلية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90672"/>
            <a:ext cx="112745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1">
                <a:solidFill>
                  <a:srgbClr val="CCCCCC"/>
                </a:solidFill>
                <a:latin typeface="Cambria"/>
              </a:rPr>
              <a:t>From source upload to AI podcast — turning your documents into interactive knowledge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611880"/>
            <a:ext cx="57881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79476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C9A84C"/>
                </a:solidFill>
                <a:latin typeface="Amiri"/>
              </a:rPr>
              <a:t>المسار (أ) و (ب)  ·  كلا المسارين  ·  Track A &amp; B — Both Tracks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112745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CCCCCC"/>
                </a:solidFill>
                <a:latin typeface="Cambria"/>
              </a:rPr>
              <a:t>LLM4Yemen Program  ·  برنامج LLM4Yemen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 /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727448" y="822960"/>
            <a:ext cx="2743200" cy="274320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800" b="1" i="0">
                <a:solidFill>
                  <a:srgbClr val="C9A84C"/>
                </a:solidFill>
                <a:latin typeface="Amiri"/>
              </a:rPr>
              <a:t>بِسْمِ اللَّهِ الرَّحْمَنِ الرَّحِيمِ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0" y="868680"/>
            <a:ext cx="57881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097280"/>
            <a:ext cx="1127455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3400" b="1" i="0">
                <a:solidFill>
                  <a:srgbClr val="FFFFFF"/>
                </a:solidFill>
                <a:latin typeface="Amiri"/>
              </a:rPr>
              <a:t>﴿وَقُل رَّبِّ زِدْنِي عِلْمًا﴾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745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0" i="0">
                <a:solidFill>
                  <a:srgbClr val="CCCCCC"/>
                </a:solidFill>
                <a:latin typeface="Amiri"/>
              </a:rPr>
              <a:t>سورة طه، ٢٠:١١٤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2745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1">
                <a:solidFill>
                  <a:srgbClr val="F5F0E8"/>
                </a:solidFill>
                <a:latin typeface="Cambria"/>
              </a:rPr>
              <a:t>"And say: My Lord, increase me in knowledge."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888888"/>
                </a:solidFill>
                <a:latin typeface="Cambria"/>
              </a:rPr>
              <a:t>Ta-Ha, 20:114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3291840"/>
            <a:ext cx="57881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34747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0" i="0">
                <a:solidFill>
                  <a:srgbClr val="F5F0E8"/>
                </a:solidFill>
                <a:latin typeface="Amiri"/>
              </a:rPr>
              <a:t>هذه المحاضرة مُهداة لكل طالب يمني يسعى إلى تضخيم قيمة مصادره المحدودة —
لأن العلم الحقيقي لا يعرف حصاراً ولا حدوداً.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CCCCCC"/>
                </a:solidFill>
                <a:latin typeface="Cambria"/>
              </a:rPr>
              <a:t>This lecture is dedicated to every Yemeni student who seeks to multiply the value of their limited sources —
because true knowledge knows neither siege nor borders.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أهداف المحاضرة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Lecture Objectives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57200" y="1307592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فهم ما يميّز NotebookLM عن ChatGPT وClaude وPerplexity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45336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Understand what makes NotebookLM different from ChatGPT, Claude, and Perplexity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874520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7200" y="2295144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95144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21992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إتقان رفع المصادر وبناء دفاتر البحث الاحترافية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32888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Master source uploading and building professional research notebooks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286207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7200" y="3282696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09544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توظيف الأسئلة السبعة الفعّالة للحصول على إجابات موثّقة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20440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Apply the 7 effective question types to get cited, source-grounded answers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3849624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57200" y="4270248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70248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97096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استخدام ميزة Audio Overview لتحويل مصادرك إلى بودكاست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07992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Use the Audio Overview feature to convert your sources into a podcast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483717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57200" y="525780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5780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84648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تطبيق NotebookLM في البحث الأكاديمي، العمل الحر، والدراسات الإسلامية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495544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Apply NotebookLM in academic research, freelance work, and Islamic studies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5824728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خريطة المحاضرة — ١٠ فصول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Lecture Roadmap — 10 Chapters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34440"/>
            <a:ext cx="2148840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" y="13258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3258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1B3A5C"/>
                </a:solidFill>
                <a:latin typeface="Amiri"/>
              </a:rPr>
              <a:t>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47672"/>
            <a:ext cx="2057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ما هو NotebookLM؟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04872"/>
            <a:ext cx="2057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EEEEEE"/>
                </a:solidFill>
                <a:latin typeface="Cambria"/>
              </a:rPr>
              <a:t>What Is NotebookLM?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9192" y="1234440"/>
            <a:ext cx="2148840" cy="2103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3864" y="13258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3258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E75B6"/>
                </a:solidFill>
                <a:latin typeface="Amiri"/>
              </a:rPr>
              <a:t>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947672"/>
            <a:ext cx="2057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الإعداد والبدء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404872"/>
            <a:ext cx="2057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EEEEEE"/>
                </a:solidFill>
                <a:latin typeface="Cambria"/>
              </a:rPr>
              <a:t>Sign-up &amp; 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8344" y="1234440"/>
            <a:ext cx="2148840" cy="2103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43016" y="13258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3016" y="13258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028090"/>
                </a:solidFill>
                <a:latin typeface="Amiri"/>
              </a:rPr>
              <a:t>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1947672"/>
            <a:ext cx="2057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المصادر وأنواعها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404872"/>
            <a:ext cx="2057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EEEEEE"/>
                </a:solidFill>
                <a:latin typeface="Cambria"/>
              </a:rPr>
              <a:t>Sources &amp; 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1234440"/>
            <a:ext cx="2148840" cy="2103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02168" y="13258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13258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27AE60"/>
                </a:solidFill>
                <a:latin typeface="Amiri"/>
              </a:rPr>
              <a:t>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1947672"/>
            <a:ext cx="2057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فن السؤال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2404872"/>
            <a:ext cx="2057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EEEEEE"/>
                </a:solidFill>
                <a:latin typeface="Cambria"/>
              </a:rPr>
              <a:t>The Art of Asking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6648" y="1234440"/>
            <a:ext cx="2148840" cy="2103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61320" y="13258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61320" y="13258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C9A84C"/>
                </a:solidFill>
                <a:latin typeface="Amiri"/>
              </a:rPr>
              <a:t>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1947672"/>
            <a:ext cx="2057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البودكاست التلقائي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2404872"/>
            <a:ext cx="2057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EEEEEE"/>
                </a:solidFill>
                <a:latin typeface="Cambria"/>
              </a:rPr>
              <a:t>Audio Overview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57600"/>
            <a:ext cx="2148840" cy="21031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24712" y="3749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" y="37490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8E44AD"/>
                </a:solidFill>
                <a:latin typeface="Amiri"/>
              </a:rPr>
              <a:t>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370832"/>
            <a:ext cx="2057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استوديو الأدوات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828032"/>
            <a:ext cx="2057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EEEEEE"/>
                </a:solidFill>
                <a:latin typeface="Cambria"/>
              </a:rPr>
              <a:t>Studio Features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79192" y="3657600"/>
            <a:ext cx="2148840" cy="2103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83864" y="3749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83864" y="37490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C0392B"/>
                </a:solidFill>
                <a:latin typeface="Amiri"/>
              </a:rPr>
              <a:t>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4912" y="4370832"/>
            <a:ext cx="2057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الاستخدام الأكاديمي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828032"/>
            <a:ext cx="2057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EEEEEE"/>
                </a:solidFill>
                <a:latin typeface="Cambria"/>
              </a:rPr>
              <a:t>Academic Uses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38344" y="3657600"/>
            <a:ext cx="2148840" cy="21031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43016" y="3749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43016" y="37490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D35400"/>
                </a:solidFill>
                <a:latin typeface="Amiri"/>
              </a:rPr>
              <a:t>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4064" y="4370832"/>
            <a:ext cx="2057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العمل الحر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4064" y="4828032"/>
            <a:ext cx="2057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EEEEEE"/>
                </a:solidFill>
                <a:latin typeface="Cambria"/>
              </a:rPr>
              <a:t>Freelance Uses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97496" y="3657600"/>
            <a:ext cx="2148840" cy="21031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02168" y="3749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2168" y="37490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1A6B3A"/>
                </a:solidFill>
                <a:latin typeface="Amiri"/>
              </a:rPr>
              <a:t>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43216" y="4370832"/>
            <a:ext cx="2057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الاستخدام الإسلامي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3216" y="4828032"/>
            <a:ext cx="2057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EEEEEE"/>
                </a:solidFill>
                <a:latin typeface="Cambria"/>
              </a:rPr>
              <a:t>Islamic Uses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56648" y="3657600"/>
            <a:ext cx="2148840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61320" y="37490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61320" y="37490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1B3A5C"/>
                </a:solidFill>
                <a:latin typeface="Amiri"/>
              </a:rPr>
              <a:t>١٠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02368" y="4370832"/>
            <a:ext cx="20574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المقارنة والتكامل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02368" y="4828032"/>
            <a:ext cx="2057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EEEEEE"/>
                </a:solidFill>
                <a:latin typeface="Cambria"/>
              </a:rPr>
              <a:t>Comparison &amp; Integration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ما هو NotebookLM وأين يقع في مشهد أدوات الذكاء الاصطناعي؟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What Is NotebookLM and Where Does It Sit in the AI Landscape?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﴿وَقُل رَّبِّ زِدْنِي عِلْمًا﴾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طه، ٢٠:١١٤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say: My Lord, increase me in knowledge."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Ta-Ha, 20:114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المشكلة التي يحلّها NotebookLM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Problem NotebookLM Solves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34440"/>
            <a:ext cx="5303520" cy="51206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سيناريو: عبدالله وأطروحته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E75B6"/>
                </a:solidFill>
                <a:latin typeface="Cambria"/>
              </a:rPr>
              <a:t>Abdullah's Thesis —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029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• ٣ كتب زراعية يمنية — PDF ممسوح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029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• ١٥ ورقة بحثية بالإنجليزية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5029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• تقريران من البنك الدولي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5029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• ٦ ساعات من مقابلات صوتية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5029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C1C1C"/>
                </a:solidFill>
                <a:latin typeface="Amiri"/>
              </a:rPr>
              <a:t>• موقعان حكوميان بالإحصاءات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9160"/>
            <a:ext cx="50292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5029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قراءة كل هذا تستغرق ٦ أشهر — والمهلة ٣ أشهر!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234440"/>
            <a:ext cx="5925312" cy="5120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71600"/>
            <a:ext cx="5669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800" b="1" i="0">
                <a:solidFill>
                  <a:srgbClr val="C9A84C"/>
                </a:solidFill>
                <a:latin typeface="Amiri"/>
              </a:rPr>
              <a:t>الحل: NotebookLM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719072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CCCCC"/>
                </a:solidFill>
                <a:latin typeface="Cambria"/>
              </a:rPr>
              <a:t>The Solution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0" y="2221992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221992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48840"/>
            <a:ext cx="5120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رفع المصادر إلى دفتر واحد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96312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Upload all sources to one notebook</a:t>
            </a:r>
          </a:p>
        </p:txBody>
      </p:sp>
      <p:sp>
        <p:nvSpPr>
          <p:cNvPr id="23" name="Oval 22"/>
          <p:cNvSpPr/>
          <p:nvPr/>
        </p:nvSpPr>
        <p:spPr>
          <a:xfrm>
            <a:off x="6035040" y="3118104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118104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044952"/>
            <a:ext cx="5120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اسأل سؤالاً عابراً للمصادر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92424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Ask cross-source questions instantly</a:t>
            </a:r>
          </a:p>
        </p:txBody>
      </p:sp>
      <p:sp>
        <p:nvSpPr>
          <p:cNvPr id="27" name="Oval 26"/>
          <p:cNvSpPr/>
          <p:nvPr/>
        </p:nvSpPr>
        <p:spPr>
          <a:xfrm>
            <a:off x="6035040" y="4014216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014216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41064"/>
            <a:ext cx="5120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كل إجابة مع رقم المصدر والفقرة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88536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Every answer has source + paragraph number</a:t>
            </a:r>
          </a:p>
        </p:txBody>
      </p:sp>
      <p:sp>
        <p:nvSpPr>
          <p:cNvPr id="31" name="Oval 30"/>
          <p:cNvSpPr/>
          <p:nvPr/>
        </p:nvSpPr>
        <p:spPr>
          <a:xfrm>
            <a:off x="6035040" y="4910328"/>
            <a:ext cx="365760" cy="3657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4910328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37176"/>
            <a:ext cx="5120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البحث أصبح حواراً لا استيعاباً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18464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Research becomes conversation, not absorption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NotebookLM مقابل ChatGPT وClaude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NotebookLM vs ChatGPT vs Claude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34440"/>
            <a:ext cx="3767328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376732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ChatGPT / Claude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3767328" cy="42519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يجيب من الذاكرة العامة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Answers from general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33472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قد تكون المعلومات قديمة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53512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Info may be outdated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38144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لا مصادر موثّقة للإجابة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58184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No cited sources in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42816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ممتاز للتحليل والكتابة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62856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Excellent for analysis &amp; 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47488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لا يرتبط بملفاتك المرفوعة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367528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Not bound to your uploaded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1234440"/>
            <a:ext cx="3767328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1234440"/>
            <a:ext cx="376732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NotebookLM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737360"/>
            <a:ext cx="3767328" cy="42519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1828800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يجيب فقط من مصادرك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148840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Answers only from YOUR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633472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كل إجابة مع رقم مصدر دقيق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953512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Every answer with exact source #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3438144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يعترف بغياب المعلومة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758184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Admits when info is not in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242816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بودكاست وخرائط ذهنية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562856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Generates podcast + mind maps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047488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١٠٠ مصدر في النسخة المجانية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5367528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100 sources in free tier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1234440"/>
            <a:ext cx="376732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1234440"/>
            <a:ext cx="376732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Perplexity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0456" y="1737360"/>
            <a:ext cx="3767328" cy="42519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1896" y="1828800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يبحث في الإنترنت الحي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2148840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Searches live internet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2633472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ممتاز للأسئلة الآنية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2953512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Excellent for real-time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3438144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لا يحلّل ملفاتك الخاصة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1896" y="3758184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Cannot analyze your private 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1896" y="4242816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سريع جداً — ثوانٍ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4562856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Very fast — seconds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6" y="5047488"/>
            <a:ext cx="3584448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لا يُنتج بودكاست أو خرائط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1896" y="5367528"/>
            <a:ext cx="3584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No podcast or mind map output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053328"/>
            <a:ext cx="1154887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6053328"/>
            <a:ext cx="1154887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1B3A5C"/>
                </a:solidFill>
                <a:latin typeface="Amiri"/>
              </a:rPr>
              <a:t>القاعدة العملية: استخدم NotebookLM لاستخراج المعرفة، وClaude للتحليل والكتابة بناءً على ما استخرجت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الإعداد والبدء لأول مرة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Sign-up and First-Time Setup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﴿وَأَن لَّيْسَ لِلْإِنسَانِ إِلَّا مَا سَعَىٰ﴾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النجم، ٥٣:٣٩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that there is not for man except that for which he strives."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An-Najm, 53:39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الحساب والوصول من اليمن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Account Setup &amp; Access from Yemen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34440"/>
            <a:ext cx="5760720" cy="5120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C9A84C"/>
                </a:solidFill>
                <a:latin typeface="Amiri"/>
              </a:rPr>
              <a:t>متطلبات الإعداد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Setup Requirements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39112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حساب Google (Gmail)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000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A Google account (Gmail) — free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862072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6207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43784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لا اشتراك ولا بطاقة ائتمانية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No subscription, no credit card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666744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6674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648456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notebooklm.google.com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95935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notebooklm.google.com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1234440"/>
            <a:ext cx="5486400" cy="51206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371600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1B3A5C"/>
                </a:solidFill>
                <a:latin typeface="Amiri"/>
              </a:rPr>
              <a:t>الوصول من اليمن — VPN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691640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E75B6"/>
                </a:solidFill>
                <a:latin typeface="Cambria"/>
              </a:rPr>
              <a:t>Access from Yemen — VPN Solutions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57400"/>
            <a:ext cx="5212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NotebookLM قد يكون محجوباً في اليمن. الحل: VPN يجعل اتصالك يبدو من دولة أخرى.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834640"/>
            <a:ext cx="52120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88036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5C"/>
                </a:solidFill>
                <a:latin typeface="Cambria"/>
              </a:rPr>
              <a:t>Proton VPN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127248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مجاني جزئياً — ممتاز للبحث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5029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Free tier — excellent for research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703320"/>
            <a:ext cx="52120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74904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5C"/>
                </a:solidFill>
                <a:latin typeface="Cambria"/>
              </a:rPr>
              <a:t>Cloudflare WARP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995928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مجاني كلياً — سريع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206240"/>
            <a:ext cx="5029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Completely free — fast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572000"/>
            <a:ext cx="52120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61772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B3A5C"/>
                </a:solidFill>
                <a:latin typeface="Cambria"/>
              </a:rPr>
              <a:t>Mullvad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64608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مدفوع €5/شهر — خصوصية ممتازة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074920"/>
            <a:ext cx="5029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Paid €5/mo — excellent privacy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5486400"/>
            <a:ext cx="52120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486400"/>
            <a:ext cx="52120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استخدام VPN لأداة تعليمية أمر مشروع تماماً 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جولة في واجهة NotebookLM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A Tour of the NotebookLM Interface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34440"/>
            <a:ext cx="3749039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20" y="12344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12344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700" b="1" i="0">
                <a:solidFill>
                  <a:srgbClr val="1B3A5C"/>
                </a:solidFill>
                <a:latin typeface="Amiri"/>
              </a:rPr>
              <a:t>١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37360"/>
            <a:ext cx="3749039" cy="42519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356615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700" b="1" i="0">
                <a:solidFill>
                  <a:srgbClr val="1B3A5C"/>
                </a:solidFill>
                <a:latin typeface="Amiri"/>
              </a:rPr>
              <a:t>لوحة المصادر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356615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2E75B6"/>
                </a:solidFill>
                <a:latin typeface="Cambria"/>
              </a:rPr>
              <a:t>Sources Panel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606040"/>
            <a:ext cx="3200399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2743200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رفع الكتب، الأوراق، الملفات. تظهر على اليسار في الواجهة الإنجليزية.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49039"/>
            <a:ext cx="356615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Upload books, papers, files. Appears on the left in English UI.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234440"/>
            <a:ext cx="3749039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24728" y="12344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12344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700" b="1" i="0">
                <a:solidFill>
                  <a:srgbClr val="2E75B6"/>
                </a:solidFill>
                <a:latin typeface="Amiri"/>
              </a:rPr>
              <a:t>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737360"/>
            <a:ext cx="3749039" cy="42519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1920240"/>
            <a:ext cx="356615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700" b="1" i="0">
                <a:solidFill>
                  <a:srgbClr val="1B3A5C"/>
                </a:solidFill>
                <a:latin typeface="Amiri"/>
              </a:rPr>
              <a:t>لوحة الدردشة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286000"/>
            <a:ext cx="356615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2E75B6"/>
                </a:solidFill>
                <a:latin typeface="Cambria"/>
              </a:rPr>
              <a:t>Chat Panel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44568" y="2606040"/>
            <a:ext cx="3200399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61688" y="2743200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اطرح أسئلتك هنا. الإجابات تأتي مع أرقام مصادر قابلة للنقر.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749039"/>
            <a:ext cx="356615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Ask your questions here. Answers come with clickable source numbers.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234440"/>
            <a:ext cx="3749039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74936" y="12344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2344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700" b="1" i="0">
                <a:solidFill>
                  <a:srgbClr val="028090"/>
                </a:solidFill>
                <a:latin typeface="Amiri"/>
              </a:rPr>
              <a:t>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1737360"/>
            <a:ext cx="3749039" cy="42519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1920240"/>
            <a:ext cx="356615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700" b="1" i="0">
                <a:solidFill>
                  <a:srgbClr val="1B3A5C"/>
                </a:solidFill>
                <a:latin typeface="Amiri"/>
              </a:rPr>
              <a:t>لوحة الاستوديو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2286000"/>
            <a:ext cx="356615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2E75B6"/>
                </a:solidFill>
                <a:latin typeface="Cambria"/>
              </a:rPr>
              <a:t>Studio Panel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94776" y="2606040"/>
            <a:ext cx="3200399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11896" y="2743200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أنشئ بودكاست، خريطة ذهنية، دليل دراسي، جدول زمني، ملخص تنفيذي.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3749039"/>
            <a:ext cx="356615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Create podcast, mind map, study guide, timeline, briefing document.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035040"/>
            <a:ext cx="1154887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notebooklm.google.com — ابدأ مجاناً الآن / Start for free 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المصادر — ما يمكن رفعه وكيف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Sources — What You Can Upload and How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﴿فَاسْأَلُوا أَهْلَ الذِّكْرِ إِن كُنتُمْ لَا تَعْلَمُونَ﴾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النحل، ١٦:٤٣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"So ask the people of remembrance if you do not know."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An-Nahl, 16:43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أنواع المصادر المقبولة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Accepted Source Types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34440"/>
            <a:ext cx="3749039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mbria"/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324611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C9A84C"/>
                </a:solidFill>
                <a:latin typeface="Cambria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الأكثر شيوعاً — كتب، أبحاث، تقارير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3566159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Most common — books, papers,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234440"/>
            <a:ext cx="3749039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234440"/>
            <a:ext cx="3749039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234440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mbria"/>
              </a:rP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234440"/>
            <a:ext cx="324611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C9A84C"/>
                </a:solidFill>
                <a:latin typeface="Cambria"/>
              </a:rPr>
              <a:t>روابط ويب / Web URLs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783080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صفحات ويب كاملة بنقرة واحدة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468880"/>
            <a:ext cx="3566159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Full web pages with one click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234440"/>
            <a:ext cx="3749039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234440"/>
            <a:ext cx="3749039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234440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mbria"/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234440"/>
            <a:ext cx="324611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C9A84C"/>
                </a:solidFill>
                <a:latin typeface="Cambria"/>
              </a:rPr>
              <a:t>Google 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783080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مباشرة من Drive — مزامنة تلقائية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68880"/>
            <a:ext cx="3566159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Directly from Drive — auto-sync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11880"/>
            <a:ext cx="3749039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611880"/>
            <a:ext cx="3749039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611880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mbria"/>
              </a:rPr>
              <a:t>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611880"/>
            <a:ext cx="324611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C9A84C"/>
                </a:solidFill>
                <a:latin typeface="Cambria"/>
              </a:rPr>
              <a:t>YouTube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160520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رفع رابط فيديو — يحلّل النص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846320"/>
            <a:ext cx="3566159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Upload video URL — analyzes transcript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611880"/>
            <a:ext cx="3749039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3611880"/>
            <a:ext cx="3749039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3611880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mbria"/>
              </a:rP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611880"/>
            <a:ext cx="324611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C9A84C"/>
                </a:solidFill>
                <a:latin typeface="Cambria"/>
              </a:rPr>
              <a:t>نص مكتوب / Pasted 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160520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الصق أي نص مباشرة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846320"/>
            <a:ext cx="3566159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Paste any text directly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80" y="3611880"/>
            <a:ext cx="3749039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80" y="3611880"/>
            <a:ext cx="3749039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3611880"/>
            <a:ext cx="502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mbria"/>
              </a:rPr>
              <a:t>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611880"/>
            <a:ext cx="324611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C9A84C"/>
                </a:solidFill>
                <a:latin typeface="Cambria"/>
              </a:rPr>
              <a:t>ملفات صوتية / Audio Files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160520"/>
            <a:ext cx="3566159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1B3A5C"/>
                </a:solidFill>
                <a:latin typeface="Amiri"/>
              </a:rPr>
              <a:t>MP3, M4A — يحلّل الكلام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846320"/>
            <a:ext cx="3566159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MP3, M4A — analyzes speech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القاعدة الذهبية: جودة المصادر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Golden Rule: Source Quality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80160"/>
            <a:ext cx="11548872" cy="7132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11548872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2200" b="1" i="0">
                <a:solidFill>
                  <a:srgbClr val="1B3A5C"/>
                </a:solidFill>
                <a:latin typeface="Amiri"/>
              </a:rPr>
              <a:t>مصادر سيئة = مخرجات سيئة  ·  Bad Sources = Bad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48840"/>
            <a:ext cx="5577840" cy="3931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148840"/>
            <a:ext cx="55778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148840"/>
            <a:ext cx="55778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✓ مصادر قوية / Strong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✓ أوراق بحثية محكّمة (Scopus, WoS)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5212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Peer-reviewed papers — Scopus, WoS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✓ تقارير منظمات دولية (UN, World Bank)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93592"/>
            <a:ext cx="5212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Reports from UN, World Bank,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41064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✓ كتب أكاديمية موثّقة بمراجع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15384"/>
            <a:ext cx="5212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Academic books with documented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62856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✓ بيانات رسمية حكومية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37176"/>
            <a:ext cx="5212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Official government statistics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84648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✓ منهجية واضحة + مراجع داخلية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58968"/>
            <a:ext cx="5212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Clear methodology + internal citations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148840"/>
            <a:ext cx="5577840" cy="393192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148840"/>
            <a:ext cx="557784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148840"/>
            <a:ext cx="55778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✗ مصادر ضعيفة / Weak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97480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✗ عناوين مثيرة: 'اكتشف العالم سر X!'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71800"/>
            <a:ext cx="5212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Clickbait: 'World discovers secret of X!'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410712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✗ منشورات وسائل التواصل بلا توثيق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85032"/>
            <a:ext cx="5212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Social media posts without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23944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✗ مواقع نسخ لصق مجهولة المصدر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98264"/>
            <a:ext cx="5212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Copy-paste sites of unknown origin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37176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0" i="0">
                <a:solidFill>
                  <a:srgbClr val="1C1C1C"/>
                </a:solidFill>
                <a:latin typeface="Amiri"/>
              </a:rPr>
              <a:t>✗ 'فلان قال في كتابه...' بلا أرقام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11496"/>
            <a:ext cx="5212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"So-and-so wrote" without page numbers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فن السؤال داخل المصادر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The Art of Asking Questions Within 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﴿فَلَوْلَا نَفَرَ مِن كُلِّ فِرْقَةٍ مِّنْهُمْ طَائِفَةٌ لِّيَتَفَقَّهُوا فِي الدِّينِ﴾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التوبة، ٩:١٢٢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"So why should not a contingent from every division go forth to obtain understanding?"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At-Tawbah, 9:122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أنواع الأسئلة السبعة الفعّالة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The 7 Effective Question Types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2788920" cy="20299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278892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261872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61872"/>
            <a:ext cx="23317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تلخيص /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64792"/>
            <a:ext cx="2606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«لخّص الفصل الثالث في ٥ نقاط»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1261872"/>
            <a:ext cx="2788920" cy="20299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36392" y="1261872"/>
            <a:ext cx="2788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1261872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1261872"/>
            <a:ext cx="23317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استخراج /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1764792"/>
            <a:ext cx="2606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«اسحب كل الأرقام والإحصاءات المذكورة»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261872"/>
            <a:ext cx="2788920" cy="20299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1261872"/>
            <a:ext cx="278892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1261872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1261872"/>
            <a:ext cx="23317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مقارنة /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1764792"/>
            <a:ext cx="2606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«ما الفرق بين موقف المصدر الأول والثاني؟»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261872"/>
            <a:ext cx="2788920" cy="20299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261872"/>
            <a:ext cx="2788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1261872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1261872"/>
            <a:ext cx="23317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كشف التناقضات / Contradiction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1764792"/>
            <a:ext cx="2606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«أين تتعارض المصادر مع بعضها؟»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493008"/>
            <a:ext cx="3337560" cy="20299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493008"/>
            <a:ext cx="333756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493008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493008"/>
            <a:ext cx="28803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تحليلي / Analytical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995928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«ما الافتراضات الضمنية في حجة المؤلف؟»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5112" y="3493008"/>
            <a:ext cx="3337560" cy="20299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3493008"/>
            <a:ext cx="33375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3493008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3493008"/>
            <a:ext cx="28803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تطبيقي / 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6552" y="3995928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«ما الدروس المستفادة للسياق اليمني؟»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72984" y="3493008"/>
            <a:ext cx="3337560" cy="20299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72984" y="3493008"/>
            <a:ext cx="3337560" cy="4114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18704" y="3493008"/>
            <a:ext cx="384048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miri"/>
              </a:rPr>
              <a:t>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3493008"/>
            <a:ext cx="28803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Cambria"/>
              </a:rPr>
              <a:t>سردي / Narrative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64424" y="3995928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«اسحب قصة X زمنياً من المصادر»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أسئلة لا تعمل + نصائح الاحتراف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Questions That Don't Work + Pro Tips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34440"/>
            <a:ext cx="5394960" cy="512064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53949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✗ أسئلة لا تعمل جيداً / Don't Work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C0392B"/>
                </a:solidFill>
                <a:latin typeface="Amiri"/>
              </a:rPr>
              <a:t>✗ معلومات غير موجودة في مصادرك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«ما عاصمة فرنسا؟» — إذا لم يذكرها مصدرك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50007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Info not in your sources — it'll say 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C0392B"/>
                </a:solidFill>
                <a:latin typeface="Amiri"/>
              </a:rPr>
              <a:t>✗ افتراضات خالصة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9067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«ماذا لو لم يحدث X؟»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59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Pure hypotheticals — weak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03904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C0392B"/>
                </a:solidFill>
                <a:latin typeface="Amiri"/>
              </a:rPr>
              <a:t>✗ بيانات آنية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7822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«ما سعر الريال اليوم؟»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25111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Real-time data — no live internet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91456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C0392B"/>
                </a:solidFill>
                <a:latin typeface="Amiri"/>
              </a:rPr>
              <a:t>✗ إبداع أدبي خالص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65776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«اكتب لي قصيدة عن المصادر»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12663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Pure creative writing — not its strength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16752" y="1234440"/>
            <a:ext cx="5852160" cy="5120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371600"/>
            <a:ext cx="5577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C9A84C"/>
                </a:solidFill>
                <a:latin typeface="Amiri"/>
              </a:rPr>
              <a:t>نصائح الاحتراف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91640"/>
            <a:ext cx="5577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Pro Tips for Better Answers</a:t>
            </a:r>
          </a:p>
        </p:txBody>
      </p:sp>
      <p:sp>
        <p:nvSpPr>
          <p:cNvPr id="24" name="Oval 23"/>
          <p:cNvSpPr/>
          <p:nvPr/>
        </p:nvSpPr>
        <p:spPr>
          <a:xfrm>
            <a:off x="6126480" y="219456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19456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148840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حدّد المصدر في سؤالك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42316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CCCCCC"/>
                </a:solidFill>
                <a:latin typeface="Amiri"/>
              </a:rPr>
              <a:t>«وفقاً للمصدر الثاني...»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679192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Specify the source: "According to source 2..."</a:t>
            </a:r>
          </a:p>
        </p:txBody>
      </p:sp>
      <p:sp>
        <p:nvSpPr>
          <p:cNvPr id="29" name="Oval 28"/>
          <p:cNvSpPr/>
          <p:nvPr/>
        </p:nvSpPr>
        <p:spPr>
          <a:xfrm>
            <a:off x="6126480" y="315468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15468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108960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اطلب التنسيق مباشرة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38328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CCCCCC"/>
                </a:solidFill>
                <a:latin typeface="Amiri"/>
              </a:rPr>
              <a:t>«أجب على شكل جدول بثلاثة أعمدة»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639312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Request format: "Answer as a 3-column table"</a:t>
            </a:r>
          </a:p>
        </p:txBody>
      </p:sp>
      <p:sp>
        <p:nvSpPr>
          <p:cNvPr id="34" name="Oval 33"/>
          <p:cNvSpPr/>
          <p:nvPr/>
        </p:nvSpPr>
        <p:spPr>
          <a:xfrm>
            <a:off x="6126480" y="411480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1148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069080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اسأل عن الثغرات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34340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CCCCCC"/>
                </a:solidFill>
                <a:latin typeface="Amiri"/>
              </a:rPr>
              <a:t>«ما المعلومات الغائبة عن هذه المصادر؟»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599432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Ask about gaps: "What's missing from these sources?"</a:t>
            </a:r>
          </a:p>
        </p:txBody>
      </p:sp>
      <p:sp>
        <p:nvSpPr>
          <p:cNvPr id="39" name="Oval 38"/>
          <p:cNvSpPr/>
          <p:nvPr/>
        </p:nvSpPr>
        <p:spPr>
          <a:xfrm>
            <a:off x="6126480" y="507492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0749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029200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اطلب مقارنة منهجية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30352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CCCCCC"/>
                </a:solidFill>
                <a:latin typeface="Amiri"/>
              </a:rPr>
              <a:t>«قارن موقف المصدر 1 مع المصدر 3»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59552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Request systematic comparison between sources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ميزة الاستعراض الصوتي — البودكاست التلقائي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The Audio Overview Feature — Automatic Podcasting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﴿وَفِي الْأَرْضِ آيَاتٌ لِّلْمُوقِنِينَ ۝ وَفِي أَنفُسِكُمْ أَفَلَا تُبْصِرُونَ﴾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الذاريات، ٥١:٢٠-٢١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on the earth are signs for those of certainty, and in yourselves — do you not see?"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Adh-Dhariyat, 51:20-21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كيف تعمل ميزة Audio Overview؟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How Does Audio Overview Work?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34440"/>
            <a:ext cx="5303520" cy="5120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029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C9A84C"/>
                </a:solidFill>
                <a:latin typeface="Amiri"/>
              </a:rPr>
              <a:t>المعجزة الصغيرة — ٢٠٢٤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The Small Miracle — Autumn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50292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0" i="0">
                <a:solidFill>
                  <a:srgbClr val="FFFFFF"/>
                </a:solidFill>
                <a:latin typeface="Amiri"/>
              </a:rPr>
              <a:t>طالب مشغول، ٢٠٠ صفحة قبل الامتحان، لا وقت للقراءة.
NotebookLM يُنشئ بودكاست ١٥ دقيقة بصوتين بشريين لا يُميّزان من صوت حقيقي.
«وقت الباص» أصبح «وقت تعلّم».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A busy student, 200 pages before the exam, no time to read. NotebookLM generates a 15-min podcast with two human-like voices — indistinguishable from real people. "Bus time" became "learning time."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34440"/>
            <a:ext cx="5925312" cy="51206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71600"/>
            <a:ext cx="5623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1B3A5C"/>
                </a:solidFill>
                <a:latin typeface="Amiri"/>
              </a:rPr>
              <a:t>كيف يعمل تحت الغطاء؟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23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2E75B6"/>
                </a:solidFill>
                <a:latin typeface="Cambria"/>
              </a:rPr>
              <a:t>Under the Hood — 3 Steps</a:t>
            </a:r>
          </a:p>
        </p:txBody>
      </p:sp>
      <p:sp>
        <p:nvSpPr>
          <p:cNvPr id="14" name="Oval 13"/>
          <p:cNvSpPr/>
          <p:nvPr/>
        </p:nvSpPr>
        <p:spPr>
          <a:xfrm>
            <a:off x="6080760" y="2194560"/>
            <a:ext cx="594360" cy="59436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194560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C9A84C"/>
                </a:solidFill>
                <a:latin typeface="Amiri"/>
              </a:rPr>
              <a:t>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148840"/>
            <a:ext cx="48463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500" b="1" i="0">
                <a:solidFill>
                  <a:srgbClr val="1B3A5C"/>
                </a:solidFill>
                <a:latin typeface="Amiri"/>
              </a:rPr>
              <a:t>تحليل المصادر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514600"/>
            <a:ext cx="4846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Model analyzes all sources — extracts key ideas, debates, examples</a:t>
            </a:r>
          </a:p>
        </p:txBody>
      </p:sp>
      <p:sp>
        <p:nvSpPr>
          <p:cNvPr id="18" name="Oval 17"/>
          <p:cNvSpPr/>
          <p:nvPr/>
        </p:nvSpPr>
        <p:spPr>
          <a:xfrm>
            <a:off x="6080760" y="3493008"/>
            <a:ext cx="594360" cy="59436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493008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C9A84C"/>
                </a:solidFill>
                <a:latin typeface="Amiri"/>
              </a:rPr>
              <a:t>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47288"/>
            <a:ext cx="48463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500" b="1" i="0">
                <a:solidFill>
                  <a:srgbClr val="1B3A5C"/>
                </a:solidFill>
                <a:latin typeface="Amiri"/>
              </a:rPr>
              <a:t>كتابة السكريبت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813048"/>
            <a:ext cx="4846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Writes a natural dialogue between two fictional characters</a:t>
            </a:r>
          </a:p>
        </p:txBody>
      </p:sp>
      <p:sp>
        <p:nvSpPr>
          <p:cNvPr id="22" name="Oval 21"/>
          <p:cNvSpPr/>
          <p:nvPr/>
        </p:nvSpPr>
        <p:spPr>
          <a:xfrm>
            <a:off x="6080760" y="4791456"/>
            <a:ext cx="594360" cy="59436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791456"/>
            <a:ext cx="5943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C9A84C"/>
                </a:solidFill>
                <a:latin typeface="Amiri"/>
              </a:rPr>
              <a:t>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745736"/>
            <a:ext cx="48463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500" b="1" i="0">
                <a:solidFill>
                  <a:srgbClr val="1B3A5C"/>
                </a:solidFill>
                <a:latin typeface="Amiri"/>
              </a:rPr>
              <a:t>تحويل للصوت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111496"/>
            <a:ext cx="4846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C1C1C"/>
                </a:solidFill>
                <a:latin typeface="Cambria"/>
              </a:rPr>
              <a:t>Converts to audio via Google TTS — 10–15 minutes, no editing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أنشئ أول بودكاست في ٩٠ ثانية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Generate Your First Podcast in 90 Seconds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98448"/>
            <a:ext cx="2148840" cy="1965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408176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08176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1B3A5C"/>
                </a:solidFill>
                <a:latin typeface="Cambria"/>
              </a:rPr>
              <a:t>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48256"/>
            <a:ext cx="2057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افتح أي دفتر
مع مصدر واحد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88336"/>
            <a:ext cx="2057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CCCCCC"/>
                </a:solidFill>
                <a:latin typeface="Cambria"/>
              </a:rPr>
              <a:t>Open notebook
with 1+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21408"/>
            <a:ext cx="1645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298448"/>
            <a:ext cx="2148840" cy="1965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02152" y="1408176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408176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1B3A5C"/>
                </a:solidFill>
                <a:latin typeface="Cambria"/>
              </a:rPr>
              <a:t>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048256"/>
            <a:ext cx="2057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انقر لوحة
الاستوديو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688336"/>
            <a:ext cx="2057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CCCCCC"/>
                </a:solidFill>
                <a:latin typeface="Cambria"/>
              </a:rPr>
              <a:t>Open the
Studio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2121408"/>
            <a:ext cx="1645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8344" y="1298448"/>
            <a:ext cx="2148840" cy="1965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61304" y="1408176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1304" y="1408176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1B3A5C"/>
                </a:solidFill>
                <a:latin typeface="Cambria"/>
              </a:rPr>
              <a:t>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048256"/>
            <a:ext cx="2057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اضغط Generate
أو + Create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2688336"/>
            <a:ext cx="2057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CCCCCC"/>
                </a:solidFill>
                <a:latin typeface="Cambria"/>
              </a:rPr>
              <a:t>Press Generate
or + Create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2904" y="2121408"/>
            <a:ext cx="1645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7496" y="1298448"/>
            <a:ext cx="2148840" cy="1965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0456" y="1408176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1408176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1B3A5C"/>
                </a:solidFill>
                <a:latin typeface="Cambria"/>
              </a:rPr>
              <a:t>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048256"/>
            <a:ext cx="2057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انتظر ١-٢ دقيقة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2688336"/>
            <a:ext cx="2057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CCCCCC"/>
                </a:solidFill>
                <a:latin typeface="Cambria"/>
              </a:rPr>
              <a:t>Wait
1–2 minutes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2121408"/>
            <a:ext cx="16459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56648" y="1298448"/>
            <a:ext cx="2148840" cy="1965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79608" y="1408176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79608" y="1408176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1B3A5C"/>
                </a:solidFill>
                <a:latin typeface="Cambria"/>
              </a:rPr>
              <a:t>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2048256"/>
            <a:ext cx="2057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استمع أو
نزّل MP3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2688336"/>
            <a:ext cx="2057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50" b="0" i="0">
                <a:solidFill>
                  <a:srgbClr val="CCCCCC"/>
                </a:solidFill>
                <a:latin typeface="Cambria"/>
              </a:rPr>
              <a:t>Listen or
download MP3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429000"/>
            <a:ext cx="11548872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429000"/>
            <a:ext cx="11548872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خيارات التخصيص (٢٠٢٥+) / Customization Options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950208"/>
            <a:ext cx="2788920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950208"/>
            <a:ext cx="278892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3950208"/>
            <a:ext cx="2651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تحديد التركيز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" y="4407408"/>
            <a:ext cx="26517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Specify focus: «focus on chapter 3 only»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3552" y="3950208"/>
            <a:ext cx="2788920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73552" y="3950208"/>
            <a:ext cx="278892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6704" y="3950208"/>
            <a:ext cx="2651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تحديد الجمهور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46704" y="4407408"/>
            <a:ext cx="26517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Target audience: «explain for beginners»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27064" y="3950208"/>
            <a:ext cx="2788920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27064" y="3950208"/>
            <a:ext cx="27889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0216" y="3950208"/>
            <a:ext cx="2651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اللغة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0216" y="4407408"/>
            <a:ext cx="26517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Language: English (Arabic coming soon)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0576" y="3950208"/>
            <a:ext cx="2788920" cy="21488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80576" y="3950208"/>
            <a:ext cx="278892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3728" y="3950208"/>
            <a:ext cx="2651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miri"/>
              </a:rPr>
              <a:t>المدة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53728" y="4407408"/>
            <a:ext cx="26517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Length: short (5 min) or long (15+ min)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الخرائط الذهنية، أدلة الدراسة، والجداول الزمنية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Mind Maps, Study Guides, and Timelines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﴿وَيَتَفَكَّرُونَ فِي خَلْقِ السَّمَاوَاتِ وَالْأَرْضِ﴾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آل عمران، ٣:١٩١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they reflect upon the creation of the heavens and the earth."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Aal-Imran, 3:191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استوديو NotebookLM — ٦ أدوات توليدية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NotebookLM Studio — 6 Generative Tools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3749039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3749039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mbria"/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61872"/>
            <a:ext cx="320039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Audio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3566159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بودكاست صوتي تلقائي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9424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Auto-generated podcast from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261872"/>
            <a:ext cx="3749039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261872"/>
            <a:ext cx="3749039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26187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mbria"/>
              </a:rPr>
              <a:t>🗺️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1261872"/>
            <a:ext cx="320039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Mind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828800"/>
            <a:ext cx="3566159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خريطة ذهنية تفاعلية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249424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Interactive concept mind 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1261872"/>
            <a:ext cx="3749039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0456" y="1261872"/>
            <a:ext cx="3749039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26187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mbria"/>
              </a:rPr>
              <a:t>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1261872"/>
            <a:ext cx="320039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Study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1828800"/>
            <a:ext cx="3566159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دليل دراسي + أسئلة تدريبية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249424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Study guide + practice questions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49040"/>
            <a:ext cx="3749039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49040"/>
            <a:ext cx="3749039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490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mbria"/>
              </a:rP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749040"/>
            <a:ext cx="320039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Timeline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315968"/>
            <a:ext cx="3566159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جدول زمني للأحداث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736592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Chronological events timeline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3749040"/>
            <a:ext cx="3749039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0248" y="3749040"/>
            <a:ext cx="3749039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37490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mbria"/>
              </a:rPr>
              <a:t>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3749040"/>
            <a:ext cx="320039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Briefing Document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4315968"/>
            <a:ext cx="3566159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ملخص تنفيذي للمصادر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4736592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Executive summary of all sources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0456" y="3749040"/>
            <a:ext cx="3749039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0456" y="3749040"/>
            <a:ext cx="3749039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6176" y="374904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mbria"/>
              </a:rPr>
              <a:t>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3376" y="3749040"/>
            <a:ext cx="320039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FAQ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1896" y="4315968"/>
            <a:ext cx="3566159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أكثر الأسئلة شيوعاً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1896" y="4736592"/>
            <a:ext cx="3566159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 i="0">
                <a:solidFill>
                  <a:srgbClr val="1C1C1C"/>
                </a:solidFill>
                <a:latin typeface="Cambria"/>
              </a:rPr>
              <a:t>Frequently asked questions 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الخريطة الذهنية + دليل الدراسة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Mind Map + Study Guide — Deep Dive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57784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5778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5577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🗺️  Mind Map — الخريطة الذهنية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كيف تُنشئها؟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30551"/>
            <a:ext cx="5212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افتح دفتر → ٣ مصادر → Studio → Mind Map → ٣٠-٦٠ ثانية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96311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Notebook + 3 sources → Studio → Mind Map → 30-60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53511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التفاعلية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9543"/>
            <a:ext cx="5212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انقر فرعاً ليتوسّع، انقر ورقة يفتح المصدر الأصلي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75303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Click branch to expand, click leaf to open original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32503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التصدير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88535"/>
            <a:ext cx="5212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PNG أو SVG للاستخدام في التقارير والعروض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54295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Export as PNG or SVG for reports and presentations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11495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1B3A5C"/>
                </a:solidFill>
                <a:latin typeface="Amiri"/>
              </a:rPr>
              <a:t>متى تستخدمها؟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67527"/>
            <a:ext cx="52120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بداية المشروع، قبل الكتابة، لشرح الأفكار للآخرين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33287"/>
            <a:ext cx="5212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Project start, before writing, explaining ideas to others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1261872"/>
            <a:ext cx="557784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1261872"/>
            <a:ext cx="557784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261872"/>
            <a:ext cx="5577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📚  Study Guide — دليل الدراسة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847088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C9A84C"/>
                </a:solidFill>
                <a:latin typeface="Amiri"/>
              </a:rPr>
              <a:t>Study Guide يُنتج ٤ أقسام: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2377440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3774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313432"/>
            <a:ext cx="4709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نظرة عامة عن الموضوع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587752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A 200-word topic overview</a:t>
            </a:r>
          </a:p>
        </p:txBody>
      </p:sp>
      <p:sp>
        <p:nvSpPr>
          <p:cNvPr id="29" name="Oval 28"/>
          <p:cNvSpPr/>
          <p:nvPr/>
        </p:nvSpPr>
        <p:spPr>
          <a:xfrm>
            <a:off x="6446520" y="3127248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12724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063240"/>
            <a:ext cx="4709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المفاهيم الرئيسية بتعريفاتها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337560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Key concepts with clear definitions</a:t>
            </a:r>
          </a:p>
        </p:txBody>
      </p:sp>
      <p:sp>
        <p:nvSpPr>
          <p:cNvPr id="33" name="Oval 32"/>
          <p:cNvSpPr/>
          <p:nvPr/>
        </p:nvSpPr>
        <p:spPr>
          <a:xfrm>
            <a:off x="6446520" y="3877056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87705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813048"/>
            <a:ext cx="4709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أسئلة تدريبية مع الإجابات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087368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Practice questions with answers</a:t>
            </a:r>
          </a:p>
        </p:txBody>
      </p:sp>
      <p:sp>
        <p:nvSpPr>
          <p:cNvPr id="37" name="Oval 36"/>
          <p:cNvSpPr/>
          <p:nvPr/>
        </p:nvSpPr>
        <p:spPr>
          <a:xfrm>
            <a:off x="6446520" y="4626864"/>
            <a:ext cx="347472" cy="347472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62686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562856"/>
            <a:ext cx="4709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موضوعات للدراسة المعمّقة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837176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Deep-study topics for advanced learners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5349240"/>
            <a:ext cx="55778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5349240"/>
            <a:ext cx="55778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50" b="0" i="0">
                <a:solidFill>
                  <a:srgbClr val="FFFFFF"/>
                </a:solidFill>
                <a:latin typeface="Amiri"/>
              </a:rPr>
              <a:t>طالب طب في صنعاء: أوراق محاضرات + فصل Harrison + ورقة بحثية → Study Guide في دقيقتين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الاستخدامات الأكاديمية للطالب اليمني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Academic Uses for the Yemeni Student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﴿يَرْفَعِ اللَّهُ الَّذِينَ آمَنُوا مِنكُمْ وَالَّذِينَ أُوتُوا الْعِلْمَ دَرَجَاتٍ﴾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المجادلة، ٥٨:١١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"Allah will raise those who have believed among you and those given knowledge by degrees."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Al-Mujadila, 58:11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مراجعة الأدبيات بالسرعة — منهج مُجرَّب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Literature Review at Speed — Tested Method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من ٣ أشهر إلى أسبوع واحد — مُطبَّق مع الطلاب  |  3 months → 1 week — Applied with 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938528"/>
            <a:ext cx="2212848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938528"/>
            <a:ext cx="221284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50" b="1" i="0">
                <a:solidFill>
                  <a:srgbClr val="FFFFFF"/>
                </a:solidFill>
                <a:latin typeface="Amiri"/>
              </a:rPr>
              <a:t>الأسبوع الأول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441448"/>
            <a:ext cx="2212848" cy="4023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2532888"/>
            <a:ext cx="2066544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جمع ٣٠-٥٠ ورقة بحثية
Google Scholar · PubMed · JSTOR
احفظ فقط، لا تقرأ بعد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4498848"/>
            <a:ext cx="2066544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Collect 30-50 papers
Google Scholar · PubMed · JSTOR
Save only, don't read yet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938528"/>
            <a:ext cx="2212848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2032" y="1938528"/>
            <a:ext cx="221284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50" b="1" i="0">
                <a:solidFill>
                  <a:srgbClr val="FFFFFF"/>
                </a:solidFill>
                <a:latin typeface="Amiri"/>
              </a:rPr>
              <a:t>اليوم الأول / من الأسبوع 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2032" y="2441448"/>
            <a:ext cx="2212848" cy="4023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2532888"/>
            <a:ext cx="2066544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ارفع جميع المصادر إلى دفتر
واحد — انتظر المعالجة (ساعة)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4498848"/>
            <a:ext cx="2066544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Upload all sources to one notebook
Wait for processing (~1 hour)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938528"/>
            <a:ext cx="221284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1184" y="1938528"/>
            <a:ext cx="221284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50" b="1" i="0">
                <a:solidFill>
                  <a:srgbClr val="FFFFFF"/>
                </a:solidFill>
                <a:latin typeface="Amiri"/>
              </a:rPr>
              <a:t>اليوم الثاني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2441448"/>
            <a:ext cx="2212848" cy="4023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2532888"/>
            <a:ext cx="2066544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اسأل الأسئلة السبعة بالترتيب:
ملخص · تجميع · إجماع · ثغرات
→ أسئلة بحثية جديدة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4498848"/>
            <a:ext cx="2066544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Ask 7 questions in sequence:
Summary · Cluster · Consensus · Gaps
→ New research questions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0336" y="1938528"/>
            <a:ext cx="2212848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1938528"/>
            <a:ext cx="221284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50" b="1" i="0">
                <a:solidFill>
                  <a:srgbClr val="FFFFFF"/>
                </a:solidFill>
                <a:latin typeface="Amiri"/>
              </a:rPr>
              <a:t>اليوم الثالث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0336" y="2441448"/>
            <a:ext cx="2212848" cy="4023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2532888"/>
            <a:ext cx="2066544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أنشئ Briefing Document
واستخرج Mind Map
هيكل الفصل أمامك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4498848"/>
            <a:ext cx="2066544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Generate Briefing Document
Extract Mind Map
Chapter structure revealed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19488" y="1938528"/>
            <a:ext cx="2212848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9488" y="1938528"/>
            <a:ext cx="221284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150" b="1" i="0">
                <a:solidFill>
                  <a:srgbClr val="FFFFFF"/>
                </a:solidFill>
                <a:latin typeface="Amiri"/>
              </a:rPr>
              <a:t>الأيام ٤-٧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19488" y="2441448"/>
            <a:ext cx="2212848" cy="4023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532888"/>
            <a:ext cx="2066544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اكتب فصل المراجعة
انقل الإجابات، أضف المراجع
صقّل اللغة الأكاديمية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498848"/>
            <a:ext cx="2066544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Write the review chapter
Transfer answers, add citations
Polish academic language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استخدامات أكاديمية متقدّمة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Advanced Academic Use Cases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376732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مقارنة العلماء والنظريات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37360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ارفع مصادر عالِمَين يتناقضان — اسأل عن نقاط الاتفاق والاختلاف → قلب الأطروحة الأكاديمية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542032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Upload sources of two opposing scholars — ask about agreements and disagreements → core of your thesis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19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19" y="1261872"/>
            <a:ext cx="3767328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1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مراجعة الأقران الافتراضية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1" y="1737360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اطلب: «تفحّص هذه الحجة بعين ناقدة وأشر إلى نقاط الضعف المنهجية»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1" y="2542032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Ask: "Examine this argument critically and point out methodological weaknesses"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8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8" y="1261872"/>
            <a:ext cx="3767328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0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استخراج بيانات منهجي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0" y="1737360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«اسحب كل الأرقام والإحصاءات من المصادر وصنّفها في جدول»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0" y="2542032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"Extract all numbers and statistics from sources and organize in a table"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3749040"/>
            <a:ext cx="3767328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اكتشاف ثغرات البحث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224528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«ما المعلومات الغائبة عن هذه المصادر؟ اقترح ٣ أسئلة بحثية جديدة»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5029200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"What info is missing? Suggest 3 new research questions to fill the gaps"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19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19" y="3749040"/>
            <a:ext cx="3767328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3671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ذاكرة الأطروحة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1" y="4224528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دفتر واحد لكل مصادر الرسالة — يبقى معك لسنوات، تضيف إليه باستمرار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671" y="5029200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One notebook for all thesis sources — stays with you for years, keep adding to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8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58" y="3749040"/>
            <a:ext cx="37673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0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كتابة توصيات الفصل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0" y="4224528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B3A5C"/>
                </a:solidFill>
                <a:latin typeface="Amiri"/>
              </a:rPr>
              <a:t>«بناءً على نجاح تجربة تونس في المصادر، ما الدروس القابلة للتطبيق في السياق اليمني؟»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0" y="5029200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"Based on Tunisia's success in the sources, what lessons apply to Yemen?"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الاستخدامات المهنية وعمل المستقل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Professional and Freelance Uses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﴿وَقُلِ اعْمَلُوا فَسَيَرَى اللَّهُ عَمَلَكُمْ وَرَسُولُهُ وَالْمُؤْمِنُونَ﴾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التوبة، ٩:١٠٥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"And say: Work, for Allah will see your deeds, and so will His Messenger and the believers."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At-Tawbah, 9:105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NotebookLM رأس مال المستقل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NotebookLM as Freelancer Capital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15000" cy="23591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7150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mbria"/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61872"/>
            <a:ext cx="4434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قراءة العقود / Contract Reading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307592"/>
            <a:ext cx="73152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307592"/>
            <a:ext cx="7315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1B3A5C"/>
                </a:solidFill>
                <a:latin typeface="Cambria"/>
              </a:rPr>
              <a:t>$25–75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810512"/>
            <a:ext cx="5532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عميل + عقد ٢٠ صفحة → استخرج الالتزامات، الغرامات، شروط الإنهاء
تسليم تقرير ٢-٣ صفحات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33472"/>
            <a:ext cx="5532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Client + 20-page contract → extract obligations, penalties, termination
Deliver 2-3 page summary 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61872"/>
            <a:ext cx="5715000" cy="23591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61872"/>
            <a:ext cx="57150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6187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mbria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261872"/>
            <a:ext cx="4434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تحليل المنافسين / Competitor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680" y="1307592"/>
            <a:ext cx="73152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0" y="1307592"/>
            <a:ext cx="7315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1B3A5C"/>
                </a:solidFill>
                <a:latin typeface="Cambria"/>
              </a:rPr>
              <a:t>$150–300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10512"/>
            <a:ext cx="5532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٥ مواقع منافسة كمصادر ويب → قارن القيمة المقترحة، الجمهور، الثغرات
تقرير $150-300 يستحق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33472"/>
            <a:ext cx="5532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5 competitor sites as web sources → compare value props, audiences, gaps
Deliver $150-300 worthy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22192"/>
            <a:ext cx="5715000" cy="23591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22192"/>
            <a:ext cx="57150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82219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mbria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822192"/>
            <a:ext cx="4434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تحليل التقارير / Report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3867912"/>
            <a:ext cx="73152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3867912"/>
            <a:ext cx="7315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1B3A5C"/>
                </a:solidFill>
                <a:latin typeface="Cambria"/>
              </a:rPr>
              <a:t>$50–150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370832"/>
            <a:ext cx="5532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١٠ أوراق طبية/مالية → استخرج النتائج، المنهجية، التوصيات
ملخص تنفيذي احترافي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193792"/>
            <a:ext cx="5532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10 medical/financial papers → extract findings, methodology, recommendations
Professional executive summary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822192"/>
            <a:ext cx="5715000" cy="23591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822192"/>
            <a:ext cx="57150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82219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mbria"/>
              </a:rPr>
              <a:t>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822192"/>
            <a:ext cx="4434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miri"/>
              </a:rPr>
              <a:t>مراجعة الأبحاث / Research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55680" y="3867912"/>
            <a:ext cx="73152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0" y="3867912"/>
            <a:ext cx="7315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1B3A5C"/>
                </a:solidFill>
                <a:latin typeface="Cambria"/>
              </a:rPr>
              <a:t>$80–200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370832"/>
            <a:ext cx="5532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رسالة ماجستير أو تقرير → تقييم المنهجية، الثغرات، توصيات التحسين
مراجعة أكاديمية متخصصة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193792"/>
            <a:ext cx="5532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Thesis or report → evaluate methodology, gaps, improvement recommendations
Specialized academic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خطوات تحليل العقد — عمل احترافي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Contract Analysis Step-by-Step — Professional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3749039" cy="14630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792224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92224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99032"/>
            <a:ext cx="3063239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اطلب العقد بصيغة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30632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Request contract as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261872"/>
            <a:ext cx="3749039" cy="14630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61688" y="1792224"/>
            <a:ext cx="411480" cy="41148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792224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399032"/>
            <a:ext cx="3063239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ارفعه إلى دفتر خاص بالعميل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947672"/>
            <a:ext cx="30632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Upload to client-specific notebook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0456" y="1261872"/>
            <a:ext cx="3749039" cy="14630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11896" y="1792224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792224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1399032"/>
            <a:ext cx="3063239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اسأل: «ما التزاماتي؟»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1947672"/>
            <a:ext cx="30632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Ask: "What are my obligations?"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26080"/>
            <a:ext cx="3749039" cy="14630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1480" y="3456432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456432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63240"/>
            <a:ext cx="3063239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اسأل: «ما التزامات الطرف الآخر؟»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11880"/>
            <a:ext cx="30632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Ask: "What are the other party's obligations?"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2926080"/>
            <a:ext cx="3749039" cy="14630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61688" y="3456432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3456432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3063240"/>
            <a:ext cx="3063239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اسأل: «ما بنود الغرامات؟»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3611880"/>
            <a:ext cx="30632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Ask: "What are the penalty clauses?"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6" y="2926080"/>
            <a:ext cx="3749039" cy="14630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3456432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3456432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4816" y="3063240"/>
            <a:ext cx="3063239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اسأل: «ما شروط الإنهاء؟»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4816" y="3611880"/>
            <a:ext cx="30632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Ask: "What are the termination conditions?"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590288"/>
            <a:ext cx="3749039" cy="14630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1480" y="5120640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12064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727448"/>
            <a:ext cx="3063239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اسأل: «ما البنود الغامضة؟»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276088"/>
            <a:ext cx="30632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Ask: "Which clauses are ambiguous?"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4590288"/>
            <a:ext cx="3749039" cy="14630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61688" y="512064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61688" y="512064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64608" y="4727448"/>
            <a:ext cx="3063239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أنشئ Briefing Document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8" y="5276088"/>
            <a:ext cx="30632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Generate Briefing Document from answers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0456" y="4590288"/>
            <a:ext cx="3749039" cy="146304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311896" y="5120640"/>
            <a:ext cx="411480" cy="41148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11896" y="512064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14816" y="4727448"/>
            <a:ext cx="3063239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50" b="1" i="0">
                <a:solidFill>
                  <a:srgbClr val="1B3A5C"/>
                </a:solidFill>
                <a:latin typeface="Amiri"/>
              </a:rPr>
              <a:t>سلّم تقرير ٢-٣ صفحات للعميل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14816" y="5276088"/>
            <a:ext cx="30632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Deliver 2-3 page report to client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6053328"/>
            <a:ext cx="11548872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6053328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miri"/>
              </a:rPr>
              <a:t>⚠️  تحذير: NotebookLM ليس محامياً — القراءة أولية فقط. وضّح ذلك للعميل دائماً / NotebookLM is not a lawyer — preliminary reading only. Always clarify this.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الاستخدامات الإسلامية ومصادر المعرفة الدينية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Islamic and Knowledge-Based Uses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﴿إِنَّمَا يَخْشَى اللَّهَ مِنْ عِبَادِهِ الْعُلَمَاءُ﴾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فاطر، ٣٥:٢٨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"Indeed, only those of His servants who fear Allah are the scholars."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Fatir, 35:28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أدب التعامل مع الموضوع — الاستخدام الإسلامي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Adab with the Subject — Islamic Use Framework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500" b="1" i="0">
                <a:solidFill>
                  <a:srgbClr val="C9A84C"/>
                </a:solidFill>
                <a:latin typeface="Amiri"/>
              </a:rPr>
              <a:t>ثلاث قواعد قبل الاستخدام الإسلامي  /  Three Rules Before Islamic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3749039" cy="20574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3749039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828800"/>
            <a:ext cx="36027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①  NotebookLM ليس عالماً ولا مفتياً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331720"/>
            <a:ext cx="360273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أداة بحث في الكتب التي رفعتَها فقط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834640"/>
            <a:ext cx="3602735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NotebookLM is not a scholar or mufti — search engine in your uploaded books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28800"/>
            <a:ext cx="3749039" cy="20574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28800"/>
            <a:ext cx="3749039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828800"/>
            <a:ext cx="36027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②  لا فتوى من أداة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31720"/>
            <a:ext cx="360273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الفتوى مسؤولية يتحملها عالم بشري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34640"/>
            <a:ext cx="3602735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No fatwa from a tool — religious responsibility rests with a human scholar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1828800"/>
            <a:ext cx="3749039" cy="20574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0456" y="1828800"/>
            <a:ext cx="3749039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828800"/>
            <a:ext cx="3602735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③  تحقّق دائماً من النص الأصلي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331720"/>
            <a:ext cx="360273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قد تُخطئ الأداة في النقل — اضغط رقم المصدر دائماً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834640"/>
            <a:ext cx="3602735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Always verify the original source — tool may err in transcription; click source #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41648"/>
            <a:ext cx="11548872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041648"/>
            <a:ext cx="11548872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مثال تطبيقي: مقارنة التفاسير  /  Applied Example: Tafsir Comparison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4617720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617720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72000"/>
            <a:ext cx="10881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اجمع ٥ تفاسير كـ PDF (الطبري، القرطبي، ابن كثير، السعدي، الشعراوي)</a:t>
            </a:r>
          </a:p>
        </p:txBody>
      </p:sp>
      <p:sp>
        <p:nvSpPr>
          <p:cNvPr id="28" name="Oval 27"/>
          <p:cNvSpPr/>
          <p:nvPr/>
        </p:nvSpPr>
        <p:spPr>
          <a:xfrm>
            <a:off x="411480" y="5056632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056632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10912"/>
            <a:ext cx="10881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ارفعها إلى دفتر «تفاسير الآية — دراسة مقارنة»</a:t>
            </a:r>
          </a:p>
        </p:txBody>
      </p:sp>
      <p:sp>
        <p:nvSpPr>
          <p:cNvPr id="31" name="Oval 30"/>
          <p:cNvSpPr/>
          <p:nvPr/>
        </p:nvSpPr>
        <p:spPr>
          <a:xfrm>
            <a:off x="411480" y="5495544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495544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449824"/>
            <a:ext cx="10881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اسأل: «ما تفسير كل مفسّر لهذه الآية؟» ثم «أين اتفقوا واختلفوا؟»</a:t>
            </a:r>
          </a:p>
        </p:txBody>
      </p:sp>
      <p:sp>
        <p:nvSpPr>
          <p:cNvPr id="34" name="Oval 33"/>
          <p:cNvSpPr/>
          <p:nvPr/>
        </p:nvSpPr>
        <p:spPr>
          <a:xfrm>
            <a:off x="411480" y="5934456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934456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88736"/>
            <a:ext cx="10881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تحقّق: اضغط رقم المصدر — اقرأ النص الأصلي — تأكّد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استخدامات إسلامية متنوّعة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Diverse Islamic Use Cases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3767328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دراسة الحديث مقارنةً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37360"/>
            <a:ext cx="3621024" cy="841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«تتبّع رواية الحديث في الصحيحين وباقي المصادر — اجمع طرق الإسناد»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587752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"Track hadith narrations across Sahihayn + other sources — gather chain routes"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19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19" y="1261872"/>
            <a:ext cx="3767328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1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الفقه المقارن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1" y="1737360"/>
            <a:ext cx="3621024" cy="841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كتب المذاهب الأربعة كمصادر → «ما موقف كل مذهب من المسألة X؟»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1" y="2587752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4 madhab books as sources → "What is each madhab's position on issue X?"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8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8" y="1261872"/>
            <a:ext cx="3767328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0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دراسة السيرة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0" y="1737360"/>
            <a:ext cx="3621024" cy="841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ارفع ابن هشام + ابن كثير + الصحيح البخاري → تسلسل زمني للأحداث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0" y="2587752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Upload Ibn Hisham + Ibn Kathir + Bukhari → chronological event timeline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3749040"/>
            <a:ext cx="3767328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بحث الاقتصاد الإسلامي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224528"/>
            <a:ext cx="3621024" cy="841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«بناءً على المصادر، ما الحكم الفقهي للتعاملات الرقمية؟ ما الخلافات؟»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5074920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"Based on sources, what is the fiqh ruling on digital transactions? Disputes?"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19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19" y="3749040"/>
            <a:ext cx="3767328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3671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تحضير الدروس والخطب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1" y="4224528"/>
            <a:ext cx="3621024" cy="841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موضوع + مصادر متنوعة → اطلب Study Guide → استخدم المحاور في الدرس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671" y="5074920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Topic + diverse sources → request Study Guide → use section headers in lesson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8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58" y="3749040"/>
            <a:ext cx="37673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0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مقارنة التراث والمعاصرة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0" y="4224528"/>
            <a:ext cx="3621024" cy="841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كتب تراثية + دراسات معاصرة → «كيف تطوّر الفكر في هذه المسألة؟»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0" y="5074920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Classical books + contemporary studies → "How did thinking evolve on this issue?"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0292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371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4360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miri"/>
              </a:rPr>
              <a:t>المقارنة والحدود والتكامل مع الأدوات الأخرى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9A84C"/>
                </a:solidFill>
                <a:latin typeface="Cambria"/>
              </a:rPr>
              <a:t>Comparison, Limits, and Integration with Other Tools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103120"/>
            <a:ext cx="1127455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000" b="1" i="0">
                <a:solidFill>
                  <a:srgbClr val="C9A84C"/>
                </a:solidFill>
                <a:latin typeface="Amiri"/>
              </a:rPr>
              <a:t>﴿قُلْ هَلْ يَسْتَوِي الَّذِينَ يَعْلَمُونَ وَالَّذِينَ لَا يَعْلَمُونَ﴾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200" b="0" i="0">
                <a:solidFill>
                  <a:srgbClr val="CCCCCC"/>
                </a:solidFill>
                <a:latin typeface="Amiri"/>
              </a:rPr>
              <a:t>سورة الزمر، ٣٩:٩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F5F0E8"/>
                </a:solidFill>
                <a:latin typeface="Cambria"/>
              </a:rPr>
              <a:t>"Say: Are those who know equal to those who do not know?"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Az-Zumar, 39:9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NotebookLM مقابل Claude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NotebookLM vs Claude Projects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39496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39496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1206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600" b="1" i="0">
                <a:solidFill>
                  <a:srgbClr val="C9A84C"/>
                </a:solidFill>
                <a:latin typeface="Amiri"/>
              </a:rPr>
              <a:t>✓  NotebookLM يتفوّق في...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74519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5623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C9A84C"/>
                </a:solidFill>
                <a:latin typeface="Amiri"/>
              </a:rPr>
              <a:t>أمانة المصدر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3055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لا يخترع — يجيب من ملفاتك فقط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0487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Source fidelity — never invents, answers from your files only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880359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80359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86207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C9A84C"/>
                </a:solidFill>
                <a:latin typeface="Amiri"/>
              </a:rPr>
              <a:t>الاستشهاد الدقيق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3639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رقم المصدر + رقم الفقرة بدقة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1071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Precise citations — source # + exact paragraph location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886199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86199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6791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C9A84C"/>
                </a:solidFill>
                <a:latin typeface="Amiri"/>
              </a:rPr>
              <a:t>عدد المصادر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14223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١٠٠ مصدر في النسخة المجانية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1655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Source count — 100 sources in the free tier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892039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92039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1B3A5C"/>
                </a:solidFill>
                <a:latin typeface="Cambria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7375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C9A84C"/>
                </a:solidFill>
                <a:latin typeface="Amiri"/>
              </a:rPr>
              <a:t>مخرجات الاستوديو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4807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بودكاست + خرائط ذهنية + أدلة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422391"/>
            <a:ext cx="4480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Studio outputs — podcast, mind maps, study guides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1261872"/>
            <a:ext cx="576072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1280160"/>
            <a:ext cx="54864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600" b="1" i="0">
                <a:solidFill>
                  <a:srgbClr val="1B3A5C"/>
                </a:solidFill>
                <a:latin typeface="Amiri"/>
              </a:rPr>
              <a:t>✓  Claude Projects يتفوّق في...</a:t>
            </a:r>
          </a:p>
        </p:txBody>
      </p:sp>
      <p:sp>
        <p:nvSpPr>
          <p:cNvPr id="31" name="Oval 30"/>
          <p:cNvSpPr/>
          <p:nvPr/>
        </p:nvSpPr>
        <p:spPr>
          <a:xfrm>
            <a:off x="6245352" y="1874519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2" y="1874519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185623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التحليل العميق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13055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تحليل أكثر عمقاً للحجج والأفكار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40487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Deeper analysis of arguments and ideas</a:t>
            </a:r>
          </a:p>
        </p:txBody>
      </p:sp>
      <p:sp>
        <p:nvSpPr>
          <p:cNvPr id="36" name="Oval 35"/>
          <p:cNvSpPr/>
          <p:nvPr/>
        </p:nvSpPr>
        <p:spPr>
          <a:xfrm>
            <a:off x="6245352" y="2880359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5352" y="2880359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286207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الكتابة الإبداعية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13639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أسلوب سردي رصين وسلس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41071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Creative writing — fluid, refined style</a:t>
            </a:r>
          </a:p>
        </p:txBody>
      </p:sp>
      <p:sp>
        <p:nvSpPr>
          <p:cNvPr id="41" name="Oval 40"/>
          <p:cNvSpPr/>
          <p:nvPr/>
        </p:nvSpPr>
        <p:spPr>
          <a:xfrm>
            <a:off x="6245352" y="3886199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3886199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386791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التعليمات المخصّصة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14223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شخصية البروجكت + أوامر ثابتة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441655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Custom instructions — project personality + persistent commands</a:t>
            </a:r>
          </a:p>
        </p:txBody>
      </p:sp>
      <p:sp>
        <p:nvSpPr>
          <p:cNvPr id="46" name="Oval 45"/>
          <p:cNvSpPr/>
          <p:nvPr/>
        </p:nvSpPr>
        <p:spPr>
          <a:xfrm>
            <a:off x="6245352" y="4892039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4892039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487375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الكتابة الطويلة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514807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C1C1C"/>
                </a:solidFill>
                <a:latin typeface="Amiri"/>
              </a:rPr>
              <a:t>٣٠٠٠ كلمة بسلاسة تامة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5422391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Long-form writing — 3000+ words with ease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6035040"/>
            <a:ext cx="1154887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6035040"/>
            <a:ext cx="1154887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1B3A5C"/>
                </a:solidFill>
                <a:latin typeface="Amiri"/>
              </a:rPr>
              <a:t>القاعدة: NotebookLM لاستخراج المعرفة من المصادر ← Claude لتحليلها والكتابة بناءً عليها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NotebookLM مقابل Perplexity + التكامل الذكي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NotebookLM vs Perplexity + Smart Integration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394960" cy="50749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39496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53949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NotebookLM  vs  Perplexity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10512"/>
            <a:ext cx="530352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10512"/>
            <a:ext cx="1371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mbria"/>
              </a:rPr>
              <a:t>الميزة /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810512"/>
            <a:ext cx="1965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mbria"/>
              </a:rPr>
              <a:t>NotebookLM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810512"/>
            <a:ext cx="1965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mbria"/>
              </a:rPr>
              <a:t>Perplexity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5303520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21992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1" i="0">
                <a:solidFill>
                  <a:srgbClr val="1B3A5C"/>
                </a:solidFill>
                <a:latin typeface="Amiri"/>
              </a:rPr>
              <a:t>المصادر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54203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888888"/>
                </a:solidFill>
                <a:latin typeface="Cambria"/>
              </a:rPr>
              <a:t>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221992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1B3A5C"/>
                </a:solidFill>
                <a:latin typeface="Amiri"/>
              </a:rPr>
              <a:t>ملفاتك الخاصة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221992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الإنترنت الحي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9718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1" i="0">
                <a:solidFill>
                  <a:srgbClr val="1B3A5C"/>
                </a:solidFill>
                <a:latin typeface="Amiri"/>
              </a:rPr>
              <a:t>الاستشهاد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29184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888888"/>
                </a:solidFill>
                <a:latin typeface="Cambria"/>
              </a:rPr>
              <a:t>Citation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97180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1B3A5C"/>
                </a:solidFill>
                <a:latin typeface="Amiri"/>
              </a:rPr>
              <a:t>رقم فقرة دقيق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7180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روابط مواقع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75888"/>
            <a:ext cx="5303520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21608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1" i="0">
                <a:solidFill>
                  <a:srgbClr val="1B3A5C"/>
                </a:solidFill>
                <a:latin typeface="Amiri"/>
              </a:rPr>
              <a:t>التحديث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04164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888888"/>
                </a:solidFill>
                <a:latin typeface="Cambria"/>
              </a:rPr>
              <a:t>Real-time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721608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1B3A5C"/>
                </a:solidFill>
                <a:latin typeface="Amiri"/>
              </a:rPr>
              <a:t>لا — مصادرك فقط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721608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نعم — لحظي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25696"/>
            <a:ext cx="5303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471416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1" i="0">
                <a:solidFill>
                  <a:srgbClr val="1B3A5C"/>
                </a:solidFill>
                <a:latin typeface="Amiri"/>
              </a:rPr>
              <a:t>الاستوديو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91456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888888"/>
                </a:solidFill>
                <a:latin typeface="Cambria"/>
              </a:rPr>
              <a:t>Studio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471416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1B3A5C"/>
                </a:solidFill>
                <a:latin typeface="Amiri"/>
              </a:rPr>
              <a:t>بودكاست + خرائط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4471416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لا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75504"/>
            <a:ext cx="5303520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221224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1" i="0">
                <a:solidFill>
                  <a:srgbClr val="1B3A5C"/>
                </a:solidFill>
                <a:latin typeface="Amiri"/>
              </a:rPr>
              <a:t>السرعة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541264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50" b="0" i="0">
                <a:solidFill>
                  <a:srgbClr val="888888"/>
                </a:solidFill>
                <a:latin typeface="Cambria"/>
              </a:rPr>
              <a:t>Speed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5221224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1B3A5C"/>
                </a:solidFill>
                <a:latin typeface="Amiri"/>
              </a:rPr>
              <a:t>أبطأ (معالجة)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5221224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00" b="0" i="0">
                <a:solidFill>
                  <a:srgbClr val="028090"/>
                </a:solidFill>
                <a:latin typeface="Amiri"/>
              </a:rPr>
              <a:t>ثوانٍ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261872"/>
            <a:ext cx="5760720" cy="5074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1389888"/>
            <a:ext cx="5486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700" b="1" i="0">
                <a:solidFill>
                  <a:srgbClr val="C9A84C"/>
                </a:solidFill>
                <a:latin typeface="Amiri"/>
              </a:rPr>
              <a:t>سير العمل المتكامل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171907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The Integrated Research Workflow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5352" y="2240280"/>
            <a:ext cx="5349240" cy="10789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5352" y="2240280"/>
            <a:ext cx="1143000" cy="107899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5352" y="2240280"/>
            <a:ext cx="1143000" cy="10789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Perplexity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9792" y="233172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اكتشف المصادر والتقارير الحديثة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9792" y="2807208"/>
            <a:ext cx="4023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DDDDD"/>
                </a:solidFill>
                <a:latin typeface="Cambria"/>
              </a:rPr>
              <a:t>Discover latest sources + reports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1352" y="331927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C9A84C"/>
                </a:solidFill>
                <a:latin typeface="Cambria"/>
              </a:rPr>
              <a:t>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74720"/>
            <a:ext cx="5349240" cy="1078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45352" y="3474720"/>
            <a:ext cx="1143000" cy="107899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5352" y="3474720"/>
            <a:ext cx="1143000" cy="10789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NotebookLM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9792" y="356616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حلّل مصادرك بعمق واستخرج الأنماط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79792" y="4041648"/>
            <a:ext cx="4023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DDDDD"/>
                </a:solidFill>
                <a:latin typeface="Cambria"/>
              </a:rPr>
              <a:t>Deep-analyze sources, extract patterns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31352" y="455371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C9A84C"/>
                </a:solidFill>
                <a:latin typeface="Cambria"/>
              </a:rPr>
              <a:t>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45352" y="4709160"/>
            <a:ext cx="5349240" cy="10789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45352" y="4709160"/>
            <a:ext cx="1143000" cy="107899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4709160"/>
            <a:ext cx="1143000" cy="10789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Claude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9792" y="480060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00" b="1" i="0">
                <a:solidFill>
                  <a:srgbClr val="FFFFFF"/>
                </a:solidFill>
                <a:latin typeface="Amiri"/>
              </a:rPr>
              <a:t>اكتب التقرير النهائي بأسلوب احترافي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79792" y="5276088"/>
            <a:ext cx="4023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DDDDDD"/>
                </a:solidFill>
                <a:latin typeface="Cambria"/>
              </a:rPr>
              <a:t>Write the final report professionally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مصفوفة المقارنة الشاملة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Complete Tool Comparison Matrix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08960" y="1261872"/>
            <a:ext cx="292608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261872"/>
            <a:ext cx="29260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61872"/>
            <a:ext cx="29260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61872"/>
            <a:ext cx="29260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Claude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261872"/>
            <a:ext cx="29260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261872"/>
            <a:ext cx="29260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Perplexity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1186891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74520"/>
            <a:ext cx="2606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الاستخدام الأمثل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12848"/>
            <a:ext cx="2606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Best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901952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تحليل مصادرك الخاصة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تحليل عميق وكتابة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01952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معلومات آنية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78608"/>
            <a:ext cx="1186891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624328"/>
            <a:ext cx="2606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المصادر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962656"/>
            <a:ext cx="2606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651760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ملفاتك المرفوعة فقط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51760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ملفاتك + معرفة عامة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51760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الإنترنت الحي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328416"/>
            <a:ext cx="1186891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374136"/>
            <a:ext cx="2606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الاستشهاد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712464"/>
            <a:ext cx="2606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Citations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401568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B3A5C"/>
                </a:solidFill>
                <a:latin typeface="Amiri"/>
              </a:rPr>
              <a:t>✓✓ دقيق جداً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01568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2E75B6"/>
                </a:solidFill>
                <a:latin typeface="Amiri"/>
              </a:rPr>
              <a:t>✓ عام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401568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028090"/>
                </a:solidFill>
                <a:latin typeface="Amiri"/>
              </a:rPr>
              <a:t>✓✓ روابط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078224"/>
            <a:ext cx="1186891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123944"/>
            <a:ext cx="2606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الاستوديو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462272"/>
            <a:ext cx="2606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151376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بودكاست + خرائط + أدلة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51376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كتابة طويلة فقط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151376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لا استوديو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28032"/>
            <a:ext cx="1186891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873752"/>
            <a:ext cx="2606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التخصيص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212080"/>
            <a:ext cx="2606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Custom Instr.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901184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محدود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901184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2E75B6"/>
                </a:solidFill>
                <a:latin typeface="Amiri"/>
              </a:rPr>
              <a:t>✓✓ قوي جداً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901184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محدود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577840"/>
            <a:ext cx="1186891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623560"/>
            <a:ext cx="2606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السعر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961888"/>
            <a:ext cx="2606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Price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650992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مجاني — ١٠٠ مصدر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650992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مجاني/مدفوع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5650992"/>
            <a:ext cx="274320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200" b="0" i="0">
                <a:solidFill>
                  <a:srgbClr val="1C1C1C"/>
                </a:solidFill>
                <a:latin typeface="Amiri"/>
              </a:rPr>
              <a:t>مجاني/مدفوع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قائمة تدقيق جودة المصادر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Source Quality Checklist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61872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1B3A5C"/>
                </a:solidFill>
                <a:latin typeface="Amiri"/>
              </a:rPr>
              <a:t>قبل رفع أي مصدر إلى NotebookLM، اسأل هذه الأسئلة الخمسة  /  Before uploading any source, ask these 5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55648"/>
            <a:ext cx="11548872" cy="80467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55648"/>
            <a:ext cx="566928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55648"/>
            <a:ext cx="566928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01368"/>
            <a:ext cx="106070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هل مؤلف المصدر معروف وموثوق؟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4884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C1C1C"/>
                </a:solidFill>
                <a:latin typeface="Amiri"/>
              </a:rPr>
              <a:t>اسم + مؤسسة + سيرة مهنية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4884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Name + institution + professional background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88336"/>
            <a:ext cx="1154887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566928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688336"/>
            <a:ext cx="566928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734056"/>
            <a:ext cx="106070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هل المصدر محكّم أو رسمي؟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08152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C1C1C"/>
                </a:solidFill>
                <a:latin typeface="Amiri"/>
              </a:rPr>
              <a:t>مجلة محكّمة، تقرير حكومي، كتاب أكاديمي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08152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Peer-reviewed journal, govt report, academic book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21024"/>
            <a:ext cx="11548872" cy="80467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21024"/>
            <a:ext cx="566928" cy="8046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621024"/>
            <a:ext cx="566928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666744"/>
            <a:ext cx="106070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هل المنهجية واضحة؟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014216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C1C1C"/>
                </a:solidFill>
                <a:latin typeface="Amiri"/>
              </a:rPr>
              <a:t>كيف جُمعت البيانات؟ حجم العيّنة؟ المتغيرات؟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014216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How was data collected? Sample size? Variables?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553712"/>
            <a:ext cx="1154887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553712"/>
            <a:ext cx="566928" cy="804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553712"/>
            <a:ext cx="566928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599432"/>
            <a:ext cx="106070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هل يقدّم الموضوع بموضوعية؟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494690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C1C1C"/>
                </a:solidFill>
                <a:latin typeface="Amiri"/>
              </a:rPr>
              <a:t>يعرض الرأي والرأي المقابل — لا استفزاز عاطفي فقط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94690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Presents view + counter-view, not just emotional provocation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86400"/>
            <a:ext cx="11548872" cy="80467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486400"/>
            <a:ext cx="566928" cy="8046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5486400"/>
            <a:ext cx="566928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532120"/>
            <a:ext cx="106070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400" b="1" i="0">
                <a:solidFill>
                  <a:srgbClr val="1B3A5C"/>
                </a:solidFill>
                <a:latin typeface="Amiri"/>
              </a:rPr>
              <a:t>هل يحيل إلى مراجع أخرى؟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587959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1C1C1C"/>
                </a:solidFill>
                <a:latin typeface="Amiri"/>
              </a:rPr>
              <a:t>المصدر الجيد يستشهد بمصادر أخرى — إشارة للنزاهة العلمية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87959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Good sources cite others — signals scholarly integrity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أفضل ١٠ أوامر لـ NotebookLM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Top 10 Power Prompts for NotebookLM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41148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4114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07592"/>
            <a:ext cx="514807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لخّص المصادر بنقطة واحدة لكل مصدر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19072"/>
            <a:ext cx="514807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CCCCCC"/>
                </a:solidFill>
                <a:latin typeface="Cambria"/>
              </a:rPr>
              <a:t>Summarize each source in one sentence — output a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41148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61872"/>
            <a:ext cx="4114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07592"/>
            <a:ext cx="514807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صنّف المصادر حسب التقارب الموضوعي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19072"/>
            <a:ext cx="514807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CCCCCC"/>
                </a:solidFill>
                <a:latin typeface="Cambria"/>
              </a:rPr>
              <a:t>Cluster sources by thematic proximity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86000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411480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286000"/>
            <a:ext cx="4114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331720"/>
            <a:ext cx="514807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ما الإجماع في كل مجموعة؟ وما نقاط الخلاف؟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743200"/>
            <a:ext cx="514807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CCCCCC"/>
                </a:solidFill>
                <a:latin typeface="Cambria"/>
              </a:rPr>
              <a:t>In each cluster, what is the consensus? What are disagreements?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286000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286000"/>
            <a:ext cx="41148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286000"/>
            <a:ext cx="4114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331720"/>
            <a:ext cx="514807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أين ثغرات البحث في هذه المصادر مجتمعة؟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743200"/>
            <a:ext cx="514807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CCCCCC"/>
                </a:solidFill>
                <a:latin typeface="Cambria"/>
              </a:rPr>
              <a:t>Where are the research gaps across these sources?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10128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310128"/>
            <a:ext cx="411480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310128"/>
            <a:ext cx="4114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355848"/>
            <a:ext cx="514807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اقترح ٣ أسئلة بحثية جديدة بناءً على الثغرات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767328"/>
            <a:ext cx="514807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CCCCCC"/>
                </a:solidFill>
                <a:latin typeface="Cambria"/>
              </a:rPr>
              <a:t>Suggest 3 new research questions to fill the gaps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310128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310128"/>
            <a:ext cx="41148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310128"/>
            <a:ext cx="4114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355848"/>
            <a:ext cx="514807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أنشئ جدولاً مقارناً بين نظريتين أو موقفين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767328"/>
            <a:ext cx="514807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CCCCCC"/>
                </a:solidFill>
                <a:latin typeface="Cambria"/>
              </a:rPr>
              <a:t>Create a comparison table between two theories/positions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34256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334256"/>
            <a:ext cx="41148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334256"/>
            <a:ext cx="4114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379976"/>
            <a:ext cx="514807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اسحب قصة X زمنياً من المصادر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791456"/>
            <a:ext cx="514807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CCCCCC"/>
                </a:solidFill>
                <a:latin typeface="Cambria"/>
              </a:rPr>
              <a:t>Pull the story of X in chronological order from sources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334256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334256"/>
            <a:ext cx="41148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334256"/>
            <a:ext cx="4114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379976"/>
            <a:ext cx="514807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ما المعلومات التي تذكرها المصدر الثالث دون غيره؟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4791456"/>
            <a:ext cx="514807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CCCCCC"/>
                </a:solidFill>
                <a:latin typeface="Cambria"/>
              </a:rPr>
              <a:t>What does source 3 mention that other sources don't?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358384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358384"/>
            <a:ext cx="411480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358384"/>
            <a:ext cx="4114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404104"/>
            <a:ext cx="514807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طبّق ما تقوله المصادر على السياق اليمني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15584"/>
            <a:ext cx="514807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CCCCCC"/>
                </a:solidFill>
                <a:latin typeface="Cambria"/>
              </a:rPr>
              <a:t>Apply what the sources say to the Yemeni context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358384"/>
            <a:ext cx="5742432" cy="86868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5358384"/>
            <a:ext cx="41148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5358384"/>
            <a:ext cx="4114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404104"/>
            <a:ext cx="514807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أجب على شكل جدول بثلاثة أعمدة: الموضوع، الإجماع، الخلاف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815584"/>
            <a:ext cx="514807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1">
                <a:solidFill>
                  <a:srgbClr val="CCCCCC"/>
                </a:solidFill>
                <a:latin typeface="Cambria"/>
              </a:rPr>
              <a:t>Answer as a 3-column table: topic, consensus, disagreement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متى تستخدم أي أداة؟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Decision Matrix — Which Tool When?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98448"/>
            <a:ext cx="11548872" cy="7498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44168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عندما تريد تحليل ملفاتك الخاصة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8249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When analyzing your own private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499616"/>
            <a:ext cx="411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3568" y="1408176"/>
            <a:ext cx="3794760" cy="5303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1408176"/>
            <a:ext cx="37947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NotebookLM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67128"/>
            <a:ext cx="1154887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12848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عندما تريد كتابة طويلة أو تحليل حجج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55117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For long-form writing or argument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368296"/>
            <a:ext cx="411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8" y="2276856"/>
            <a:ext cx="379476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76856"/>
            <a:ext cx="37947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Claude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35808"/>
            <a:ext cx="11548872" cy="7498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081528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عندما تحتاج معلومات آنية أو أخبار حديثة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4198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For real-time info or latest news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236976"/>
            <a:ext cx="411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145536"/>
            <a:ext cx="3794760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3145536"/>
            <a:ext cx="37947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Perplexity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04488"/>
            <a:ext cx="1154887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950208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عندما تريد اكتشاف مصادر جديدة ثم تحليلها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28853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To discover new sources then deep-analyze them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105656"/>
            <a:ext cx="411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3568" y="4014216"/>
            <a:ext cx="3794760" cy="5303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4014216"/>
            <a:ext cx="37947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Perplexity → NotebookLM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773168"/>
            <a:ext cx="11548872" cy="74980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818888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عندما تريد استخراج ثم تأليف تقرير نهائي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15721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To extract knowledge then write a polished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974336"/>
            <a:ext cx="411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73568" y="4882896"/>
            <a:ext cx="379476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4882896"/>
            <a:ext cx="37947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NotebookLM → Claude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641848"/>
            <a:ext cx="1154887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687568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عندما تريد البحث الكامل من الصفر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02589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For complete research from scratch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5843016"/>
            <a:ext cx="4114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3568" y="5751576"/>
            <a:ext cx="3794760" cy="5303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5751576"/>
            <a:ext cx="37947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Perplexity → NotebookLM → Claude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الأخطاء الشائعة والحلول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Common Mistakes &amp; Fixes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15000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7150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61872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✗ التحدث مع NotebookLM مثل 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19072"/>
            <a:ext cx="5532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«اشرح نظرية النسبية» ← لا يوجد مصدر = إجابة ضعيفة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39112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Ask without referencing sources — weak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40864"/>
            <a:ext cx="57150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40864"/>
            <a:ext cx="55321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الحل: دائماً أضف: «وفقاً للمصادر، ...»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24912"/>
            <a:ext cx="5532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1C1C1C"/>
                </a:solidFill>
                <a:latin typeface="Cambria"/>
              </a:rPr>
              <a:t>Always add: "According to the sources, ..."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61872"/>
            <a:ext cx="5715000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61872"/>
            <a:ext cx="57150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61872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✗ رفع مصادر ضعيفة أو غير موثوقة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19072"/>
            <a:ext cx="5532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المخرجات لن تكون أفضل من مدخلاتك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39112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Outputs will never be better than your inputs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340864"/>
            <a:ext cx="57150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340864"/>
            <a:ext cx="55321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الحل: استخدم قائمة التدقيق الخماسية للمصادر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24912"/>
            <a:ext cx="5532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1C1C1C"/>
                </a:solidFill>
                <a:latin typeface="Cambria"/>
              </a:rPr>
              <a:t>Use the 5-question quality checklist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49040"/>
            <a:ext cx="5715000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49040"/>
            <a:ext cx="57150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49040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✗ عدم التحقق من الاستشهادات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06240"/>
            <a:ext cx="5532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الأداة قد تُخطئ في النقل — ثق لكن تحقق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526280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Tool may err in transcription — trust but verify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28032"/>
            <a:ext cx="57150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828032"/>
            <a:ext cx="55321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الحل: انقر رقم المصدر دائماً واقرأ النص الأصلي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212080"/>
            <a:ext cx="5532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1C1C1C"/>
                </a:solidFill>
                <a:latin typeface="Cambria"/>
              </a:rPr>
              <a:t>Always click the source # and read the original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49040"/>
            <a:ext cx="5715000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749040"/>
            <a:ext cx="57150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749040"/>
            <a:ext cx="5532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✗ توقع إجابات بلا مصادر مرفوعة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206240"/>
            <a:ext cx="5532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C1C1C"/>
                </a:solidFill>
                <a:latin typeface="Amiri"/>
              </a:rPr>
              <a:t>«ما عاصمة اليمن؟» — NotebookLM: لا توجد في مصادرك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26280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mbria"/>
              </a:rPr>
              <a:t>"What is Yemen's capital?" — Not in your sources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828032"/>
            <a:ext cx="57150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828032"/>
            <a:ext cx="55321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00" b="1" i="0">
                <a:solidFill>
                  <a:srgbClr val="FFFFFF"/>
                </a:solidFill>
                <a:latin typeface="Amiri"/>
              </a:rPr>
              <a:t>✓ الحل: أضف مصدراً يتضمن المعلومة أو استخدم Perplexity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12080"/>
            <a:ext cx="5532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1C1C1C"/>
                </a:solidFill>
                <a:latin typeface="Cambria"/>
              </a:rPr>
              <a:t>Add a source containing the info, or use Perplexity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إمكانات الربح بـ NotebookLM — حساب تقريبي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Earnings Potential with NotebookLM — Estimate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371600"/>
            <a:ext cx="2834640" cy="219456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83464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2834640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$25–75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26517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50" b="0" i="0">
                <a:solidFill>
                  <a:srgbClr val="CCCCCC"/>
                </a:solidFill>
                <a:latin typeface="Amiri"/>
              </a:rPr>
              <a:t>تحليل عقد واحد
Contract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371600"/>
            <a:ext cx="2834640" cy="219456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9272" y="1371600"/>
            <a:ext cx="28346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828800"/>
            <a:ext cx="2834640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$150–300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743200"/>
            <a:ext cx="26517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50" b="0" i="0">
                <a:solidFill>
                  <a:srgbClr val="CCCCCC"/>
                </a:solidFill>
                <a:latin typeface="Amiri"/>
              </a:rPr>
              <a:t>تقرير مقارنة منافسين
Competitor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1371600"/>
            <a:ext cx="2834640" cy="219456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371600"/>
            <a:ext cx="28346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828800"/>
            <a:ext cx="2834640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$50–150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743200"/>
            <a:ext cx="26517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50" b="0" i="0">
                <a:solidFill>
                  <a:srgbClr val="CCCCCC"/>
                </a:solidFill>
                <a:latin typeface="Amiri"/>
              </a:rPr>
              <a:t>ملخص تنفيذي لتقارير
Executive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17736" y="1371600"/>
            <a:ext cx="2834640" cy="219456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17736" y="1371600"/>
            <a:ext cx="28346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828800"/>
            <a:ext cx="2834640" cy="8412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$80–200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743200"/>
            <a:ext cx="26517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150" b="0" i="0">
                <a:solidFill>
                  <a:srgbClr val="CCCCCC"/>
                </a:solidFill>
                <a:latin typeface="Amiri"/>
              </a:rPr>
              <a:t>مراجعة بحثية أكاديمية
Academic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67328"/>
            <a:ext cx="11548872" cy="804672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22191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600" b="1" i="0">
                <a:solidFill>
                  <a:srgbClr val="C9A84C"/>
                </a:solidFill>
                <a:latin typeface="Amiri"/>
              </a:rPr>
              <a:t>سيناريو الشهر الأول — First Month 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300" b="0" i="0">
                <a:solidFill>
                  <a:srgbClr val="FFFFFF"/>
                </a:solidFill>
                <a:latin typeface="Amiri"/>
              </a:rPr>
              <a:t>٢ تحليل عقود × $50 + ١ تقرير منافسين $200 + ١ ملخص تنفيذي $100 = $400 شهرياً — وأنت لا تزال طالباً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09160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المنصات: Upwork · Khamsat · Mostaql — خبرة مطلوبة: نهاية المحاضرة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CCCCC"/>
                </a:solidFill>
                <a:latin typeface="Cambria"/>
              </a:rPr>
              <a:t>Platforms: Upwork · Khamsat · Mostaql — Skills needed: by end of this lecture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جدول سير الأطروحة الأكاديمية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Academic Thesis Workflow Timeline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371600"/>
            <a:ext cx="2212848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221284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قبل البدء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20"/>
            <a:ext cx="2212848" cy="37947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965960"/>
            <a:ext cx="206654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جمع ٣٠-٥٠ مصدر
Google Scholar + PubMed + JSTOR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703320"/>
            <a:ext cx="20665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Week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176272"/>
            <a:ext cx="182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371600"/>
            <a:ext cx="2212848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371600"/>
            <a:ext cx="221284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الأسبوع 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2" y="1874520"/>
            <a:ext cx="2212848" cy="37947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52344" y="1965960"/>
            <a:ext cx="206654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إنشاء دفتر الأطروحة
رفع المصادر + انتظار المعالجة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3703320"/>
            <a:ext cx="20665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2E75B6"/>
                </a:solidFill>
                <a:latin typeface="Cambria"/>
              </a:rPr>
              <a:t>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176272"/>
            <a:ext cx="182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8344" y="1371600"/>
            <a:ext cx="221284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8344" y="1371600"/>
            <a:ext cx="221284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الأسبوع 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8344" y="1874520"/>
            <a:ext cx="2212848" cy="37947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1496" y="1965960"/>
            <a:ext cx="206654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الأسئلة السبعة بالترتيب
Briefing + Mind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3703320"/>
            <a:ext cx="20665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28090"/>
                </a:solidFill>
                <a:latin typeface="Cambria"/>
              </a:rPr>
              <a:t>Week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2176272"/>
            <a:ext cx="182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7496" y="1371600"/>
            <a:ext cx="2212848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7496" y="1371600"/>
            <a:ext cx="221284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الأسبوع 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97496" y="1874520"/>
            <a:ext cx="2212848" cy="37947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0648" y="1965960"/>
            <a:ext cx="206654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كتابة مراجعة الأدبيات
نقل الإجابات + الاستشهادات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703320"/>
            <a:ext cx="20665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27AE60"/>
                </a:solidFill>
                <a:latin typeface="Cambria"/>
              </a:rPr>
              <a:t>Week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2176272"/>
            <a:ext cx="1828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56648" y="1371600"/>
            <a:ext cx="2212848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1371600"/>
            <a:ext cx="2212848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مستمر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56648" y="1874520"/>
            <a:ext cx="2212848" cy="37947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1965960"/>
            <a:ext cx="206654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إضافة مصادر جديدة
أسئلة عند كل فصل جديد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703320"/>
            <a:ext cx="20665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9A84C"/>
                </a:solidFill>
                <a:latin typeface="Cambria"/>
              </a:rPr>
              <a:t>Ongoing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669280"/>
            <a:ext cx="11548872" cy="43891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669280"/>
            <a:ext cx="1154887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300" b="1" i="0">
                <a:solidFill>
                  <a:srgbClr val="C9A84C"/>
                </a:solidFill>
                <a:latin typeface="Amiri"/>
              </a:rPr>
              <a:t>النتيجة: فصل مراجعة أدبيات في أسبوع بدلاً من ٣ أشهر — بجودة تفوق الطريقة التقليدية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حدود NotebookLM — كن واقعياً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NotebookLM Limits — Be Realistic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61872"/>
            <a:ext cx="37673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⚠ لا إنترنت حي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64792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لا يعرف ما حدث أمس — استخدم Perplexity للأخبار الآنية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587752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Doesn't know what happened yesterday — use Perplexity for real-time news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19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19" y="1261872"/>
            <a:ext cx="3767328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1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⚠ Audio Overview بالإنجليزية فقط (٢٠٢٦)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1" y="1764792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البودكاست الصوتي متاح بالإنجليزية حتى الآن — العربية قيد التطوير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1" y="2587752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Audio podcast in English only for now — Arabic version in development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8" y="1261872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8" y="1261872"/>
            <a:ext cx="3767328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0" y="1261872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⚠ ١٠٠ مصدر كحد أقصى (مجاني)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0" y="1764792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للمشاريع الكبيرة جداً: أنشئ دفاتر متعددة حسب الموضوع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0" y="2587752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For very large projects: create multiple notebooks by sub-topic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3749040"/>
            <a:ext cx="3767328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⚠ لا إبداع أدبي حقيقي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251960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يلخّص ويحلّل بشكل ممتاز، لكن الكتابة الإبداعية لـ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5074920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Excellent at summarizing and analyzing, but creative writing is Claude's domain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19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19" y="3749040"/>
            <a:ext cx="3767328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3671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⚠ قد يُخطئ في الاستشهاد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1" y="4251960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دائماً تحقق بالضغط على رقم المصدر واقرأ النص الأصلي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671" y="5074920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Always verify by clicking the source # and reading the original 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8" y="3749040"/>
            <a:ext cx="3767328" cy="2286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58" y="3749040"/>
            <a:ext cx="3767328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0" y="3749040"/>
            <a:ext cx="3621024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⚠ PDF الممسوح (مسح ضوئي) قد يُسبّب أخطاء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0" y="4251960"/>
            <a:ext cx="3621024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50" b="0" i="0">
                <a:solidFill>
                  <a:srgbClr val="1B3A5C"/>
                </a:solidFill>
                <a:latin typeface="Amiri"/>
              </a:rPr>
              <a:t>استخدم OCR لتحويل الصور إلى نص قبل الرفع إذا أمكن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0" y="5074920"/>
            <a:ext cx="36210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Use OCR to convert image-based PDFs to text before uploading when possible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أبرز ما تعلّمنا — الأسبوع الثاني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Key Takeaways — Week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5742432" cy="150876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91440" cy="1508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335024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9A84C"/>
                </a:solidFill>
                <a:latin typeface="Cambria"/>
              </a:rPr>
              <a:t>NotebookLM ≠ 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19072"/>
            <a:ext cx="544982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يجيب من مصادرك فقط — هذا قوّته لا ضعفه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176272"/>
            <a:ext cx="54498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Answers ONLY from your sources — that is its strength, not its weakness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42432" cy="150876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91440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335024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E75B6"/>
                </a:solidFill>
                <a:latin typeface="Cambria"/>
              </a:rPr>
              <a:t>القاعدة الذهبية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719072"/>
            <a:ext cx="544982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مصادر رديئة = مخرجات رديئة — استثمر في اختيار مصادرك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176272"/>
            <a:ext cx="54498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Bad sources = bad outputs — invest time in source quality selection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261872"/>
            <a:ext cx="5742432" cy="150876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261872"/>
            <a:ext cx="91440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1335024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28090"/>
                </a:solidFill>
                <a:latin typeface="Cambria"/>
              </a:rPr>
              <a:t>الأسئلة السبعة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1719072"/>
            <a:ext cx="544982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تلخيص · استخراج · مقارنة · تناقضات · تحليل · تطبيق · سردي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176272"/>
            <a:ext cx="54498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Summary · Extraction · Comparison · Contradiction · Analytical · Application · Narrative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953512"/>
            <a:ext cx="5742432" cy="150876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953512"/>
            <a:ext cx="91440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026664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7AE60"/>
                </a:solidFill>
                <a:latin typeface="Cambria"/>
              </a:rPr>
              <a:t>Audio Overview ثورة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410712"/>
            <a:ext cx="544982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بودكاست تلقائي في دقيقتين — وقت التنقل أصبح وقت تعلّم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867912"/>
            <a:ext cx="54498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Auto-podcast in 2 minutes — commute time became learning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53512"/>
            <a:ext cx="5742432" cy="150876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53512"/>
            <a:ext cx="91440" cy="1508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3026664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8E44AD"/>
                </a:solidFill>
                <a:latin typeface="Cambria"/>
              </a:rPr>
              <a:t>التكامل الذكي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" y="3410712"/>
            <a:ext cx="544982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Perplexity اكتشف ← NotebookLM حلّل ← Claude اكتب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" y="3867912"/>
            <a:ext cx="54498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Perplexity discovers → NotebookLM analyzes → Claude writes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953512"/>
            <a:ext cx="5742432" cy="1508760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953512"/>
            <a:ext cx="91440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3026664"/>
            <a:ext cx="54498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0392B"/>
                </a:solidFill>
                <a:latin typeface="Cambria"/>
              </a:rPr>
              <a:t>الربح الحقيقي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3410712"/>
            <a:ext cx="544982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miri"/>
              </a:rPr>
              <a:t>طالب يمني + NotebookLM = قدرة باحث محترف — فرصة سوق حقيقية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3867912"/>
            <a:ext cx="54498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CCCCCC"/>
                </a:solidFill>
                <a:latin typeface="Cambria"/>
              </a:rPr>
              <a:t>Yemeni student + NotebookLM = professional researcher capacity — real market opportunity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مستويات الإتقان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Levels of Mastery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3108960"/>
            <a:ext cx="2788920" cy="2926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3218688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3218688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028090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977640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المبتدئ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4343400"/>
            <a:ext cx="2642616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• يرفع ملفات PDF
• يطرح أسئلة بسيطة
• يستخدم Briefing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4800600"/>
            <a:ext cx="264261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EEEEEE"/>
                </a:solidFill>
                <a:latin typeface="Cambria"/>
              </a:rPr>
              <a:t>• Uploads PDF files
• Asks basic summary questions
• Uses Briefing Document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2560320"/>
            <a:ext cx="2788920" cy="3474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2544" y="2670048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2670048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2E75B6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3429000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المتوسط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3794760"/>
            <a:ext cx="2642616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• يبني دفاتر موضوعية
• يستخدم ٧ أنواع الأسئلة
• يُنشئ بودكاست و Mind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4800600"/>
            <a:ext cx="264261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EEEEEE"/>
                </a:solidFill>
                <a:latin typeface="Cambria"/>
              </a:rPr>
              <a:t>• Builds thematic notebooks
• Uses all 7 question types
• Creates podcast and mind maps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2011680"/>
            <a:ext cx="2788920" cy="4023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06056" y="2121408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6056" y="2121408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880360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المتقدم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3246120"/>
            <a:ext cx="2642616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• يكتشف ثغرات البحث
• يدمج NotebookLM + Claude
• يُقدّم خدمات للعملاء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4800600"/>
            <a:ext cx="264261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EEEEEE"/>
                </a:solidFill>
                <a:latin typeface="Cambria"/>
              </a:rPr>
              <a:t>• Discovers research gaps
• Integrates NotebookLM + Claude
• Delivers services to clients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0576" y="1463040"/>
            <a:ext cx="2788920" cy="457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59568" y="1572768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59568" y="1572768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331720"/>
            <a:ext cx="264261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miri"/>
              </a:rPr>
              <a:t>الخبير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697480"/>
            <a:ext cx="2642616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100" b="0" i="0">
                <a:solidFill>
                  <a:srgbClr val="FFFFFF"/>
                </a:solidFill>
                <a:latin typeface="Amiri"/>
              </a:rPr>
              <a:t>• يبني نظام بحث متكامل
• Perplexity → NotebookLM → Claude
• دخل $500+ شهرياً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4800600"/>
            <a:ext cx="264261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EEEEEE"/>
                </a:solidFill>
                <a:latin typeface="Cambria"/>
              </a:rPr>
              <a:t>• Builds full research system
• Perplexity → NotebookLM → Claude
• Earns $500+ monthly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في الأسبوع القادم — الأسبوع الثالث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What's Next — Week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600" b="1" i="0">
                <a:solidFill>
                  <a:srgbClr val="C9A84C"/>
                </a:solidFill>
                <a:latin typeface="Amiri"/>
              </a:rPr>
              <a:t>هندسة الاسترجاع المعزّز — RAG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F5F0E8"/>
                </a:solidFill>
                <a:latin typeface="Cambria"/>
              </a:rPr>
              <a:t>Building Retrieval-Augmented Systems for Arabic Documents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51760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4203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ما هو RAG وكيف يختلف عن NotebookLM؟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6207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What is RAG and how it differs from NotebookLM?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3200400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7200" y="3401568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0156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9184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بناء Vector Database للوثائق العربية بـ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11880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Building a Vector Database for Arabic documents in Python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3950208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57200" y="4151376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51376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4164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Embeddings — تمثيل المعنى رياضياً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61688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Embeddings — representing meaning mathematically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4700016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57200" y="4901184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0118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791456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Chunking Strategy — تقطيع المستندات بذكاء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11496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Chunking Strategy — intelligent document segmentation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5449824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57200" y="5650992"/>
            <a:ext cx="384048" cy="38404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650992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541264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نظام RAG كامل من الصفر على جهازك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86130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Full RAG system from scratch on your local machine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199632"/>
            <a:ext cx="1127455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20040" y="6035040"/>
            <a:ext cx="11548872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035040"/>
            <a:ext cx="1154887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miri"/>
              </a:rPr>
              <a:t>المسار (ب) فقط — Track B Only  ·  الأسبوع الثالث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مهمة المختبر الأسبوعية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Weekly Lab Assignment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1600" b="1" i="0">
                <a:solidFill>
                  <a:srgbClr val="1B3A5C"/>
                </a:solidFill>
                <a:latin typeface="Amiri"/>
              </a:rPr>
              <a:t>المهمة: دفتر NotebookLM موضوعي متكامل  /  Task: Build a Complete Thematic Notebook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920240"/>
            <a:ext cx="3767328" cy="1828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920240"/>
            <a:ext cx="3767328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" y="196596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965960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21868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اختر موضوعاً يهمّك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395728"/>
            <a:ext cx="3584448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موضوع دراسي، مهني، أو اهتمام شخصي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17520"/>
            <a:ext cx="358444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An academic, professional, or personal interest topic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19" y="1920240"/>
            <a:ext cx="3767328" cy="1828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19" y="1920240"/>
            <a:ext cx="3767328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39" y="196596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9" y="1965960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2E75B6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1920240"/>
            <a:ext cx="321868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اجمع ٥ مصادر جيدة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2395728"/>
            <a:ext cx="3584448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طبّق قائمة التدقيق الخماسية — PDF أو ويب أو YouTube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3017520"/>
            <a:ext cx="358444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Apply the 5-point quality checklist — PDF, web, or YouTube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58" y="1920240"/>
            <a:ext cx="3767328" cy="1828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58" y="1920240"/>
            <a:ext cx="3767328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83878" y="196596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8" y="1965960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028090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58" y="1920240"/>
            <a:ext cx="321868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ارفعها إلى دفتر جديد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8" y="2395728"/>
            <a:ext cx="3584448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سمّ الدفتر باسم واضح يصف الموضوع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8" y="3017520"/>
            <a:ext cx="358444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Name the notebook clearly describing the topic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977640"/>
            <a:ext cx="3767328" cy="1828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3977640"/>
            <a:ext cx="3767328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8600" y="402336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4023360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27AE60"/>
                </a:solidFill>
                <a:latin typeface="Cambr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977640"/>
            <a:ext cx="321868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اطرح ٥ أسئلة من الأنواع السبعة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453128"/>
            <a:ext cx="3584448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من أنواع مختلفة — لا تكرر النوع الواحد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074920"/>
            <a:ext cx="358444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From different types — don't repeat the same type twice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19" y="3977640"/>
            <a:ext cx="3767328" cy="1828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60519" y="3977640"/>
            <a:ext cx="3767328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206239" y="402336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9" y="4023360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8E44AD"/>
                </a:solidFill>
                <a:latin typeface="Cambria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19" y="3977640"/>
            <a:ext cx="321868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أنشئ Study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59" y="4453128"/>
            <a:ext cx="3584448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اقرأه واستخدمه فعلاً في مذاكرتك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59" y="5074920"/>
            <a:ext cx="358444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Read it and actually use it in your studying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58" y="3977640"/>
            <a:ext cx="3767328" cy="18288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58" y="3977640"/>
            <a:ext cx="376732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83878" y="402336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8" y="4023360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C0392B"/>
                </a:solidFill>
                <a:latin typeface="Cambria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58" y="3977640"/>
            <a:ext cx="321868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a:rtl="1"/>
            <a:r>
              <a:rPr sz="1250" b="1" i="0">
                <a:solidFill>
                  <a:srgbClr val="FFFFFF"/>
                </a:solidFill>
                <a:latin typeface="Amiri"/>
              </a:rPr>
              <a:t>أنشئ Audio Overview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598" y="4453128"/>
            <a:ext cx="3584448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0" i="0">
                <a:solidFill>
                  <a:srgbClr val="1B3A5C"/>
                </a:solidFill>
                <a:latin typeface="Amiri"/>
              </a:rPr>
              <a:t>استمع له أثناء التنقل أو التمرين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598" y="5074920"/>
            <a:ext cx="358444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Listen during commute or exercise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تحدّي المشروع الختامي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Capstone Challenge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1548872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a:rtl="1"/>
            <a:r>
              <a:rPr sz="2000" b="1" i="0">
                <a:solidFill>
                  <a:srgbClr val="1B3A5C"/>
                </a:solidFill>
                <a:latin typeface="Amiri"/>
              </a:rPr>
              <a:t>بناء نظام بحث متكامل قابل للتسليم للعملاء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1">
                <a:solidFill>
                  <a:srgbClr val="CCCCCC"/>
                </a:solidFill>
                <a:latin typeface="Cambria"/>
              </a:rPr>
              <a:t>Build a Complete Research System — Deliverable to Clients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514600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514600"/>
            <a:ext cx="50292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514600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اختر موضوعاً ذا قيمة تجارية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Choose a topic with commercial value (market analysis, technology sector, etc.)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64408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64408"/>
            <a:ext cx="502920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264408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10128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اجمع ١٠+ مصادر موثّقة وعالية الجودة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0168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Gather 10+ verified, high-quality sources using quality checklist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14216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014216"/>
            <a:ext cx="50292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014216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59936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أنشئ Briefing Document + Mind Map + Study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79976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Generate Briefing Document + Mind Map + Study Guide from your notebook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64024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64024"/>
            <a:ext cx="502920" cy="6583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764024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09744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صغ تقريراً احترافياً باستخدام Claude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29784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Draft a professional report using Claude based on NotebookLM extractions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513832"/>
            <a:ext cx="11548872" cy="658368"/>
          </a:xfrm>
          <a:prstGeom prst="rect">
            <a:avLst/>
          </a:prstGeom>
          <a:solidFill>
            <a:srgbClr val="1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513832"/>
            <a:ext cx="502920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513832"/>
            <a:ext cx="502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59552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FFFFFF"/>
                </a:solidFill>
                <a:latin typeface="Amiri"/>
              </a:rPr>
              <a:t>حوّل التقرير إلى خدمة على منصة العمل الحر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79592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CCCCC"/>
                </a:solidFill>
                <a:latin typeface="Cambria"/>
              </a:rPr>
              <a:t>Convert the report workflow into a freelance service offering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الأدوات والمصادر المرجعية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Tools &amp; Reference Resources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98448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347472" cy="9875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44168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notebooklm.google.com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الأداة الرئيسية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The main tool — free with Google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98448"/>
            <a:ext cx="347472" cy="9875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344168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protonvpn.com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645920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2E75B6"/>
                </a:solidFill>
                <a:latin typeface="Amiri"/>
              </a:rPr>
              <a:t>VPN للوصول من اليمن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938528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VPN for access from Yemen — free tier 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87168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87168"/>
            <a:ext cx="347472" cy="9875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532888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scholar.google.com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028090"/>
                </a:solidFill>
                <a:latin typeface="Amiri"/>
              </a:rPr>
              <a:t>مصادر أكاديمية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27248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Academic sources — free papers and citations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87168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487168"/>
            <a:ext cx="347472" cy="9875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532888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elibrary.worldbank.org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834640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27AE60"/>
                </a:solidFill>
                <a:latin typeface="Amiri"/>
              </a:rPr>
              <a:t>تقارير البنك الدولي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127248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World Bank reports — free, Yemen coverage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75888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675888"/>
            <a:ext cx="347472" cy="9875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21608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shamela.ws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023360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8E44AD"/>
                </a:solidFill>
                <a:latin typeface="Amiri"/>
              </a:rPr>
              <a:t>المكتبة الشاملة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15968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Al-Shamela — massive Islamic text library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675888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675888"/>
            <a:ext cx="347472" cy="9875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721608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claude.ai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023360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C0392B"/>
                </a:solidFill>
                <a:latin typeface="Amiri"/>
              </a:rPr>
              <a:t>التحليل والكتابة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315968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For deep analysis and report writing with Claude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64608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864608"/>
            <a:ext cx="347472" cy="9875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910328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perplexity.ai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212080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C9A84C"/>
                </a:solidFill>
                <a:latin typeface="Amiri"/>
              </a:rPr>
              <a:t>البحث الحي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04688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For live internet research and source discovery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864608"/>
            <a:ext cx="5715000" cy="9875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864608"/>
            <a:ext cx="347472" cy="9875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4910328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5C"/>
                </a:solidFill>
                <a:latin typeface="Cambria"/>
              </a:rPr>
              <a:t>upwork.com / khamsat.com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212080"/>
            <a:ext cx="5166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200" b="1" i="0">
                <a:solidFill>
                  <a:srgbClr val="1B3A5C"/>
                </a:solidFill>
                <a:latin typeface="Amiri"/>
              </a:rPr>
              <a:t>منصات العمل الحر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5504688"/>
            <a:ext cx="5166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50" b="0" i="0">
                <a:solidFill>
                  <a:srgbClr val="888888"/>
                </a:solidFill>
                <a:latin typeface="Cambria"/>
              </a:rPr>
              <a:t>Freelance platforms for your new NotebookLM services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2200" b="1" i="0">
                <a:solidFill>
                  <a:srgbClr val="1B3A5C"/>
                </a:solidFill>
                <a:latin typeface="Amiri"/>
              </a:rPr>
              <a:t>تقييم ذاتي — هل أتقنتَ المحاضرة؟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E75B6"/>
                </a:solidFill>
                <a:latin typeface="Cambria"/>
              </a:rPr>
              <a:t>Self-Assessment — Did You Master This Lecture?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87552"/>
            <a:ext cx="11274552" cy="0"/>
          </a:xfrm>
          <a:prstGeom prst="line">
            <a:avLst/>
          </a:prstGeom>
          <a:ln w="1524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261872"/>
            <a:ext cx="1154887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" y="1444752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4475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30759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ما الفرق الجوهري بين NotebookLM وChatGPT؟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45920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What is the fundamental difference between NotebookLM and ChatGPT?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66544"/>
            <a:ext cx="1154887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048" y="2249424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24942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12264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اذكر ٣ أنواع من أنواع الأسئلة السبعة مع مثال على كل نوع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450592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Name 3 of the 7 question types with an example for each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71216"/>
            <a:ext cx="1154887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3054096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0540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916936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كيف تُنشئ بودكاستاً من مصادرك في أقل من دقيقتين؟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255264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How do you create a podcast from your sources in under 2 minutes?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75888"/>
            <a:ext cx="1154887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" y="385876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85876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72160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متى تستخدم NotebookLM ومتى تستخدم Claude؟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059936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When should you use NotebookLM vs when should you use Claude?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80560"/>
            <a:ext cx="11548872" cy="71323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4663440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6634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5262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ما الخطوات الخمس لتحليل عقد لعميل بشكل احترافي؟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864608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What are the 5 steps to professionally analyze a client's contract?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85232"/>
            <a:ext cx="1154887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5468112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546811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330952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a:rtl="1"/>
            <a:r>
              <a:rPr sz="1350" b="1" i="0">
                <a:solidFill>
                  <a:srgbClr val="1B3A5C"/>
                </a:solidFill>
                <a:latin typeface="Amiri"/>
              </a:rPr>
              <a:t>صف سير عمل مراجعة الأدبيات من ٣ أشهر إلى أسبوع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669280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88888"/>
                </a:solidFill>
                <a:latin typeface="Cambria"/>
              </a:rPr>
              <a:t>Describe the literature review workflow from 3 months → 1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mbria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365760"/>
            <a:ext cx="2743200" cy="274320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754880"/>
            <a:ext cx="2560320" cy="2560320"/>
          </a:xfrm>
          <a:prstGeom prst="ellipse">
            <a:avLst/>
          </a:prstGeom>
          <a:solidFill>
            <a:srgbClr val="25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2600" b="1" i="0">
                <a:solidFill>
                  <a:srgbClr val="C9A84C"/>
                </a:solidFill>
                <a:latin typeface="Amiri"/>
              </a:rPr>
              <a:t>﴿وَقُل رَّبِّ زِدْنِي عِلْمًا﴾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1">
                <a:solidFill>
                  <a:srgbClr val="CCCCCC"/>
                </a:solidFill>
                <a:latin typeface="Cambria"/>
              </a:rPr>
              <a:t>Ta-Ha, 20:114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1783080"/>
            <a:ext cx="57881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011680"/>
            <a:ext cx="11274552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3200" b="1" i="0">
                <a:solidFill>
                  <a:srgbClr val="FFFFFF"/>
                </a:solidFill>
                <a:latin typeface="Amiri"/>
              </a:rPr>
              <a:t>شكراً لكم — NotebookLM الأسبوع الثاني اكتمل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2"/>
            <a:ext cx="11274552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0">
                <a:solidFill>
                  <a:srgbClr val="C9A84C"/>
                </a:solidFill>
                <a:latin typeface="Cambria"/>
              </a:rPr>
              <a:t>Thank you — Week 2 Complete · NotebookLM: The Complete Guide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401568"/>
            <a:ext cx="57881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0" i="0">
                <a:solidFill>
                  <a:srgbClr val="F5F0E8"/>
                </a:solidFill>
                <a:latin typeface="Amiri"/>
              </a:rPr>
              <a:t>وصلت الآن إلى نقطة تحوّل: أصبح لديك القدرة على تحليل ما يُحلّله باحث متمرّس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96512"/>
            <a:ext cx="11274552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50" b="0" i="1">
                <a:solidFill>
                  <a:srgbClr val="CCCCCC"/>
                </a:solidFill>
                <a:latin typeface="Cambria"/>
              </a:rPr>
              <a:t>You have reached a turning point: you now have the capacity to analyze what an experienced researcher analyzes.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4645152"/>
            <a:ext cx="5788152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828032"/>
            <a:ext cx="1127455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a:rtl="1"/>
            <a:r>
              <a:rPr sz="1400" b="1" i="0">
                <a:solidFill>
                  <a:srgbClr val="C9A84C"/>
                </a:solidFill>
                <a:latin typeface="Amiri"/>
              </a:rPr>
              <a:t>الأسبوع القادم: هندسة الاسترجاع المعزّز — RAG Engineering — المسار (ب)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1127455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CCCCC"/>
                </a:solidFill>
                <a:latin typeface="Cambria"/>
              </a:rPr>
              <a:t>Next Week: RAG Engineering — Track B · LLM4Yemen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79008"/>
            <a:ext cx="112745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888888"/>
                </a:solidFill>
                <a:latin typeface="Cambria"/>
              </a:rPr>
              <a:t>llm4yemen@gmail.com  ·  LLM4Yemen Program  ·  برنامج LLM4Yemen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8229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C9A84C"/>
                </a:solidFill>
                <a:latin typeface="Cambria"/>
              </a:rPr>
              <a:t>LLM4Yemen  ·  NotebookLM — Complete Guide  ·  NotebookLM — الدليل الشامل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73952"/>
            <a:ext cx="1828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C9A84C"/>
                </a:solidFill>
                <a:latin typeface="Cambria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