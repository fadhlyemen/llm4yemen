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870448" y="868680"/>
            <a:ext cx="457200" cy="457200"/>
          </a:xfrm>
          <a:prstGeom prst="diamond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800" b="1" i="0">
                <a:solidFill>
                  <a:srgbClr val="C9A84C"/>
                </a:solidFill>
                <a:latin typeface="Amiri"/>
              </a:rPr>
              <a:t>الذكاء الاصطناعي لصنّاع المحتوى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0" i="0">
                <a:solidFill>
                  <a:srgbClr val="FFFFFF"/>
                </a:solidFill>
                <a:latin typeface="Amiri"/>
              </a:rPr>
              <a:t>دليل التصميم والصوت والفيديو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C9A84C"/>
                </a:solidFill>
                <a:latin typeface="Cambria"/>
              </a:rPr>
              <a:t>AI for Content Creators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Cambria"/>
              </a:rPr>
              <a:t>A Guide to Design, Audio, and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Cambria"/>
              </a:rPr>
              <a:t>Week 4 Lecture  ·  LLM4Yemen Program  ·  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عربي  ·  English   |   LLM4Yemen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55664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Amiri"/>
              </a:rPr>
              <a:t>بِسْمِ اللَّهِ الرَّحْمَٰنِ الرَّحِيمِ</a:t>
            </a:r>
          </a:p>
        </p:txBody>
      </p:sp>
      <p:sp>
        <p:nvSpPr>
          <p:cNvPr id="6" name="Oval 5"/>
          <p:cNvSpPr/>
          <p:nvPr/>
        </p:nvSpPr>
        <p:spPr>
          <a:xfrm>
            <a:off x="6040983" y="2596896"/>
            <a:ext cx="109728" cy="1097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Amiri"/>
              </a:rPr>
              <a:t>﴿إِنَّ اللَّهَ جَمِيلٌ يُحِبُّ الْجَمَالَ﴾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6B6B6B"/>
                </a:solidFill>
                <a:latin typeface="Amiri"/>
              </a:rPr>
              <a:t>— رواه مسلم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B3A5C"/>
                </a:solidFill>
                <a:latin typeface="Cambria"/>
              </a:rPr>
              <a:t>"Indeed, Allah is beautiful and He loves beauty."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— Narrated by Muslim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أهداف المحاضرة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Lecture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By the end of this week, you will be able to:    ·    بنهاية الأسبوع، ستكون قادراً على:</a:t>
            </a:r>
          </a:p>
        </p:txBody>
      </p:sp>
      <p:sp>
        <p:nvSpPr>
          <p:cNvPr id="7" name="Oval 6"/>
          <p:cNvSpPr/>
          <p:nvPr/>
        </p:nvSpPr>
        <p:spPr>
          <a:xfrm>
            <a:off x="585216" y="1691640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691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Generate professional-grade images with Midjourney &amp; DALL-E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إنتاج صور احترافية باستخدام Midjourney وDALL-E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2350008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85216" y="2532888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53288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871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Edit and polish visuals using Canva, Firefly, and Photoshop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16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تحرير وتلميع المرئيات عبر Canva و Firefly و Photoshop AI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3191256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5216" y="3374136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37413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2841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Produce Arabic podcasts and voiceovers with ElevenLabs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إنتاج البودكاست والصوتيات العربية بـ ElevenLabs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4032504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85216" y="4215384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2153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696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Build short-form video for TikTok, Reels, and YouTube Shorts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988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إنتاج محتوى قصير لـ TikTok و Reels و YouTube Shorts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71600" y="487375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85216" y="5056632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505663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0109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Turn your portfolio into real income on Fiverr, Upwork, Khamsat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400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تحويل محفظتك إلى دخل حقيقي عبر Fiverr و Upwork و خمسات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خارطة الطريق — عشرة فصول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Roadmap — Ten Chapters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7220" y="13258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The One-Person Creator 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عصر صانع المحتوى الواحد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" y="23317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6771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Image Generation: Midjourney &amp; DALL-E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060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التصوير والتصميم — Midjourney و DALL-E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7220" y="333756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7355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Editing: Photoshop, Canva, Firefly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1188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التحرير الفني — Photoshop و Canva و Firefly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7220" y="434340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27939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Voice &amp; Podcasts: ElevenLabs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6177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توليد الأصوات والبودكاست — ElevenLabs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7220" y="534924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28523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Video Generation: Runway, Veo, Pika, Sora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6235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مولّدات الفيديو — Runway و Veo و Pika و Sora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7648" y="114300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13258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132588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126187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Short-Form: TikTok, Reels, YouTube Shorts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8" y="160020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المحتوى القصير — TikTok و Reels و YouTube Shorts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214884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87668" y="23317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3317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226771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AI-Assisted Creative Writing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26060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الكتابة الإبداعية المساعدة بالذكاء الاصطناعي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315468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87668" y="333756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33375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327355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Personal Brand &amp; Multi-Channel 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6328" y="361188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العلامة التجارية الشخصية والمحتوى متعدد القنوات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7648" y="416052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87668" y="434340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3434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96328" y="427939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Islamic &amp; Ethical Content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6328" y="46177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المحتوى الإسلامي والمحتوى الأخلاقي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5166360"/>
            <a:ext cx="548640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87668" y="534924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5349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6328" y="528523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Monetization: Content into Income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6328" y="56235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تحويل المحتوى إلى دخل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عصر صانع المحتوى الواحد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The One-Person Creator 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﴿وَقُلِ اعْمَلُوا فَسَيَرَى اللَّهُ عَمَلَكُمْ وَرَسُولُهُ وَالْمُؤْمِنُونَ﴾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التوبة: ١٠٥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"And say: Work, for Allah will see your deeds, and so will His Messenger and the believers."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At-Tawbah, 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 حدث في سنة واحدة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What Happened in a Single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49240" cy="4343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49240" cy="5486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617720" cy="3520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B3A5C"/>
                </a:solidFill>
                <a:latin typeface="Cambria"/>
              </a:rPr>
              <a:t>A team of five was the minimum: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Graphic designer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Video editor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Voice actor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Project manager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Marketing consultant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0" i="1">
                <a:solidFill>
                  <a:srgbClr val="6B6B6B"/>
                </a:solidFill>
                <a:latin typeface="Cambria"/>
              </a:rPr>
              <a:t>Cost: thousands of dollars per project, weeks of work.</a:t>
            </a:r>
          </a:p>
          <a:p>
            <a:pPr algn="r" rtl="1">
              <a:lnSpc>
                <a:spcPct val="120000"/>
              </a:lnSpc>
              <a:spcBef>
                <a:spcPts val="1200"/>
              </a:spcBef>
            </a:pPr>
            <a:r>
              <a:rPr sz="1400" b="0" i="0">
                <a:solidFill>
                  <a:srgbClr val="1B3A5C"/>
                </a:solidFill>
                <a:latin typeface="Amiri"/>
              </a:rPr>
              <a:t>فريق كامل من خمسة أشخاص لإنتاج محتوى متكامل.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80160"/>
            <a:ext cx="5349240" cy="4343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80160"/>
            <a:ext cx="534924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4617720" cy="3520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B3A5C"/>
                </a:solidFill>
                <a:latin typeface="Cambria"/>
              </a:rPr>
              <a:t>One person + AI tools: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Designer  →  Midjourney + Canva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Video editor  →  Runway + CapCut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Voice actor  →  ElevenLabs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Writer  →  Claude / ChatGPT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Strategist  →  you, with judgement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1">
                <a:solidFill>
                  <a:srgbClr val="1B3A5C"/>
                </a:solidFill>
                <a:latin typeface="Cambria"/>
              </a:rPr>
              <a:t>Cost: ~ $20–50 / month. Output: a full team.</a:t>
            </a:r>
          </a:p>
          <a:p>
            <a:pPr algn="r" rtl="1">
              <a:lnSpc>
                <a:spcPct val="120000"/>
              </a:lnSpc>
              <a:spcBef>
                <a:spcPts val="1200"/>
              </a:spcBef>
            </a:pPr>
            <a:r>
              <a:rPr sz="1400" b="0" i="0">
                <a:solidFill>
                  <a:srgbClr val="1B3A5C"/>
                </a:solidFill>
                <a:latin typeface="Amiri"/>
              </a:rPr>
              <a:t>شخص واحد بأدوات بـ ٢٠–٥٠ دولاراً شهرياً = إنتاج فريق كامل.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Cambria"/>
              </a:rPr>
              <a:t>هذا ليس مبالغة — هذا واقع.    ·    This is not exaggeration. This is reality.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 قصص يمنية حقيقية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Real Yemeni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75" y="1097280"/>
            <a:ext cx="3703320" cy="48920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6275" y="1097280"/>
            <a:ext cx="3703320" cy="1645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0735" y="1508760"/>
            <a:ext cx="914400" cy="9144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275" y="160020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275" y="26060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Mohammed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275" y="2953511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miri"/>
              </a:rPr>
              <a:t>محمد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275" y="32918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Sana'a ·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155" y="37033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84C"/>
                </a:solidFill>
                <a:latin typeface="Cambria"/>
              </a:rPr>
              <a:t>$1,500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875" y="42519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Self-taught designer via YouTube. Now serves Saudi clients from his parents' home.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875" y="516636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مصمم علّم نفسه على YouTube. اليوم يخدم عملاء سعوديين من منزل والديه.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187" y="1097280"/>
            <a:ext cx="3703320" cy="48920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187" y="1097280"/>
            <a:ext cx="3703320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38647" y="1508760"/>
            <a:ext cx="914400" cy="9144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4187" y="160020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187" y="26060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Reem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4187" y="2953511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miri"/>
              </a:rPr>
              <a:t>ريم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4187" y="32918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Aden · Recent grad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7067" y="37033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E75B6"/>
                </a:solidFill>
                <a:latin typeface="Cambria"/>
              </a:rPr>
              <a:t>$500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787" y="42519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Beautiful voice + discipline. Edits with AI tools, sells to Gulf radio. Records from home.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2787" y="516636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صوت جميل وانضباط. تستخدم AI لتحرير صوتها، تبيعه لإذاعات خليجية.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2099" y="1097280"/>
            <a:ext cx="3703320" cy="48920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2099" y="1097280"/>
            <a:ext cx="3703320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6559" y="1508760"/>
            <a:ext cx="914400" cy="91440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2099" y="160020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2099" y="26060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Khaled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2099" y="2953511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miri"/>
              </a:rPr>
              <a:t>خالد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2099" y="32918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Mukalla · Travel creator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4979" y="37033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150K subscribers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0699" y="42519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AI editing + music + effects. Yemen culture &amp; travel content. Earns from ads + sponsorships.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699" y="516636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محرر فيديو بأدوات AI. قناته نمت إلى ١٥٠ ألف مشترك بمحتوى السفر.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هؤلاء ليسوا أساطير — هم نموذج الحاضر    ·    These aren't fairy tales — they're today's normal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أربعة نماذج لصانع المحتوى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Creator Archetypes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645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0" b="1" i="0">
                <a:solidFill>
                  <a:srgbClr val="C9A84C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14173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Visual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85623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miri"/>
              </a:rPr>
              <a:t>المصمم البصري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4688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  ·  الأدوات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71576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Midjourney · Canva · Firefly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31089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$500 – 3,000 /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188720"/>
            <a:ext cx="1645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0" b="1" i="0">
                <a:solidFill>
                  <a:srgbClr val="C9A84C"/>
                </a:solidFill>
                <a:latin typeface="Cambr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14173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Voice &amp; Narrative 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85623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miri"/>
              </a:rPr>
              <a:t>خالق الصوت والسرد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4688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  ·  الأدوات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39" y="271576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ElevenLabs · Descript · TTS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39" y="31089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$200 – 2,000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1645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0" b="1" i="0">
                <a:solidFill>
                  <a:srgbClr val="C9A84C"/>
                </a:solidFill>
                <a:latin typeface="Cambr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41148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Video Producer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39" y="455371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miri"/>
              </a:rPr>
              <a:t>منتج الفيديو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39" y="51663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  ·  الأدوات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39" y="54132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Runway · CapCut · Premiere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39" y="58064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$100 – 5,000 /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886200"/>
            <a:ext cx="1645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0" b="1" i="0">
                <a:solidFill>
                  <a:srgbClr val="C9A84C"/>
                </a:solidFill>
                <a:latin typeface="Cambri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39" y="41148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The Multi-Format Creator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39" y="455371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miri"/>
              </a:rPr>
              <a:t>الخالق متعدد الأوجه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39" y="51663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  ·  الأدوات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39" y="54132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Masters all three above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39" y="58064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$10,000+ /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أين تكسب المال — أرقام السوق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Where the Money Is — 2026 Market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Based on Fiverr, Upwork, Khamsat, and Mostaql 2025–2026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999" y="1554480"/>
            <a:ext cx="2697480" cy="2743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3999" y="1554480"/>
            <a:ext cx="2697480" cy="10972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99" y="2057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C9A84C"/>
                </a:solidFill>
                <a:latin typeface="Cambria"/>
              </a:rPr>
              <a:t>$25–50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3108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Per professional image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" y="36758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حزمة صور احترافية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6071" y="1554480"/>
            <a:ext cx="2697480" cy="2743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6071" y="1554480"/>
            <a:ext cx="2697480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6071" y="2057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2E75B6"/>
                </a:solidFill>
                <a:latin typeface="Cambria"/>
              </a:rPr>
              <a:t>$30–75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8951" y="3108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Per script + Arabic voiceover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8951" y="36758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سكربت + ناراتيف عربي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8143" y="1554480"/>
            <a:ext cx="2697480" cy="2743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8143" y="1554480"/>
            <a:ext cx="2697480" cy="10972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8143" y="2057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mbria"/>
              </a:rPr>
              <a:t>$50–150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3108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Per 30-sec promo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36758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فيديو ترويجي ٣٠ ثانية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0215" y="1554480"/>
            <a:ext cx="2697480" cy="2743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0215" y="1554480"/>
            <a:ext cx="2697480" cy="10972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0215" y="2057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C9A84C"/>
                </a:solidFill>
                <a:latin typeface="Cambria"/>
              </a:rPr>
              <a:t>$100–500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095" y="3108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Per full content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3095" y="36758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حزمة محتوى متكاملة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455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The Yemeni Advantage  ·  الميزة اليمنية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Cambria"/>
              </a:rPr>
              <a:t>Local cost of living: ~$15–20/day  →  Online global rates: $100–500 per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تكلفة المعيشة المحلية منخفضة + الأسعار العالمية = هامش ربح غير معقول لصالحك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اليمني تحديداً؟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Specifically a Yemeni?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5331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Weak local 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3312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العملة المحلية ضعيفة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74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Decent income requires hard currency — and remote global work pays in dollars.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377440"/>
            <a:ext cx="1031443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3347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Narrow local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33472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السوق المحلي ضيّق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546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Local jobs are fewer than seekers — the global market is a wide ocean.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3657600"/>
            <a:ext cx="1031443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1363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The internet equalizes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913632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الإنترنت يساوي بين الناس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34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Reaches you as fast as it reaches a youth in Berlin or Mumbai.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17320" y="4937760"/>
            <a:ext cx="1031443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19379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Astonishing 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193792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عائد على الاستثمار مذهل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150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One hour at $50 ≈ a quarter of a government employee's monthly salary.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التصوير والتصميم — Midjourney و DALL-E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Image Generation: Midjourney &amp; DALL-E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﴿وَخَلَقَ كُلَّ شَيْءٍ فَقَدَّرَهُ تَقْدِيرًا﴾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الفرقان: 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"And He created everything and proportioned it with measure."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Al-Furqan,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الصور أولاً؟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Start With Images?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1">
                <a:solidFill>
                  <a:srgbClr val="1B3A5C"/>
                </a:solidFill>
                <a:latin typeface="Cambria"/>
              </a:rPr>
              <a:t>"A post without a strong image is digital death."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C9A84C"/>
                </a:solidFill>
                <a:latin typeface="Amiri"/>
              </a:rPr>
              <a:t>منشور بلا صورة قوية = موت رقمي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147" y="3108960"/>
            <a:ext cx="3611880" cy="2560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147" y="33832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1B3A5C"/>
                </a:solidFill>
                <a:latin typeface="Segoe UI Emoji"/>
              </a:rPr>
              <a:t>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43891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Instagram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027" y="47365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1C1C1C"/>
                </a:solidFill>
                <a:latin typeface="Amiri"/>
              </a:rPr>
              <a:t>منشور انستغرام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Strong image = engagement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9907" y="3108960"/>
            <a:ext cx="3611880" cy="2560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9907" y="33832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1B3A5C"/>
                </a:solidFill>
                <a:latin typeface="Segoe UI Emoji"/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787" y="43891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Book 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787" y="47365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1C1C1C"/>
                </a:solidFill>
                <a:latin typeface="Amiri"/>
              </a:rPr>
              <a:t>غلاف كتاب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787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Bad cover = no buyers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4667" y="3108960"/>
            <a:ext cx="3611880" cy="2560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4667" y="33832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1B3A5C"/>
                </a:solidFill>
                <a:latin typeface="Segoe UI Emoji"/>
              </a:rPr>
              <a:t>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547" y="43891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Visual 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547" y="47365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1C1C1C"/>
                </a:solidFill>
                <a:latin typeface="Amiri"/>
              </a:rPr>
              <a:t>إعلان بصري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547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Boring ad = no clicks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C9A84C"/>
                </a:solidFill>
                <a:latin typeface="Cambria"/>
              </a:rPr>
              <a:t>In 2026, a professional image takes 30 seconds — not 30 hours.   ·   صورة احترافية في ٣٠ ثانية بدلاً من ٣٠ ساعة.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أدوات توليد الصور الأربعة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Big Four Image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82880" cy="24688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" y="1485900"/>
            <a:ext cx="777240" cy="7772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087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37160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Midjourney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7830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The Current King  ·  الملك الحالي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Highest artistic quality. Discord-based. The professional standard.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79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أعلى جودة فنية. عبر Discord. المعيار الاحترافي.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182880" cy="24688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6540" y="1485900"/>
            <a:ext cx="777240" cy="7772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5087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37160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DALL-E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7830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E75B6"/>
                </a:solidFill>
                <a:latin typeface="Cambria"/>
              </a:rPr>
              <a:t>The Beginner's Friend  ·  الأسهل للمبتدئ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Inside ChatGPT. Easiest entry. Great for quick concepts.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7179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داخل ChatGPT. أسهل دخول. ممتاز للأفكار السريعة.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94760"/>
            <a:ext cx="182880" cy="24688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1540" y="4183380"/>
            <a:ext cx="777240" cy="7772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06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0690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Imagen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4805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The Realism Champion  ·  بطل الواقعية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1208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Inside Gemini. Most realistic photographs and product shots.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6927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داخل Gemini. الأكثر واقعية للصور الفوتوغرافية والمنتجات.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5440680" cy="2468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94760"/>
            <a:ext cx="182880" cy="24688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06540" y="4183380"/>
            <a:ext cx="777240" cy="77724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206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0690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Adobe Firefly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4805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The Commercial Pick  ·  الخيار التجاري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1208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Commercial-safe licensing. Integrated with Photoshop.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66927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ترخيص آمن للاستخدام التجاري. مدمج مع Photoshop.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أسعار Midjourney — اختر خطتك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Midjourney Pricing — Choose Your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707" y="1234440"/>
            <a:ext cx="3611880" cy="4206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3707" y="1234440"/>
            <a:ext cx="3611880" cy="45720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707" y="12801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707" y="18288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B8B8B8"/>
                </a:solidFill>
                <a:latin typeface="Amiri"/>
              </a:rPr>
              <a:t>أساسي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707" y="233172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B3A5C"/>
                </a:solidFill>
                <a:latin typeface="Cambria"/>
              </a:rPr>
              <a:t>$10/mo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8107" y="3383280"/>
            <a:ext cx="1783080" cy="0"/>
          </a:xfrm>
          <a:prstGeom prst="line">
            <a:avLst/>
          </a:prstGeom>
          <a:ln w="1905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6587" y="35661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3.3 hrs/mo GPU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587" y="4251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B8B8B8"/>
                </a:solidFill>
                <a:latin typeface="Cambria"/>
              </a:rPr>
              <a:t>Beginner — first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B8B8B8"/>
                </a:solidFill>
                <a:latin typeface="Amiri"/>
              </a:rPr>
              <a:t>للمبتدئ — الشهر الأول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9907" y="1234440"/>
            <a:ext cx="3611880" cy="4206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9907" y="1234440"/>
            <a:ext cx="36118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9907" y="12801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9907" y="18288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قياسي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9907" y="233172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B3A5C"/>
                </a:solidFill>
                <a:latin typeface="Cambria"/>
              </a:rPr>
              <a:t>$30/mo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04307" y="3383280"/>
            <a:ext cx="1783080" cy="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72787" y="35661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15 hrs/mo + unlimited relax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2787" y="4251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C9A84C"/>
                </a:solidFill>
                <a:latin typeface="Cambria"/>
              </a:rPr>
              <a:t>When you're getting busy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787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عند ازدياد العمل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7107" y="4983479"/>
            <a:ext cx="2697480" cy="3200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9907" y="50017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mbria"/>
              </a:rPr>
              <a:t>RECOMMENDED  ·  موصى به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6107" y="1234440"/>
            <a:ext cx="3611880" cy="4206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6107" y="1234440"/>
            <a:ext cx="361188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6107" y="12801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6107" y="18288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احترافي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6107" y="233172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B3A5C"/>
                </a:solidFill>
                <a:latin typeface="Cambria"/>
              </a:rPr>
              <a:t>$60/mo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90507" y="3383280"/>
            <a:ext cx="1783080" cy="0"/>
          </a:xfrm>
          <a:prstGeom prst="line">
            <a:avLst/>
          </a:prstGeom>
          <a:ln w="1905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58987" y="35661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30 hrs/mo + priority + private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8987" y="4251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1B3A5C"/>
                </a:solidFill>
                <a:latin typeface="Cambria"/>
              </a:rPr>
              <a:t>Production professional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8987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محترف الإنتاج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تشريح أمر صورة احترافية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Anatomy of a Great Image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703320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09728" cy="1508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miri"/>
              </a:rPr>
              <a:t>الموضوع  ·  Who or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E75B6"/>
                </a:solidFill>
                <a:latin typeface="Cambria"/>
              </a:rPr>
              <a:t>Yemeni man, 45, drinking coffee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188720"/>
            <a:ext cx="3703320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188720"/>
            <a:ext cx="109728" cy="1508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280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51790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9019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miri"/>
              </a:rPr>
              <a:t>الأسلوب  ·  Artistic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E75B6"/>
                </a:solidFill>
                <a:latin typeface="Cambria"/>
              </a:rPr>
              <a:t>Photo · cinematic · oil painting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188720"/>
            <a:ext cx="3703320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188720"/>
            <a:ext cx="109728" cy="1508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1280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151790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Lighting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19019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miri"/>
              </a:rPr>
              <a:t>الإضاءة  ·  Light &amp; mood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4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E75B6"/>
                </a:solidFill>
                <a:latin typeface="Cambria"/>
              </a:rPr>
              <a:t>Golden hour · soft window 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62072"/>
            <a:ext cx="3703320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862072"/>
            <a:ext cx="109728" cy="1508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953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1912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Composition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57530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miri"/>
              </a:rPr>
              <a:t>التكوين  ·  Camera &amp; framing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41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E75B6"/>
                </a:solidFill>
                <a:latin typeface="Cambria"/>
              </a:rPr>
              <a:t>Rule of thirds · close-up · 4K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0832" y="2862072"/>
            <a:ext cx="3703320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2862072"/>
            <a:ext cx="109728" cy="1508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2953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31912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Background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357530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miri"/>
              </a:rPr>
              <a:t>الخلفية  ·  Setting &amp;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3941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E75B6"/>
                </a:solidFill>
                <a:latin typeface="Cambria"/>
              </a:rPr>
              <a:t>Old Sana'a market · blurred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8744" y="2862072"/>
            <a:ext cx="3703320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38744" y="2862072"/>
            <a:ext cx="109728" cy="1508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3064" y="2953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1912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Mood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3064" y="357530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miri"/>
              </a:rPr>
              <a:t>المزاج  ·  Emotional tone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3941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E75B6"/>
                </a:solidFill>
                <a:latin typeface="Cambria"/>
              </a:rPr>
              <a:t>Warm · contemplative · serene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7607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Six elements = a prompt that produces what you envisioned.   ·   ستة عناصر = أمر ينتج ما تخيلته.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هاوٍ مقابل محترف — مقارنة الأوامر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Hobbyist vs. Professional — A Prompt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440680" cy="4846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4406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HOBBYIST  ·  هاوٍ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The prompt: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C1C1C"/>
                </a:solidFill>
                <a:latin typeface="Cambria"/>
              </a:rPr>
              <a:t>"a coffee photo"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1C1C1C"/>
                </a:solidFill>
                <a:latin typeface="Amiri"/>
              </a:rPr>
              <a:t>صورة قهوة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3520440"/>
            <a:ext cx="361188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7033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Output: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Flat artificial lighting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Random colors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Generic, forgettable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400" b="1" i="1">
                <a:solidFill>
                  <a:srgbClr val="6B6B6B"/>
                </a:solidFill>
                <a:latin typeface="Cambria"/>
              </a:rPr>
              <a:t>Sells for ~ $10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440680" cy="4846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43584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PROFESSIONAL  ·  محترف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74519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The prompt: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148840"/>
            <a:ext cx="4709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"Yemeni man, 45, traditional thawb,</a:t>
            </a:r>
          </a:p>
          <a:p>
            <a:pPr algn="l">
              <a:lnSpc>
                <a:spcPct val="12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holding ceramic coffee cup, golden</a:t>
            </a:r>
          </a:p>
          <a:p>
            <a:pPr algn="l">
              <a:lnSpc>
                <a:spcPct val="12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hour side light, historic Sana'a</a:t>
            </a:r>
          </a:p>
          <a:p>
            <a:pPr algn="l">
              <a:lnSpc>
                <a:spcPct val="12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market backdrop, 4K, cinematic"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3520440"/>
            <a:ext cx="361188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0" y="37033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Output: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2336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Cinematic warm light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Cohesive cultural feel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Story-rich, memorable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400" b="1" i="1">
                <a:solidFill>
                  <a:srgbClr val="C9A84C"/>
                </a:solidFill>
                <a:latin typeface="Cambria"/>
              </a:rPr>
              <a:t>Sells for $100 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C9A84C"/>
                </a:solidFill>
                <a:latin typeface="Cambria"/>
              </a:rPr>
              <a:t>Same tool. Different eye.   ·   نفس الأداة — عين مختلفة.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التحرير الفني — Photoshop و Canva و Firefly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Editing: Photoshop AI, Canva, Firefly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﴿وَأَتْقَنَ كُلَّ شَيْءٍ صُنْعَهُ﴾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النمل: ٨٨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"He has perfected everything He created."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An-Naml, 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أدوات التحرير الثلاث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Editing Trio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" y="1188720"/>
            <a:ext cx="3703320" cy="4937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987" y="118872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987" y="12527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Canva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87" y="18288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كانفا برو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23774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Easiest. Templates everywhere.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3063239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الأسهل — قوالب جاهزة لكل شيء.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87" y="397764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2E75B6"/>
                </a:solidFill>
                <a:latin typeface="Cambria"/>
              </a:rPr>
              <a:t>$13/mo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" y="48006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  ·  الأنسب لـ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" y="5120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Beginners + small businesses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" y="54864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للمبتدئين والمشاريع الصغيرة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187" y="1188720"/>
            <a:ext cx="3703320" cy="4937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187" y="118872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4187" y="12527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Adobe Firefly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4187" y="18288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أدوبي فايرفلاي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2787" y="23774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Commercial-safe AI fills + edits.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787" y="3063239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تعديلات AI آمنة تجارياً.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4187" y="397764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C9A84C"/>
                </a:solidFill>
                <a:latin typeface="Cambria"/>
              </a:rPr>
              <a:t>$5/mo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7067" y="48006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  ·  الأنسب لـ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7067" y="5120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Anyone selling client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54864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لمن يبيع عمله للعملاء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0387" y="1188720"/>
            <a:ext cx="3703320" cy="4937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0387" y="118872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0387" y="12527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Photoshop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0387" y="18288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فوتوشوب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8987" y="23774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Pixel-level pro control.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8987" y="3063239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تحكم احترافي على مستوى البكسل.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0387" y="397764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B3A5C"/>
                </a:solidFill>
                <a:latin typeface="Cambria"/>
              </a:rPr>
              <a:t>$23/mo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267" y="48006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  ·  الأنسب لـ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5120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Polishing for premium 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54864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تلميع لعملاء راقيين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خمسة تعديلات احترافية بـ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Five Pro AI Edits Every Creator Should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5029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88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Background Remove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88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إزالة الخلفية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544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Isolate your subject in 1 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Useful for product shots, headshots.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203911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2221992"/>
            <a:ext cx="5029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48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Generative Fill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تعبئة توليدية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146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Extend / replace any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889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Widen a portrait into a banner, fill missing areas.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99923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182112"/>
            <a:ext cx="5029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821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1089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Object Removal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089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إزالة العناصر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74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Erase tourists, clutter, distractions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7490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Clean a busy photo of unwanted elements.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80160" y="395935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142232"/>
            <a:ext cx="5029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422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069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AI Upscale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69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تكبير ذكي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4348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Make small images poster-ready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7091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1024px → 4096px without losing detail.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80160" y="491947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02920" y="5102352"/>
            <a:ext cx="5029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023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029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Re-lighting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إعادة الإضاءة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394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Change time of day / mood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6692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Daytime → golden hour with one prompt.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متى تستخدم أي أداة؟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Which Tool, When?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Scenario  ·  السيناريو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188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Best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1887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Why  ·  لماذا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64792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4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Quick social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منشور اجتماعي سريع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1947672"/>
            <a:ext cx="18288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94767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Canva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9476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Templates do 80% of the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96896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Selling to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0779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البيع للعملاء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706624"/>
            <a:ext cx="1828800" cy="38404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70662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Firefly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70662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Commercial-safe AI generations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82696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5584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Premium polishing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66744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تلميع راقٍ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3465576"/>
            <a:ext cx="182880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4655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Photoshop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46557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Pixel control + advanced retouching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1480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Product backgrounds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25696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خلفيات منتجات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4224528"/>
            <a:ext cx="1828800" cy="38404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42245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Firefly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2452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Generative fill on a transparent 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800600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7375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Print posters / books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18464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بوسترات وكتب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4983480"/>
            <a:ext cx="182880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49834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Photoshop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9834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Color profiles + 300 DPI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32704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Brand kit / 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هوية بصرية وقوالب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49240" y="5742432"/>
            <a:ext cx="18288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574243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Canva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74243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Lock fonts/colors across 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توليد الأصوات والبودكاست — ElevenLabs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Voice &amp; Podcasts — ElevenLabs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﴿وَاقْصِدْ فِي مَشْيِكَ وَاغْضُضْ مِن صَوْتِكَ﴾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لقمان: ١٩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"Be moderate in your pace and lower your voice."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Luqman,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صوتك هو علامتك التجارية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Your Voice Is Your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1">
                <a:solidFill>
                  <a:srgbClr val="1B3A5C"/>
                </a:solidFill>
                <a:latin typeface="Cambria"/>
              </a:rPr>
              <a:t>"In 2026, voice is no longer a side tool — it's the gateway from idea to felt experience."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في ٢٠٢٦، لم يعد الصوت أداة ثانوية — إنه بوابة تحويل الفكرة إلى واقع حي.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147" y="3520440"/>
            <a:ext cx="36118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147" y="3520440"/>
            <a:ext cx="36118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147" y="37490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1B3A5C"/>
                </a:solidFill>
                <a:latin typeface="Segoe UI Emoji"/>
              </a:rPr>
              <a:t>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027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Podcasts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48920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بودكاست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027" y="52578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Daily shows in your voice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9907" y="3520440"/>
            <a:ext cx="36118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9907" y="3520440"/>
            <a:ext cx="36118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9907" y="37490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1B3A5C"/>
                </a:solidFill>
                <a:latin typeface="Segoe UI Emoji"/>
              </a:rPr>
              <a:t>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787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Audio 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48920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مقالات صوتية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787" y="52578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News, blogs, narrated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4667" y="3520440"/>
            <a:ext cx="36118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4667" y="3520440"/>
            <a:ext cx="36118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4667" y="37490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1B3A5C"/>
                </a:solidFill>
                <a:latin typeface="Segoe UI Emoji"/>
              </a:rPr>
              <a:t>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547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Brand 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7547" y="48920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إعلانات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7547" y="52578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Radio, social, in-store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C9A84C"/>
                </a:solidFill>
                <a:latin typeface="Cambria"/>
              </a:rPr>
              <a:t>This revolution doesn't happen in expensive studios. It happens on your laptop.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أصوات ElevenLabs العربية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ElevenLabs' Arabic 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Three professional Arabic voices to start with — they pair well with most content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987" y="1417320"/>
            <a:ext cx="3703320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987" y="141732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987" y="14813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87" y="20574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2E75B6"/>
                </a:solidFill>
                <a:latin typeface="Amiri"/>
              </a:rPr>
              <a:t>رشيد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69567" y="2994660"/>
            <a:ext cx="91440" cy="228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52447" y="2899410"/>
            <a:ext cx="91440" cy="419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5327" y="2823210"/>
            <a:ext cx="91440" cy="5715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8207" y="2766060"/>
            <a:ext cx="914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1087" y="2823210"/>
            <a:ext cx="91440" cy="5715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3967" y="2899410"/>
            <a:ext cx="91440" cy="419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6847" y="2975610"/>
            <a:ext cx="91440" cy="266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867" y="3611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Male  ·  ذكر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867" y="39776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Deep, authoritative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867" y="42976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نبرة عميقة موثوقة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867" y="48006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  ·  الأنسب لـ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867" y="51206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News · history · documentaries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867" y="54406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أخبار · تاريخ · أفلام وثائقية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4187" y="1417320"/>
            <a:ext cx="3703320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4187" y="141732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4187" y="14813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Sarah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4187" y="20574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C9A84C"/>
                </a:solidFill>
                <a:latin typeface="Amiri"/>
              </a:rPr>
              <a:t>سارة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5767" y="2994660"/>
            <a:ext cx="91440" cy="228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38647" y="2899410"/>
            <a:ext cx="91440" cy="419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21527" y="2823210"/>
            <a:ext cx="9144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04407" y="2766060"/>
            <a:ext cx="91440" cy="685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7287" y="2823210"/>
            <a:ext cx="9144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0167" y="2899410"/>
            <a:ext cx="91440" cy="419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53047" y="2975610"/>
            <a:ext cx="91440" cy="2667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7067" y="3611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Female  ·  أنثى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7067" y="39776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Warm, expressive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7067" y="42976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نبرة دافئة معبّرة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7067" y="48006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  ·  الأنسب لـ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7067" y="51206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Stories · audiobooks · 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7067" y="54406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قصص · كتب صوتية · علامة تجارية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0387" y="1417320"/>
            <a:ext cx="3703320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0387" y="141732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0387" y="14813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Leila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0387" y="20574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1B3A5C"/>
                </a:solidFill>
                <a:latin typeface="Amiri"/>
              </a:rPr>
              <a:t>ليلى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41967" y="2994660"/>
            <a:ext cx="91440" cy="2286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24847" y="2899410"/>
            <a:ext cx="91440" cy="419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07727" y="2823210"/>
            <a:ext cx="91440" cy="571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90607" y="2766060"/>
            <a:ext cx="91440" cy="685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73487" y="2823210"/>
            <a:ext cx="91440" cy="571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56367" y="2899410"/>
            <a:ext cx="91440" cy="419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439247" y="2975610"/>
            <a:ext cx="91440" cy="2667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3267" y="3611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Female  ·  أنثى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3267" y="39776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Mid-range, clear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3267" y="42976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نبرة وسط واضحة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3267" y="48006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  ·  الأنسب لـ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3267" y="51206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Tutorials · explainers · educational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3267" y="54406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تعليمي · شرح · تعليمات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خطط ElevenLabs والميزانيات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ElevenLabs Plans — Choose Your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99" y="1280160"/>
            <a:ext cx="2697480" cy="4343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999" y="1280160"/>
            <a:ext cx="2697480" cy="45720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999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99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B8B8B8"/>
                </a:solidFill>
                <a:latin typeface="Amiri"/>
              </a:rPr>
              <a:t>مجاني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99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B3A5C"/>
                </a:solidFill>
                <a:latin typeface="Cambria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99" y="32004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9759" y="3703320"/>
            <a:ext cx="1965960" cy="0"/>
          </a:xfrm>
          <a:prstGeom prst="line">
            <a:avLst/>
          </a:prstGeom>
          <a:ln w="1270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1159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1C1C"/>
                </a:solidFill>
                <a:latin typeface="Cambria"/>
              </a:rPr>
              <a:t>10K characters/mo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159" y="4251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~5 min 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" y="48006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8B8B8"/>
                </a:solidFill>
                <a:latin typeface="Cambria"/>
              </a:rPr>
              <a:t>Try &amp;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159" y="5120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B8B8B8"/>
                </a:solidFill>
                <a:latin typeface="Amiri"/>
              </a:rPr>
              <a:t>تجربة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6071" y="1280160"/>
            <a:ext cx="2697480" cy="4343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6071" y="1280160"/>
            <a:ext cx="26974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6071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Starter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6071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2E75B6"/>
                </a:solidFill>
                <a:latin typeface="Amiri"/>
              </a:rPr>
              <a:t>مبتدئ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6071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B3A5C"/>
                </a:solidFill>
                <a:latin typeface="Cambria"/>
              </a:rPr>
              <a:t>$5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6071" y="32004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81831" y="3703320"/>
            <a:ext cx="196596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53231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1C1C"/>
                </a:solidFill>
                <a:latin typeface="Cambria"/>
              </a:rPr>
              <a:t>30K characters/mo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3231" y="4251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~15 min 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3231" y="48006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Beginner podcaster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3231" y="5120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2E75B6"/>
                </a:solidFill>
                <a:latin typeface="Amiri"/>
              </a:rPr>
              <a:t>مبتدئ بودكاست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8143" y="1280160"/>
            <a:ext cx="2697480" cy="4343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8143" y="1280160"/>
            <a:ext cx="26974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8143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Creator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8143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مبدع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8143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B3A5C"/>
                </a:solidFill>
                <a:latin typeface="Cambria"/>
              </a:rPr>
              <a:t>$22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8143" y="32004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43903" y="3703320"/>
            <a:ext cx="196596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15303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1C1C"/>
                </a:solidFill>
                <a:latin typeface="Cambria"/>
              </a:rPr>
              <a:t>100K characters/mo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303" y="4251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~50 min audio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303" y="48006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Active creator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303" y="5120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مبدع نشط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8143" y="9875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★ RECOMMENDED  ·  موصى به 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40215" y="1280160"/>
            <a:ext cx="2697480" cy="4343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40215" y="1280160"/>
            <a:ext cx="269748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40215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0215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1B3A5C"/>
                </a:solidFill>
                <a:latin typeface="Amiri"/>
              </a:rPr>
              <a:t>احترافي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0215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B3A5C"/>
                </a:solidFill>
                <a:latin typeface="Cambria"/>
              </a:rPr>
              <a:t>$99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0215" y="32004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405975" y="3703320"/>
            <a:ext cx="196596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77375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1C1C"/>
                </a:solidFill>
                <a:latin typeface="Cambria"/>
              </a:rPr>
              <a:t>500K characters/mo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7375" y="4251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~5 hrs audio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7375" y="48006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Daily content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77375" y="5120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محتوى يومي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إنتاج أول حلقة بودكاست — خطوة بخطوة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Your First Podcast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91440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Cambria"/>
              </a:rPr>
              <a:t>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0759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Write a 5-min script (≈ 750 words)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9164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اكتب سكربت ٥ دقائق (~٧٥٠ كلمة)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0" y="1463040"/>
            <a:ext cx="192024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146304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Claude / ChatGPT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1640" y="2130552"/>
            <a:ext cx="1004011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2240280"/>
            <a:ext cx="91440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Cambria"/>
              </a:rPr>
              <a:t>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26771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Pick &amp; test 2–3 voices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517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اختر واختبر ٢-٣ أصوات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423160"/>
            <a:ext cx="192024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42316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ElevenLabs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91640" y="3090672"/>
            <a:ext cx="1004011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200400"/>
            <a:ext cx="91440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0040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Cambria"/>
              </a:rPr>
              <a:t>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22783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Generate full narration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6118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ولّد السرد الكامل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3383280"/>
            <a:ext cx="192024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33832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ElevenLabs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91640" y="4050792"/>
            <a:ext cx="1004011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160520"/>
            <a:ext cx="91440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6052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Cambria"/>
              </a:rPr>
              <a:t>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18795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Add intro / outro music + edits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572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أضف موسيقى + تعديلات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4343400"/>
            <a:ext cx="192024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43434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Audacity / CapCut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691640" y="5010912"/>
            <a:ext cx="1004011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02920" y="5120640"/>
            <a:ext cx="91440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2064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Cambria"/>
              </a:rPr>
              <a:t>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14807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Export MP3 + publish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53212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صدّر MP3 وانشر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5303520"/>
            <a:ext cx="192024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53035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Spotify / Anchor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مولّدات الفيديو — Runway و Veo و Pika و Sora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Video Generation — Runway, Veo, Pika, Sora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﴿أَلَمْ تَرَ إِلَىٰ رَبِّكَ كَيْفَ مَدَّ الظِّلَّ﴾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الفرقان: ٤٥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"Have you not considered your Lord — how He extends the shadow?"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Al-Furqan, 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اللاعبون الأربعة في توليد الفيديو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Big Four Video Generators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99" y="1280160"/>
            <a:ext cx="2697480" cy="4206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999" y="1280160"/>
            <a:ext cx="26974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999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Runway Gen-4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99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رنواي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1345539" y="2468880"/>
            <a:ext cx="914400" cy="914400"/>
          </a:xfrm>
          <a:prstGeom prst="rt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879" y="37033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Most flexible · easiest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99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$12 / mo Pro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6071" y="1280160"/>
            <a:ext cx="2697480" cy="4206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6071" y="1280160"/>
            <a:ext cx="26974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6071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6071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فيو ٣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207611" y="2468880"/>
            <a:ext cx="914400" cy="914400"/>
          </a:xfrm>
          <a:prstGeom prst="rtTriangl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8951" y="37033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Cinematic quality · by 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6071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via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1280160"/>
            <a:ext cx="2697480" cy="4206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8143" y="1280160"/>
            <a:ext cx="269748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8143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Pika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8143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بيكا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7069683" y="2468880"/>
            <a:ext cx="914400" cy="914400"/>
          </a:xfrm>
          <a:prstGeom prst="rtTriangl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1023" y="37033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Fastest · social-ready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8143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$10 / mo Pro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0215" y="1280160"/>
            <a:ext cx="2697480" cy="4206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0215" y="1280160"/>
            <a:ext cx="2697480" cy="4572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0215" y="1325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Sora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0215" y="184708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Amiri"/>
              </a:rPr>
              <a:t>سورا</a:t>
            </a:r>
          </a:p>
        </p:txBody>
      </p:sp>
      <p:sp>
        <p:nvSpPr>
          <p:cNvPr id="31" name="Right Triangle 30"/>
          <p:cNvSpPr/>
          <p:nvPr/>
        </p:nvSpPr>
        <p:spPr>
          <a:xfrm>
            <a:off x="9931755" y="2468880"/>
            <a:ext cx="914400" cy="914400"/>
          </a:xfrm>
          <a:prstGeom prst="rtTriangl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3095" y="37033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Best visuals · OpenAI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0215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6B6B"/>
                </a:solidFill>
                <a:latin typeface="Cambria"/>
              </a:rPr>
              <a:t>via ChatGPT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مقارنة أدوات الفيديو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Video Tools — Strengths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3716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371600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Best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1183112" cy="7315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Runway Gen-4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202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Easy UI · image-to-video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Quality varies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20240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Beginner experiments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97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Veo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974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Cinematic, complex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Access via Google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97480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High-end client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74720"/>
            <a:ext cx="11183112" cy="7315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747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Pika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4747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Speed + social formats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747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Less complex scenes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74720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Reels / TikTok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Sora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2519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Strongest visuals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6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Limited duration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251960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Hero pieces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492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Amiri"/>
              </a:rPr>
              <a:t>الأداة  ·  القوة  ·  القيد  ·  الاستخدام الأمثل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C9A84C"/>
                </a:solidFill>
                <a:latin typeface="Cambria"/>
              </a:rPr>
              <a:t>Pro tip: start with Runway. Move up only when a project demands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نصيحة: ابدأ بـ Runway، وانتقل لغيرها فقط حين يتطلب المشروع ذلك.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سير عمل: من صورة إلى فيديو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Workflow — From Image to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863" y="1828800"/>
            <a:ext cx="2103120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3163" y="19431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863" y="1920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023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Generate hero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023" y="2971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ولّد الصورة البطلة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023" y="3310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C9A84C"/>
                </a:solidFill>
                <a:latin typeface="Cambria"/>
              </a:rPr>
              <a:t>Midjourney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5313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6575" y="1828800"/>
            <a:ext cx="2103120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90875" y="1943100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6575" y="1920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3735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Refine with editing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735" y="2971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حسّن بالتحرير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735" y="3310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E75B6"/>
                </a:solidFill>
                <a:latin typeface="Cambria"/>
              </a:rPr>
              <a:t>Firefly / Photoshop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3025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4287" y="1828800"/>
            <a:ext cx="2103120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58587" y="194310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4287" y="1920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447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Animate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47" y="2971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حرّكها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447" y="3310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Runway image-to-video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0737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1999" y="1828800"/>
            <a:ext cx="2103120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26299" y="19431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1999" y="1920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9159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Add voice + music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9159" y="2971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أضف الصوت والموسيقى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9159" y="3310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C9A84C"/>
                </a:solidFill>
                <a:latin typeface="Cambria"/>
              </a:rPr>
              <a:t>ElevenLabs + Audio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8449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79711" y="1828800"/>
            <a:ext cx="2103120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4011" y="1943100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9711" y="1920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6871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Polish the cut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6871" y="2971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تلميع المونتاج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6871" y="3310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E75B6"/>
                </a:solidFill>
                <a:latin typeface="Cambria"/>
              </a:rPr>
              <a:t>CapCut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160520"/>
            <a:ext cx="8531352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4251960"/>
            <a:ext cx="8165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5 steps · 1 person · cost: ~ $50–80 / month 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617720"/>
            <a:ext cx="81655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خمس خطوات · شخص واحد · بتكلفة ٥٠–٨٠ دولاراً شهرياً للأدوات كلها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المحتوى القصير — TikTok و Reels و YouTube Shorts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Short-Form: TikTok, Reels, YouTube Shorts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﴿فَإِنَّ مَعَ الْعُسْرِ يُسْرًا﴾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الشرح: 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"For with hardship, indeed, comes ease."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Ash-Sharh,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سوق المحتوى القصير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Short-Form Market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99" y="1280160"/>
            <a:ext cx="2697480" cy="3200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999" y="128016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999" y="164592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C9A84C"/>
                </a:solidFill>
                <a:latin typeface="Cambria"/>
              </a:rPr>
              <a:t>1.5B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159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TikTok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159" y="3291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Active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159" y="37947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+12%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6071" y="1280160"/>
            <a:ext cx="2697480" cy="3200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6071" y="1280160"/>
            <a:ext cx="269748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6071" y="164592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1B3A5C"/>
                </a:solidFill>
                <a:latin typeface="Cambria"/>
              </a:rPr>
              <a:t>500M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231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YouTube Shorts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231" y="3291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3231" y="37947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+8%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1280160"/>
            <a:ext cx="2697480" cy="3200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128016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8143" y="164592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2E75B6"/>
                </a:solidFill>
                <a:latin typeface="Cambria"/>
              </a:rPr>
              <a:t>300M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Instagram Reels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3291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Active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37947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+18% growth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0215" y="1280160"/>
            <a:ext cx="2697480" cy="3200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0215" y="1280160"/>
            <a:ext cx="2697480" cy="914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0215" y="164592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6B6B6B"/>
                </a:solidFill>
                <a:latin typeface="Cambria"/>
              </a:rPr>
              <a:t>200M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375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Snapchat Spotlight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7375" y="3291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Active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7375" y="37947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6B6B"/>
                </a:solidFill>
                <a:latin typeface="Cambria"/>
              </a:rPr>
              <a:t>+3% growth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54880"/>
            <a:ext cx="11183112" cy="12801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463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Lesson #1: TikTok is the king for beginners.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FFFFF"/>
                </a:solidFill>
                <a:latin typeface="Cambria"/>
              </a:rPr>
              <a:t>Why? Its algorithm gives new accounts a fair chance.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الدرس الأول: TikTok هي المنصة الأمثل للمبتدئين — خوارزميتها تعطي الحسابات الجديدة فرصة عادلة.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المحتوى القصير مثالي لليمن؟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Short-Form Is Ideal for Yemen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6B6B6B"/>
                </a:solidFill>
                <a:latin typeface="Cambria"/>
              </a:rPr>
              <a:t>What you DON'T need:    ·    ما لا تحتاجه: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440680" cy="31089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406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DON'T NEED  ·  لا تحتاج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Cambria"/>
              </a:rPr>
              <a:t>✕ Professional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Cambria"/>
              </a:rPr>
              <a:t>✕ Expensive equipment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Cambria"/>
              </a:rPr>
              <a:t>✕ Full production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9476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Cambria"/>
              </a:rPr>
              <a:t>✕ Your face on camera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5440680" cy="3108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ALL YOU NEED  ·  كل ما تحتاج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✓ A laptop or 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889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✓ Average 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9184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✓ Good ideas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9476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✓ Consistency (most important)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37760"/>
            <a:ext cx="11183112" cy="10972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C9A84C"/>
                </a:solidFill>
                <a:latin typeface="Cambria"/>
              </a:rPr>
              <a:t>Consistency beats production value. Always.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miri"/>
              </a:rPr>
              <a:t>الاتساق يهزم الإنتاج الفاخر — دائماً.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صيغة الـ ٣٠ ثانية الفائزة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30-Second Winning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367226" cy="3657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367226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136722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0–3s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92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0929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الصدمة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100146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Stop the scroll. Question, claim, surprise.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1586" y="1371600"/>
            <a:ext cx="2339671" cy="3657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1586" y="1371600"/>
            <a:ext cx="2339671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1586" y="1435608"/>
            <a:ext cx="233967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3–10s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8746" y="2057400"/>
            <a:ext cx="2065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75B6"/>
                </a:solidFill>
                <a:latin typeface="Cambria"/>
              </a:rPr>
              <a:t>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8746" y="2468880"/>
            <a:ext cx="2065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الوعد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4466" y="3063240"/>
            <a:ext cx="197391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Tell viewers exactly what they'll get.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2697" y="1371600"/>
            <a:ext cx="3312115" cy="3657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2697" y="1371600"/>
            <a:ext cx="3312115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2697" y="1435608"/>
            <a:ext cx="33121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10–22s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9857" y="2057400"/>
            <a:ext cx="30377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PAYOFF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9857" y="2468880"/>
            <a:ext cx="30377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الدليل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5577" y="3063240"/>
            <a:ext cx="294635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Deliver. Three quick points or one demo.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96252" y="1371600"/>
            <a:ext cx="1367226" cy="3657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96252" y="1371600"/>
            <a:ext cx="1367226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6252" y="1435608"/>
            <a:ext cx="136722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22–28s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3412" y="2057400"/>
            <a:ext cx="1092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TWIST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3412" y="2468880"/>
            <a:ext cx="10929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المفاجأة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9132" y="3063240"/>
            <a:ext cx="100146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Surprise insight that earns the share.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54918" y="1371600"/>
            <a:ext cx="2339671" cy="3657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54918" y="1371600"/>
            <a:ext cx="2339671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4918" y="1435608"/>
            <a:ext cx="233967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28–30s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2078" y="2057400"/>
            <a:ext cx="2065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75B6"/>
                </a:solidFill>
                <a:latin typeface="Cambria"/>
              </a:rPr>
              <a:t>CTA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2078" y="2468880"/>
            <a:ext cx="2065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الدعوة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7798" y="3063240"/>
            <a:ext cx="197391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Follow / save / try the prompt.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C9A84C"/>
                </a:solidFill>
                <a:latin typeface="Cambria"/>
              </a:rPr>
              <a:t>Use this formula on every short. Iterate the hook until you can't scroll past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اعمل بهذه الصيغة في كل فيديو قصير، وكرر الصدمة حتى تعجز عن تجاهلها.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الكتابة الإبداعية المساعدة بالذكاء الاصطناعي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AI-Assisted Creative Writing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﴿وَقُل رَّبِّ زِدْنِي عِلْمًا﴾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طه: ١١٤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"And say: My Lord, increase me in knowledge."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Taha, 114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الذكاء الاصطناعي يكتب المسودات — أنت تكتب العمل النهائي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AI Drafts. You Finish.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360152" cy="13716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The Rule  ·  القاعدة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1">
                <a:solidFill>
                  <a:srgbClr val="C9A84C"/>
                </a:solidFill>
                <a:latin typeface="Cambria"/>
              </a:rPr>
              <a:t>AI gives you a skeleton. You add the soul.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miri"/>
              </a:rPr>
              <a:t>الذكاء الاصطناعي يعطيك الهيكل العظمي — أنت تضيف الروح.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Where the soul comes from  ·  من أين تأتي الروح</a:t>
            </a:r>
          </a:p>
        </p:txBody>
      </p:sp>
      <p:sp>
        <p:nvSpPr>
          <p:cNvPr id="11" name="Oval 10"/>
          <p:cNvSpPr/>
          <p:nvPr/>
        </p:nvSpPr>
        <p:spPr>
          <a:xfrm>
            <a:off x="662940" y="3589020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" y="35890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66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Unique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صوتك الفريد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862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How you talk — not anyone else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" y="4274820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" y="42748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251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Specific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51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أمثلة محددة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720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Personal, local, Yemeni context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" y="4960620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" y="49606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37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الثقة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2578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Daring to say what you actually know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" y="5646420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" y="56464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623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Emotional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623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الذكاء العاطفي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943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Truly feeling what your reader feels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سير عمل الكتابة الذكية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Smart Writing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7724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43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Outline yourself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ضع المخطط بنفسك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904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Decide structure &amp; key points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828800"/>
            <a:ext cx="102229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1965960"/>
            <a:ext cx="77724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Write intro &amp;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اكتب المقدمة والخاتمة بنفسك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2677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Set the tone — these are yours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08760" y="2606040"/>
            <a:ext cx="102229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2743200"/>
            <a:ext cx="77724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Let AI draft sections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اطلب من AI كتابة الأقسام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0449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Section by section, with your outline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08760" y="3383280"/>
            <a:ext cx="102229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02920" y="3520440"/>
            <a:ext cx="77724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20440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474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Add personal 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أضف قصصك الشخصية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8221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Local, Yemeni, specific anecdotes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08760" y="4160520"/>
            <a:ext cx="102229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" y="4297680"/>
            <a:ext cx="77724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51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Edit ruthlessly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نقّح بلا رحمة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5994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Cut clichés, tighten sentences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08760" y="4937760"/>
            <a:ext cx="102229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02920" y="5074920"/>
            <a:ext cx="77724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074920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Add citations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أضف المصادر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3766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Real sources — never fabricated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العلامة التجارية الشخصية والمحتوى متعدد القنوات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Personal Brand &amp; Multi-Channel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﴿وَلِكُلٍّ وِجْهَةٌ هُوَ مُوَلِّيهَا﴾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البقرة: ١٤٨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"For each there is a direction toward which it turns."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Al-Baqarah, 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من قطعة واحدة إلى عشر قطع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One Article → Ten Pieces of Content</a:t>
            </a:r>
          </a:p>
        </p:txBody>
      </p:sp>
      <p:sp>
        <p:nvSpPr>
          <p:cNvPr id="6" name="Oval 5"/>
          <p:cNvSpPr/>
          <p:nvPr/>
        </p:nvSpPr>
        <p:spPr>
          <a:xfrm>
            <a:off x="5181447" y="2788920"/>
            <a:ext cx="1828800" cy="182880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1447" y="3246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1 Long Article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447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مقالة طويلة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447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(2,000 words)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8872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Blog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002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مدونة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1577340"/>
            <a:ext cx="2849727" cy="21259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228600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Tweet thread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ثريد تويتر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2674620"/>
            <a:ext cx="2849727" cy="102870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38328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8328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LinkedIn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بوست LinkedIn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331720" y="3703320"/>
            <a:ext cx="2849727" cy="685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2920" y="448056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Email newsletter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920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نشرة بريدية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331720" y="3703320"/>
            <a:ext cx="2849727" cy="116586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" y="557784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57784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669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Instagram carousel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893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كاروسيل IG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331720" y="3703320"/>
            <a:ext cx="2849727" cy="226314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058400" y="118872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0" y="118872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1280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TikTok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6002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سكربت تيكتوك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010247" y="1577340"/>
            <a:ext cx="3048153" cy="21259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58400" y="228600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8400" y="228600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Reels clips (3)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697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ريلز (٣)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010247" y="2674620"/>
            <a:ext cx="3048153" cy="102870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0058400" y="338328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58400" y="338328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3474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Podcast episode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حلقة بودكاست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7010247" y="3703320"/>
            <a:ext cx="3048153" cy="685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0058400" y="448056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58400" y="448056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41280" y="45720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YouTube short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8920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يوتيوب شورت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7010247" y="3703320"/>
            <a:ext cx="3048153" cy="116586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0058400" y="557784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58400" y="557784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41280" y="5669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Pinterest pins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59893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بنترست</a:t>
            </a:r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7010247" y="3703320"/>
            <a:ext cx="3048153" cy="226314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Same idea, ten expressions — one platform per voice.   ·   فكرة واحدة بعشرة أساليب — صوت لكل منصة.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تعديل النبرة لكل منصة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Adjusting Tone by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83112" cy="7315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07592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325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لينكدإن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Authoritative, professional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270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2344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Long-form insight, expertise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2704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84832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8483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Twitter/X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103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تويتر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Sharp, contrarian, witty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042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0116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Punchy threads, hot takes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3042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97480"/>
            <a:ext cx="11183112" cy="7315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62072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620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880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انستغرام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Visual, aspirational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0815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7889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Beautiful visuals + short captions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08152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39312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63931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TikTok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3657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تيكتوك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Authentic, raw, energetic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8587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5661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Hook in 3 sec, real personality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85876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251960"/>
            <a:ext cx="11183112" cy="7315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416552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165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YouTube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4348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يوتيوب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343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Educational, structured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6360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434340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Tutorials, deep-dives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46360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193792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1937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5212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بريد إلكتروني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Personal, conversational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4132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51206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1-on-1 letter feeling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541324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use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المحتوى الإسلامي والمحتوى الأخلاقي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Islamic &amp; Ethical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﴿وَلَا تَقْفُ مَا لَيْسَ لَكَ بِهِ عِلْمٌ﴾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٣٦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"And do not pursue that of which you have no knowledge."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فرصة المحتوى الإسلامي التعليمي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Islamic Educational Content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The gap in 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الفجوة في السوق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486400" cy="914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91440" cy="9144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Too academic  ·  علمي معقد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Assumes prior scholarship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54680"/>
            <a:ext cx="5486400" cy="914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91440" cy="9144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Too shallow  ·  سطحي جداً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"10 verses for success" with no 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06240"/>
            <a:ext cx="5486400" cy="914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06240"/>
            <a:ext cx="91440" cy="9144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Mixed with personal opinion  ·  مختلط بآراء شخصية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Fatwa instead of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97280"/>
            <a:ext cx="5330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Where you fit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موقعك في السوق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103120"/>
            <a:ext cx="5330952" cy="914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103120"/>
            <a:ext cx="91440" cy="914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19456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Clear explanation  ·  شرح واضح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6032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Real depth without complexity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54680"/>
            <a:ext cx="5330952" cy="914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154680"/>
            <a:ext cx="91440" cy="914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24612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With modern examples  ·  بأمثلة حديثة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61188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Connect to today's life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06240"/>
            <a:ext cx="5330952" cy="914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06240"/>
            <a:ext cx="91440" cy="914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29768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Cite scholars always  ·  استشهد دائماً بالعلماء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66344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Education, never personal fatwa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Millions consume Islamic content. Most of it is one of these two extremes.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ملايين المسلمين يستهلكون المحتوى الديني — ومعظمه إما معقد أو سطحي. هنا فرصتك.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الخطوط الحمراء — تعليم لا فتوى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Red Lines — Education, Not Fatwa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44068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✓  DO  ·  افعل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Cambria"/>
              </a:rPr>
              <a:t>•  Cite scholars and their 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Cambria"/>
              </a:rPr>
              <a:t>•  Stick to widely-agreed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Cambria"/>
              </a:rPr>
              <a:t>•  Translate, summarize, simplify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723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Cambria"/>
              </a:rPr>
              <a:t>•  Always say "according to Imam X..."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Cambria"/>
              </a:rPr>
              <a:t>•  Direct viewers to qualified scholars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1">
                <a:solidFill>
                  <a:srgbClr val="C9A84C"/>
                </a:solidFill>
                <a:latin typeface="Amiri"/>
              </a:rPr>
              <a:t>أنت ناقل علم، لا مفتٍ.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You are a transmitter of knowledge, not a mufti.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5440680" cy="39319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88720"/>
            <a:ext cx="54406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43584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✕  DON'T  ·  لا تفعل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920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Issue rulings on your 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0428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Take controversial positions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883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Quote Quran/Hadith without checking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723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Use AI-generated tafsir without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564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Mix politics with religious teaching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1">
                <a:solidFill>
                  <a:srgbClr val="1B3A5C"/>
                </a:solidFill>
                <a:latin typeface="Amiri"/>
              </a:rPr>
              <a:t>نقل خطأ في الدين = إثم على الناقل.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Religious error spreads — and so does its responsibility.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miri"/>
              </a:rPr>
              <a:t>تحويل المحتوى إلى دخل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9A84C"/>
                </a:solidFill>
                <a:latin typeface="Cambria"/>
              </a:rPr>
              <a:t>Monetization — Content Into Income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﴿هُوَ الَّذِي جَعَلَ لَكُمُ الْأَرْضَ ذَلُولًا فَامْشُوا فِي مَنَاكِبِهَا وَكُلُوا مِن رِّزْقِهِ﴾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الملك: ١٥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"It is He who made the earth tame for you — so walk among its slopes and eat of His provision."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Al-Mulk,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أين تبيع — المنصات الأساسية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Where to Sell — The Core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99" y="1188720"/>
            <a:ext cx="2697480" cy="4023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999" y="1188720"/>
            <a:ext cx="26974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999" y="125272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Fiverr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99" y="18288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فايفر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2468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Easiest entry · gig-based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99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E75B6"/>
                </a:solidFill>
                <a:latin typeface="Cambria"/>
              </a:rPr>
              <a:t>$5–500 per gig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1199" y="4023360"/>
            <a:ext cx="178308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6879" y="4206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" y="4526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Beginners, first reviews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071" y="1188720"/>
            <a:ext cx="2697480" cy="4023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6071" y="1188720"/>
            <a:ext cx="26974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6071" y="125272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Upwork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6071" y="18288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أبوورك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8951" y="2468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Project-based · long-term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6071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$20–100 / hour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73271" y="4023360"/>
            <a:ext cx="178308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98951" y="4206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8951" y="4526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Mid-level, repeat clients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8143" y="1188720"/>
            <a:ext cx="2697480" cy="4023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8143" y="1188720"/>
            <a:ext cx="26974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8143" y="125272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Khamsat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8143" y="18288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خمسات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1023" y="2468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Arabic-first · regional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8143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$5–500 per service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35343" y="4023360"/>
            <a:ext cx="178308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61023" y="4206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1023" y="4526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Arab clients, fast 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0215" y="1188720"/>
            <a:ext cx="2697480" cy="4023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0215" y="1188720"/>
            <a:ext cx="26974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0215" y="125272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Mostaql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0215" y="18288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Amiri"/>
              </a:rPr>
              <a:t>مستقل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095" y="2468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Larger Arab projects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0215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B6B6B"/>
                </a:solidFill>
                <a:latin typeface="Cambria"/>
              </a:rPr>
              <a:t>$50–5,000 per project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497415" y="4023360"/>
            <a:ext cx="178308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223095" y="4206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Best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3095" y="4526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Bigger Arab budgets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خمس باقات للبدء على فايفر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Five Beginner Gigs Ready for Fiverr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9436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430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3 pro images for your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9047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٣ صور احترافية لمتجرك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1051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  Midjourney + Canva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$25–50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⏱  2–3 hr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71600" y="203911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2148840"/>
            <a:ext cx="59436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4884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1031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Short video script + Arabic 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5059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سكربت قصير + ناراتيف عربي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7063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  Claude + ElevenLabs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$30–75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06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⏱  1–2 hr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299923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2920" y="3108960"/>
            <a:ext cx="59436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0896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0632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30-sec promo video, end-to-end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1071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فيديو ترويجي ٣٠ ثانية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7307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  Runway + CapCut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004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$50–150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66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⏱  3–4 hr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71600" y="395935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" y="4069080"/>
            <a:ext cx="59436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06908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0233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10 cohesive Instagram posts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37083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١٠ منشورات IG متناسقة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69087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  Canva + Midjourney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$40–80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5262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⏱  2–3 hr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71600" y="491947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02920" y="5029200"/>
            <a:ext cx="59436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02920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9834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Full audio podcast episode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33095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حلقة بودكاست كاملة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65099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  ElevenLabs + Audacity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120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$40–120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486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⏱  2–3 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سلّم التسعير — من المبتدئ إلى الوكالة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Pricing Ladder — Beginner to Agency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99" y="2743200"/>
            <a:ext cx="2697480" cy="3291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999" y="2743200"/>
            <a:ext cx="2697480" cy="9144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159" y="30175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Beginner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159" y="345643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B8B8B8"/>
                </a:solidFill>
                <a:latin typeface="Amiri"/>
              </a:rPr>
              <a:t>مبتدئ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159" y="41148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8B8B8"/>
                </a:solidFill>
                <a:latin typeface="Cambria"/>
              </a:rPr>
              <a:t>$50 –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159" y="4663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1199" y="5166360"/>
            <a:ext cx="1783080" cy="0"/>
          </a:xfrm>
          <a:prstGeom prst="line">
            <a:avLst/>
          </a:prstGeom>
          <a:ln w="1270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6879" y="534924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1–3 small gigs</a:t>
            </a:r>
          </a:p>
        </p:txBody>
      </p:sp>
      <p:sp>
        <p:nvSpPr>
          <p:cNvPr id="14" name="Oval 13"/>
          <p:cNvSpPr/>
          <p:nvPr/>
        </p:nvSpPr>
        <p:spPr>
          <a:xfrm>
            <a:off x="545439" y="2331720"/>
            <a:ext cx="548640" cy="548640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999" y="23317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6071" y="2468880"/>
            <a:ext cx="2697480" cy="3566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6071" y="246888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3231" y="27432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Side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3231" y="318211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دخل جانبي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3231" y="38404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E75B6"/>
                </a:solidFill>
                <a:latin typeface="Cambria"/>
              </a:rPr>
              <a:t>$500 – 1,500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3231" y="4389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73271" y="4892040"/>
            <a:ext cx="178308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98951" y="507492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5–10 regular clients</a:t>
            </a:r>
          </a:p>
        </p:txBody>
      </p:sp>
      <p:sp>
        <p:nvSpPr>
          <p:cNvPr id="24" name="Oval 23"/>
          <p:cNvSpPr/>
          <p:nvPr/>
        </p:nvSpPr>
        <p:spPr>
          <a:xfrm>
            <a:off x="3407511" y="205740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6071" y="20574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8143" y="2194560"/>
            <a:ext cx="2697480" cy="3840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8143" y="2194560"/>
            <a:ext cx="269748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5303" y="24688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Full freelancer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290779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عامل حر متفرغ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35661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$1,500 – 4,000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303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35343" y="4617720"/>
            <a:ext cx="178308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61023" y="480060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15–30 clients, retainers</a:t>
            </a:r>
          </a:p>
        </p:txBody>
      </p:sp>
      <p:sp>
        <p:nvSpPr>
          <p:cNvPr id="34" name="Oval 33"/>
          <p:cNvSpPr/>
          <p:nvPr/>
        </p:nvSpPr>
        <p:spPr>
          <a:xfrm>
            <a:off x="6269583" y="178308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8143" y="17830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40215" y="1920240"/>
            <a:ext cx="2697480" cy="4114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40215" y="192024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7375" y="2194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Agency 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7375" y="263347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صاحب وكالة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7375" y="32918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84C"/>
                </a:solidFill>
                <a:latin typeface="Cambria"/>
              </a:rPr>
              <a:t>$5,000+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7375" y="3840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/ month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97415" y="4343400"/>
            <a:ext cx="178308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223095" y="45262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Sub-contractors + brand</a:t>
            </a:r>
          </a:p>
        </p:txBody>
      </p:sp>
      <p:sp>
        <p:nvSpPr>
          <p:cNvPr id="44" name="Oval 43"/>
          <p:cNvSpPr/>
          <p:nvPr/>
        </p:nvSpPr>
        <p:spPr>
          <a:xfrm>
            <a:off x="9131655" y="150876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0215" y="15087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Move one level per quarter. Don't skip steps — clients smell it.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محفظة الأسابيع الأربعة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Your 4-Week Portfolio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828800" cy="109728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الأسبوع الأول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3716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7830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Foundation — talk to AI clearly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77440"/>
            <a:ext cx="1828800" cy="1097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الأسبوع الثاني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603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NotebookLM &amp;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9718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Knowledge work with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1828800" cy="10972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661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الأسبوع الثالث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749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Voice &amp; 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1605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First Arabic podcast + article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1828800" cy="10972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5488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49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الأسبوع الرابع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9377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Content Creation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3492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Images, video, &amp; monetization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عشر خلاصات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Ten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54406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Clarity is the real 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الوضوح هو الفن الحقيقي.</a:t>
            </a:r>
          </a:p>
        </p:txBody>
      </p:sp>
      <p:sp>
        <p:nvSpPr>
          <p:cNvPr id="10" name="Oval 9"/>
          <p:cNvSpPr/>
          <p:nvPr/>
        </p:nvSpPr>
        <p:spPr>
          <a:xfrm>
            <a:off x="54406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Consistency beats talent.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الاتساق يهزم الموهبة.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Tools change. Taste doesn't.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الأدوات تتغير — الذوق ثابت.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Start with images, then voice, then video.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ابدأ بالصور، ثم الصوت، ثم الفيديو.</a:t>
            </a:r>
          </a:p>
        </p:txBody>
      </p:sp>
      <p:sp>
        <p:nvSpPr>
          <p:cNvPr id="22" name="Oval 21"/>
          <p:cNvSpPr/>
          <p:nvPr/>
        </p:nvSpPr>
        <p:spPr>
          <a:xfrm>
            <a:off x="54406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AI drafts. You finish.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الذكاء الاصطناعي يكتب المسودة، أنت تختم.</a:t>
            </a:r>
          </a:p>
        </p:txBody>
      </p:sp>
      <p:sp>
        <p:nvSpPr>
          <p:cNvPr id="26" name="Oval 25"/>
          <p:cNvSpPr/>
          <p:nvPr/>
        </p:nvSpPr>
        <p:spPr>
          <a:xfrm>
            <a:off x="644194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One idea, ten formats.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فكرة واحدة بعشرة أشكال.</a:t>
            </a:r>
          </a:p>
        </p:txBody>
      </p:sp>
      <p:sp>
        <p:nvSpPr>
          <p:cNvPr id="30" name="Oval 29"/>
          <p:cNvSpPr/>
          <p:nvPr/>
        </p:nvSpPr>
        <p:spPr>
          <a:xfrm>
            <a:off x="644194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194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Cite scholars in religious content.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استشهد بالعلماء في المحتوى الديني.</a:t>
            </a:r>
          </a:p>
        </p:txBody>
      </p:sp>
      <p:sp>
        <p:nvSpPr>
          <p:cNvPr id="34" name="Oval 33"/>
          <p:cNvSpPr/>
          <p:nvPr/>
        </p:nvSpPr>
        <p:spPr>
          <a:xfrm>
            <a:off x="644194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194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Local context = your edge.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السياق المحلي = ميزتك.</a:t>
            </a:r>
          </a:p>
        </p:txBody>
      </p:sp>
      <p:sp>
        <p:nvSpPr>
          <p:cNvPr id="38" name="Oval 37"/>
          <p:cNvSpPr/>
          <p:nvPr/>
        </p:nvSpPr>
        <p:spPr>
          <a:xfrm>
            <a:off x="644194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194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Sell early. Get the first review.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ابدأ البيع مبكراً — أول مراجعة هي المفتاح.</a:t>
            </a:r>
          </a:p>
        </p:txBody>
      </p:sp>
      <p:sp>
        <p:nvSpPr>
          <p:cNvPr id="42" name="Oval 41"/>
          <p:cNvSpPr/>
          <p:nvPr/>
        </p:nvSpPr>
        <p:spPr>
          <a:xfrm>
            <a:off x="644194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194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Allah loves beauty — bring some.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إن الله جميل يحب الجمال — أبدع.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ماذا بعد؟ المهمة العملية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What Comes Next — Your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725912" cy="4023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5912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WEEK 4 CAPSTONE  ·  مشروع الأسبوع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1B3A5C"/>
                </a:solidFill>
                <a:latin typeface="Cambria"/>
              </a:rPr>
              <a:t>Build a starter portfolio that goes live this week: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6 cohesive AI-generated images on one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7919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Arabic 5-minute podcast episode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2666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3 short-form videos for TikTok / Reels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74136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bilingual article (1,500 words)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2160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simple Notion / Carrd portfolio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60520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C9A84C"/>
                </a:solidFill>
                <a:latin typeface="Cambria"/>
              </a:rPr>
              <a:t>Submit a link in our Telegram channel by Friday.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26280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أرسل رابط محفظتك عبر قناة Telegram قبل الجمعة.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What's next: Week 5 — Building Apps &amp; Bots with AI (no code)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الأسبوع القادم: بناء التطبيقات والبوتات بالذكاء الاصطناعي (بدون كود)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 chapter you read but don't try — you didn't actually learn.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for Content Creators  ·  صنّاع المحتوى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7200" b="1" i="0">
                <a:solidFill>
                  <a:srgbClr val="C9A84C"/>
                </a:solidFill>
                <a:latin typeface="Amiri"/>
              </a:rPr>
              <a:t>والله أعلم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Cambria"/>
              </a:rPr>
              <a:t>And Allah knows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33756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C9A84C"/>
                </a:solidFill>
                <a:latin typeface="Cambria"/>
              </a:rPr>
              <a:t>Thank you  ·  شكراً لكم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LLM4Yemen Program  ·  Track A  ·  Week 4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"Allah is beautiful and He loves beauty."   ·   "إن الله جميل يحب الجمال"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